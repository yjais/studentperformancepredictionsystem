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998C62-C2B0-4E47-84F6-2E1E4C71A656}" v="4" dt="2026-07-13T16:11:07.4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9" d="100"/>
          <a:sy n="89" d="100"/>
        </p:scale>
        <p:origin x="710"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5460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Welcome the panel. Introduce the project title: predicting a student's exam score from measurable academic and lifestyle factors using a hybrid stacking regression model that combines Linear Regression, Random Forest, and XGBoost. Introduce yourself and your teammates, department, college, and academic year. Keep this to 30 seconds -- it is just an orientation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Explain the real-world problem: predicting exam performance helps students and teachers intervene before results are final. Traditional approaches are reactive -- they only look at outcomes after the fact. The relationship between attendance, study hours, sleep, tutoring, and prior scores is complex and interacting, so a single simple model (like plain linear regression) tends to underfit these interactions, while a single complex model can overfit. That's why our project combines multiple models together instead of relying on just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through the four objectives in order: first, understand which factors actually influence exam scores; second, build a clean and reliable data pipeline; third, combine multiple algorithms into one hybrid stacked model instead of relying on a single learner; fourth, evaluate the model properly using standard regression metrics so the results can be trusted, not just visually inspected.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Introduce the dataset: it contains five input features -- Attendance, Hours Studied, Previous Academic Scores, Sleep Hours, and Tutoring Sessions -- and one target variable, Exam Score. The code loads it from Google Drive as a CSV. Explain the cleaning: missing numeric values are filled with the column mean, missing categorical values with the column mode, and duplicate rows are dropped. Mention that all features are scaled using StandardScaler before training so no single feature dominates due to its scale.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through the pipeline left to right: data is loaded from Google Drive, cleaned (missing values and duplicates handled), explored visually through EDA, then scaled and split into train and test sets. The core of the pipeline is the stacking model -- Linear Regression and Random Forest as base learners feeding into an XGBoost meta-model -- and finally the model is evaluated with regression metrics. Emphasize that the same scaling used in training must be applied to any new input before prediction.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through each preprocessing step in the order it appears in the code: first, missing values are handled with mean for numeric and mode for categorical columns. Second, duplicate rows are dropped. Third, exploratory data analysis using histograms, scatter plots, a pairplot, and a correlation heatmap to understand feature relationships. Fourth, StandardScaler is applied because Linear Regression is sensitive to feature scale. Finally, the data is split 80/20 into training and test sets with a fixed random_state for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Explain stacking conceptually: Linear Regression captures the straightforward linear relationships, while Random Forest captures non-linear interactions between features. Both base models are trained with cross-validation to produce out-of-fold predictions, avoiding leakage. Because passthrough=True, the original scaled features are combined with these two predictions to form meta-features. An XGBoost meta-model, a gradient-boosted ensemble of decision trees, then learns how to best weigh and combine these signals into a final prediction. Briefly mention the time and space complexity so the panel sees you understand the computational cost, not just the API calls.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the panel through the notebook module by module in execution order, from data ingestion through cleaning, EDA, feature preparation, model building with StackingRegressor, evaluation, a separate feature-importance analysis using RandomForest, and finally persisting the trained model, scaler, and feature list with pickle so the model can be reused for inference without retraining. If asked, be ready to point to the exact lines in the notebook for any module.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Before presenting this slide, run the notebook end-to-end and drop your actual MAE, RMSE, and R squared values into the metric cards -- these are intentionally left as placeholders since they depend on your exact run. Explain that the actual-vs-predicted plot should show points clustered tightly around the diagonal red line, meaning predictions closely match reality; the further a point strays from that line, the larger the error for that student. For feature importance, explain that RandomForest's feature_importances_ ranks which inputs the model relies on most -- update the bars with your real printed ranking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live-demo slide. Load the saved student_model.pkl, scaler.pkl, and features.pkl using pickle.load(). Walk through an example: take a sample student's five feature values, apply scaler.transform on them, run model.predict, and read out the predicted exam score live in front of the panel. The example numbers shown here are placeholders -- substitute real values you use during your demo, and run it live if possible rather than only showing a static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Summarize the project in four parts: what was achieved technically, the key conceptual lessons learned about ensembling and preprocessing, the practical advantages of the stacked approach over a single model, and an honest look at its limitations -- particularly that results depend heavily on data quality and the model currently only uses five features. Being upfront about limitations shows maturity and often earns credit in a viva.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Present these as realistic next steps rather than vague ambitions: expanding the feature set with more real-world factors, trying additional model types as base or meta-learners, automating hyperparameter search instead of manual tuning, deploying the model behind a simple web interface for teachers, adding explainability tools like SHAP so predictions are interpretable per student, and setting up periodic retraining as new data arrives.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Thank the panel for their time and open the floor for questions. Be ready to justify model choices (why stacking, why these specific base learners), discuss the preprocessing decisions, and speak to the limitations and future scope confidently -- these are the most commonly asked viva questions for a project like this.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3.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2.png"/><Relationship Id="rId10" Type="http://schemas.openxmlformats.org/officeDocument/2006/relationships/image" Target="../media/image19.png"/><Relationship Id="rId4" Type="http://schemas.openxmlformats.org/officeDocument/2006/relationships/image" Target="../media/image11.png"/><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7.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7.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E3A8A"/>
          </a:solidFill>
          <a:ln/>
        </p:spPr>
        <p:txBody>
          <a:bodyPr/>
          <a:lstStyle/>
          <a:p>
            <a:endParaRPr lang="en-US"/>
          </a:p>
        </p:txBody>
      </p:sp>
      <p:sp>
        <p:nvSpPr>
          <p:cNvPr id="3" name="Shape 1"/>
          <p:cNvSpPr/>
          <p:nvPr/>
        </p:nvSpPr>
        <p:spPr>
          <a:xfrm>
            <a:off x="-1188720" y="-1188720"/>
            <a:ext cx="2926080" cy="2926080"/>
          </a:xfrm>
          <a:prstGeom prst="ellipse">
            <a:avLst/>
          </a:prstGeom>
          <a:solidFill>
            <a:srgbClr val="2563EB">
              <a:alpha val="45000"/>
            </a:srgbClr>
          </a:solidFill>
          <a:ln/>
        </p:spPr>
        <p:txBody>
          <a:bodyPr/>
          <a:lstStyle/>
          <a:p>
            <a:endParaRPr lang="en-US"/>
          </a:p>
        </p:txBody>
      </p:sp>
      <p:sp>
        <p:nvSpPr>
          <p:cNvPr id="4" name="Shape 2"/>
          <p:cNvSpPr/>
          <p:nvPr/>
        </p:nvSpPr>
        <p:spPr>
          <a:xfrm>
            <a:off x="-548640" y="4937760"/>
            <a:ext cx="2377440" cy="2377440"/>
          </a:xfrm>
          <a:prstGeom prst="ellipse">
            <a:avLst/>
          </a:prstGeom>
          <a:solidFill>
            <a:srgbClr val="2563EB">
              <a:alpha val="45000"/>
            </a:srgbClr>
          </a:solidFill>
          <a:ln/>
        </p:spPr>
        <p:txBody>
          <a:bodyPr/>
          <a:lstStyle/>
          <a:p>
            <a:endParaRPr lang="en-US"/>
          </a:p>
        </p:txBody>
      </p:sp>
      <p:pic>
        <p:nvPicPr>
          <p:cNvPr id="5" name="Image 0" descr="/home/claude/icons/chart_line_white.png"/>
          <p:cNvPicPr>
            <a:picLocks noChangeAspect="1"/>
          </p:cNvPicPr>
          <p:nvPr/>
        </p:nvPicPr>
        <p:blipFill>
          <a:blip r:embed="rId3"/>
          <a:stretch>
            <a:fillRect/>
          </a:stretch>
        </p:blipFill>
        <p:spPr>
          <a:xfrm>
            <a:off x="1234440" y="2788920"/>
            <a:ext cx="1005840" cy="1005840"/>
          </a:xfrm>
          <a:prstGeom prst="rect">
            <a:avLst/>
          </a:prstGeom>
        </p:spPr>
      </p:pic>
      <p:sp>
        <p:nvSpPr>
          <p:cNvPr id="6" name="Text 3"/>
          <p:cNvSpPr/>
          <p:nvPr/>
        </p:nvSpPr>
        <p:spPr>
          <a:xfrm>
            <a:off x="4709160" y="822960"/>
            <a:ext cx="6858000" cy="365760"/>
          </a:xfrm>
          <a:prstGeom prst="rect">
            <a:avLst/>
          </a:prstGeom>
          <a:noFill/>
          <a:ln/>
        </p:spPr>
        <p:txBody>
          <a:bodyPr wrap="square" rtlCol="0" anchor="ctr"/>
          <a:lstStyle/>
          <a:p>
            <a:pPr marL="0" indent="0">
              <a:buNone/>
            </a:pPr>
            <a:r>
              <a:rPr lang="en-US" sz="1300" b="1" kern="0" spc="300" dirty="0">
                <a:solidFill>
                  <a:srgbClr val="2563EB"/>
                </a:solidFill>
                <a:latin typeface="Arial" pitchFamily="34" charset="0"/>
                <a:ea typeface="Arial" pitchFamily="34" charset="-122"/>
                <a:cs typeface="Arial" pitchFamily="34" charset="-120"/>
              </a:rPr>
              <a:t>SUMMER INTERNSHIP PROJECT</a:t>
            </a:r>
            <a:endParaRPr lang="en-US" sz="1300" dirty="0"/>
          </a:p>
        </p:txBody>
      </p:sp>
      <p:sp>
        <p:nvSpPr>
          <p:cNvPr id="7" name="Text 4"/>
          <p:cNvSpPr/>
          <p:nvPr/>
        </p:nvSpPr>
        <p:spPr>
          <a:xfrm>
            <a:off x="4709160" y="1234440"/>
            <a:ext cx="6949440" cy="1737360"/>
          </a:xfrm>
          <a:prstGeom prst="rect">
            <a:avLst/>
          </a:prstGeom>
          <a:noFill/>
          <a:ln/>
        </p:spPr>
        <p:txBody>
          <a:bodyPr wrap="square" rtlCol="0" anchor="ctr"/>
          <a:lstStyle/>
          <a:p>
            <a:pPr marL="0" indent="0">
              <a:lnSpc>
                <a:spcPct val="105000"/>
              </a:lnSpc>
              <a:buNone/>
            </a:pPr>
            <a:r>
              <a:rPr lang="en-US" sz="3800" b="1" dirty="0">
                <a:solidFill>
                  <a:srgbClr val="111827"/>
                </a:solidFill>
                <a:latin typeface="Arial" pitchFamily="34" charset="0"/>
                <a:ea typeface="Arial" pitchFamily="34" charset="-122"/>
                <a:cs typeface="Arial" pitchFamily="34" charset="-120"/>
              </a:rPr>
              <a:t>Student Performance Prediction System</a:t>
            </a:r>
            <a:endParaRPr lang="en-US" sz="3800" dirty="0"/>
          </a:p>
        </p:txBody>
      </p:sp>
      <p:sp>
        <p:nvSpPr>
          <p:cNvPr id="8" name="Text 5"/>
          <p:cNvSpPr/>
          <p:nvPr/>
        </p:nvSpPr>
        <p:spPr>
          <a:xfrm>
            <a:off x="4709160" y="2971800"/>
            <a:ext cx="6949440" cy="685800"/>
          </a:xfrm>
          <a:prstGeom prst="rect">
            <a:avLst/>
          </a:prstGeom>
          <a:noFill/>
          <a:ln/>
        </p:spPr>
        <p:txBody>
          <a:bodyPr wrap="square" rtlCol="0" anchor="ctr"/>
          <a:lstStyle/>
          <a:p>
            <a:pPr marL="0" indent="0">
              <a:buNone/>
            </a:pPr>
            <a:r>
              <a:rPr lang="en-US" sz="1500" i="1" dirty="0">
                <a:solidFill>
                  <a:srgbClr val="4B5563"/>
                </a:solidFill>
                <a:latin typeface="Arial" pitchFamily="34" charset="0"/>
                <a:ea typeface="Arial" pitchFamily="34" charset="-122"/>
                <a:cs typeface="Arial" pitchFamily="34" charset="-120"/>
              </a:rPr>
              <a:t>A Hybrid Stacking Regression Approach Using Linear Regression,</a:t>
            </a:r>
            <a:endParaRPr lang="en-US" sz="1500" dirty="0"/>
          </a:p>
          <a:p>
            <a:pPr marL="0" indent="0">
              <a:buNone/>
            </a:pPr>
            <a:r>
              <a:rPr lang="en-US" sz="1500" i="1" dirty="0">
                <a:solidFill>
                  <a:srgbClr val="4B5563"/>
                </a:solidFill>
                <a:latin typeface="Arial" pitchFamily="34" charset="0"/>
                <a:ea typeface="Arial" pitchFamily="34" charset="-122"/>
                <a:cs typeface="Arial" pitchFamily="34" charset="-120"/>
              </a:rPr>
              <a:t>XGBoost &amp; Linear Regression</a:t>
            </a:r>
            <a:endParaRPr lang="en-US" sz="1500" dirty="0"/>
          </a:p>
        </p:txBody>
      </p:sp>
      <p:sp>
        <p:nvSpPr>
          <p:cNvPr id="9" name="Shape 6"/>
          <p:cNvSpPr/>
          <p:nvPr/>
        </p:nvSpPr>
        <p:spPr>
          <a:xfrm>
            <a:off x="4709160" y="3794760"/>
            <a:ext cx="2011680" cy="0"/>
          </a:xfrm>
          <a:prstGeom prst="line">
            <a:avLst/>
          </a:prstGeom>
          <a:noFill/>
          <a:ln w="38100">
            <a:solidFill>
              <a:srgbClr val="F59E0B"/>
            </a:solidFill>
            <a:prstDash val="solid"/>
          </a:ln>
        </p:spPr>
        <p:txBody>
          <a:bodyPr/>
          <a:lstStyle/>
          <a:p>
            <a:endParaRPr lang="en-US"/>
          </a:p>
        </p:txBody>
      </p:sp>
      <p:sp>
        <p:nvSpPr>
          <p:cNvPr id="10" name="Text 7"/>
          <p:cNvSpPr/>
          <p:nvPr/>
        </p:nvSpPr>
        <p:spPr>
          <a:xfrm>
            <a:off x="4709160" y="4023360"/>
            <a:ext cx="4572000" cy="274320"/>
          </a:xfrm>
          <a:prstGeom prst="rect">
            <a:avLst/>
          </a:prstGeom>
          <a:noFill/>
          <a:ln/>
        </p:spPr>
        <p:txBody>
          <a:bodyPr wrap="square" rtlCol="0" anchor="ctr"/>
          <a:lstStyle/>
          <a:p>
            <a:pPr marL="0" indent="0">
              <a:buNone/>
            </a:pPr>
            <a:r>
              <a:rPr lang="en-US" sz="1100" b="1" kern="0" spc="200" dirty="0">
                <a:solidFill>
                  <a:srgbClr val="1E3A8A"/>
                </a:solidFill>
                <a:latin typeface="Arial" pitchFamily="34" charset="0"/>
                <a:ea typeface="Arial" pitchFamily="34" charset="-122"/>
                <a:cs typeface="Arial" pitchFamily="34" charset="-120"/>
              </a:rPr>
              <a:t>TEAM MEMBERS</a:t>
            </a:r>
            <a:endParaRPr lang="en-US" sz="1100" dirty="0"/>
          </a:p>
        </p:txBody>
      </p:sp>
      <p:sp>
        <p:nvSpPr>
          <p:cNvPr id="11" name="Text 8"/>
          <p:cNvSpPr/>
          <p:nvPr/>
        </p:nvSpPr>
        <p:spPr>
          <a:xfrm>
            <a:off x="4709160" y="4343400"/>
            <a:ext cx="4572000" cy="320040"/>
          </a:xfrm>
          <a:prstGeom prst="rect">
            <a:avLst/>
          </a:prstGeom>
          <a:noFill/>
          <a:ln/>
        </p:spPr>
        <p:txBody>
          <a:bodyPr wrap="square" rtlCol="0" anchor="ctr"/>
          <a:lstStyle/>
          <a:p>
            <a:pPr marL="0" indent="0">
              <a:buNone/>
            </a:pPr>
            <a:r>
              <a:rPr lang="en-US" sz="1450" dirty="0">
                <a:solidFill>
                  <a:srgbClr val="111827"/>
                </a:solidFill>
                <a:latin typeface="Arial" pitchFamily="34" charset="0"/>
                <a:ea typeface="Arial" pitchFamily="34" charset="-122"/>
                <a:cs typeface="Arial" pitchFamily="34" charset="-120"/>
              </a:rPr>
              <a:t>Tanishq Soni</a:t>
            </a:r>
            <a:endParaRPr lang="en-US" sz="1450" dirty="0"/>
          </a:p>
        </p:txBody>
      </p:sp>
      <p:sp>
        <p:nvSpPr>
          <p:cNvPr id="12" name="Text 9"/>
          <p:cNvSpPr/>
          <p:nvPr/>
        </p:nvSpPr>
        <p:spPr>
          <a:xfrm>
            <a:off x="4709160" y="4690872"/>
            <a:ext cx="4572000" cy="320040"/>
          </a:xfrm>
          <a:prstGeom prst="rect">
            <a:avLst/>
          </a:prstGeom>
          <a:noFill/>
          <a:ln/>
        </p:spPr>
        <p:txBody>
          <a:bodyPr wrap="square" rtlCol="0" anchor="ctr"/>
          <a:lstStyle/>
          <a:p>
            <a:pPr marL="0" indent="0">
              <a:buNone/>
            </a:pPr>
            <a:r>
              <a:rPr lang="en-US" sz="1450" dirty="0">
                <a:solidFill>
                  <a:srgbClr val="111827"/>
                </a:solidFill>
                <a:latin typeface="Arial" pitchFamily="34" charset="0"/>
                <a:ea typeface="Arial" pitchFamily="34" charset="-122"/>
                <a:cs typeface="Arial" pitchFamily="34" charset="-120"/>
              </a:rPr>
              <a:t>Ritika Sonkar</a:t>
            </a:r>
            <a:endParaRPr lang="en-US" sz="1450" dirty="0"/>
          </a:p>
        </p:txBody>
      </p:sp>
      <p:sp>
        <p:nvSpPr>
          <p:cNvPr id="13" name="Text 10"/>
          <p:cNvSpPr/>
          <p:nvPr/>
        </p:nvSpPr>
        <p:spPr>
          <a:xfrm>
            <a:off x="4709160" y="5038344"/>
            <a:ext cx="4572000" cy="320040"/>
          </a:xfrm>
          <a:prstGeom prst="rect">
            <a:avLst/>
          </a:prstGeom>
          <a:noFill/>
          <a:ln/>
        </p:spPr>
        <p:txBody>
          <a:bodyPr wrap="square" rtlCol="0" anchor="ctr"/>
          <a:lstStyle/>
          <a:p>
            <a:pPr marL="0" indent="0">
              <a:buNone/>
            </a:pPr>
            <a:r>
              <a:rPr lang="en-US" sz="1450" dirty="0">
                <a:solidFill>
                  <a:srgbClr val="111827"/>
                </a:solidFill>
                <a:latin typeface="Arial" pitchFamily="34" charset="0"/>
                <a:ea typeface="Arial" pitchFamily="34" charset="-122"/>
                <a:cs typeface="Arial" pitchFamily="34" charset="-120"/>
              </a:rPr>
              <a:t>Yash Raj Jaiswal</a:t>
            </a:r>
            <a:endParaRPr lang="en-US" sz="1450" dirty="0"/>
          </a:p>
        </p:txBody>
      </p:sp>
      <p:sp>
        <p:nvSpPr>
          <p:cNvPr id="14" name="Text 11"/>
          <p:cNvSpPr/>
          <p:nvPr/>
        </p:nvSpPr>
        <p:spPr>
          <a:xfrm>
            <a:off x="4709160" y="5623560"/>
            <a:ext cx="6858000" cy="1005840"/>
          </a:xfrm>
          <a:prstGeom prst="rect">
            <a:avLst/>
          </a:prstGeom>
          <a:noFill/>
          <a:ln/>
        </p:spPr>
        <p:txBody>
          <a:bodyPr wrap="square" rtlCol="0" anchor="ctr"/>
          <a:lstStyle/>
          <a:p>
            <a:pPr marL="0" indent="0">
              <a:lnSpc>
                <a:spcPct val="130000"/>
              </a:lnSpc>
              <a:buNone/>
            </a:pPr>
            <a:r>
              <a:rPr lang="en-US" sz="1250" b="1" dirty="0">
                <a:solidFill>
                  <a:srgbClr val="4B5563"/>
                </a:solidFill>
                <a:latin typeface="Arial" pitchFamily="34" charset="0"/>
                <a:ea typeface="Arial" pitchFamily="34" charset="-122"/>
                <a:cs typeface="Arial" pitchFamily="34" charset="-120"/>
              </a:rPr>
              <a:t>Internship Organization: </a:t>
            </a:r>
            <a:r>
              <a:rPr lang="en-US" sz="1250" dirty="0">
                <a:solidFill>
                  <a:srgbClr val="4B5563"/>
                </a:solidFill>
                <a:latin typeface="Arial" pitchFamily="34" charset="0"/>
                <a:ea typeface="Arial" pitchFamily="34" charset="-122"/>
                <a:cs typeface="Arial" pitchFamily="34" charset="-120"/>
              </a:rPr>
              <a:t>Innovation &amp; Incubation Hub, MNNIT Foundation
Academic Year: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39" y="457200"/>
            <a:ext cx="2781155" cy="365760"/>
          </a:xfrm>
          <a:prstGeom prst="roundRect">
            <a:avLst>
              <a:gd name="adj" fmla="val 20000"/>
            </a:avLst>
          </a:prstGeom>
          <a:solidFill>
            <a:srgbClr val="EFF6FF"/>
          </a:solidFill>
          <a:ln/>
        </p:spPr>
        <p:txBody>
          <a:bodyPr/>
          <a:lstStyle/>
          <a:p>
            <a:endParaRPr lang="en-US"/>
          </a:p>
        </p:txBody>
      </p:sp>
      <p:sp>
        <p:nvSpPr>
          <p:cNvPr id="3" name="Text 1"/>
          <p:cNvSpPr/>
          <p:nvPr/>
        </p:nvSpPr>
        <p:spPr>
          <a:xfrm>
            <a:off x="548640" y="457200"/>
            <a:ext cx="2781156" cy="365760"/>
          </a:xfrm>
          <a:prstGeom prst="rect">
            <a:avLst/>
          </a:prstGeom>
          <a:noFill/>
          <a:ln/>
        </p:spPr>
        <p:txBody>
          <a:bodyPr wrap="square" rtlCol="0" anchor="ctr"/>
          <a:lstStyle/>
          <a:p>
            <a:pPr marL="0" indent="0" algn="ctr">
              <a:buNone/>
            </a:pPr>
            <a:r>
              <a:rPr lang="en-US" sz="1100" b="1" kern="0" spc="200" dirty="0">
                <a:solidFill>
                  <a:srgbClr val="1E3A8A"/>
                </a:solidFill>
                <a:latin typeface="Arial" pitchFamily="34" charset="0"/>
                <a:ea typeface="Arial" pitchFamily="34" charset="-122"/>
                <a:cs typeface="Arial" pitchFamily="34" charset="-120"/>
              </a:rPr>
              <a:t>01  ·  PROBLEM STATEMENT</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200" b="1" dirty="0">
                <a:solidFill>
                  <a:srgbClr val="111827"/>
                </a:solidFill>
                <a:latin typeface="Arial" pitchFamily="34" charset="0"/>
                <a:ea typeface="Arial" pitchFamily="34" charset="-122"/>
                <a:cs typeface="Arial" pitchFamily="34" charset="-120"/>
              </a:rPr>
              <a:t>Why Predicting Exam Performance Matters</a:t>
            </a:r>
            <a:endParaRPr lang="en-US" sz="3200" dirty="0"/>
          </a:p>
        </p:txBody>
      </p:sp>
      <p:sp>
        <p:nvSpPr>
          <p:cNvPr id="5" name="Text 3"/>
          <p:cNvSpPr/>
          <p:nvPr/>
        </p:nvSpPr>
        <p:spPr>
          <a:xfrm>
            <a:off x="548640" y="1737360"/>
            <a:ext cx="11064240" cy="594360"/>
          </a:xfrm>
          <a:prstGeom prst="rect">
            <a:avLst/>
          </a:prstGeom>
          <a:noFill/>
          <a:ln/>
        </p:spPr>
        <p:txBody>
          <a:bodyPr wrap="square" rtlCol="0" anchor="ctr"/>
          <a:lstStyle/>
          <a:p>
            <a:pPr marL="0" indent="0">
              <a:buNone/>
            </a:pPr>
            <a:r>
              <a:rPr lang="en-US" sz="1400" dirty="0">
                <a:solidFill>
                  <a:srgbClr val="4B5563"/>
                </a:solidFill>
                <a:latin typeface="Arial" pitchFamily="34" charset="0"/>
                <a:ea typeface="Arial" pitchFamily="34" charset="-122"/>
                <a:cs typeface="Arial" pitchFamily="34" charset="-120"/>
              </a:rPr>
              <a:t>Academic performance depends on many interacting factors, but institutions rarely quantify how much each one contributes -- or catch at-risk students early enough to help.</a:t>
            </a:r>
            <a:endParaRPr lang="en-US" sz="1400" dirty="0"/>
          </a:p>
        </p:txBody>
      </p:sp>
      <p:sp>
        <p:nvSpPr>
          <p:cNvPr id="6" name="Shape 4"/>
          <p:cNvSpPr/>
          <p:nvPr/>
        </p:nvSpPr>
        <p:spPr>
          <a:xfrm>
            <a:off x="548640" y="2606040"/>
            <a:ext cx="3520440" cy="2194560"/>
          </a:xfrm>
          <a:prstGeom prst="roundRect">
            <a:avLst>
              <a:gd name="adj" fmla="val 3333"/>
            </a:avLst>
          </a:prstGeom>
          <a:solidFill>
            <a:srgbClr val="EFF6FF"/>
          </a:solidFill>
          <a:ln/>
          <a:effectLst>
            <a:outerShdw blurRad="101600" dist="38100" dir="5400000" algn="bl" rotWithShape="0">
              <a:srgbClr val="1E3A8A">
                <a:alpha val="15000"/>
              </a:srgbClr>
            </a:outerShdw>
          </a:effectLst>
        </p:spPr>
        <p:txBody>
          <a:bodyPr/>
          <a:lstStyle/>
          <a:p>
            <a:endParaRPr lang="en-US"/>
          </a:p>
        </p:txBody>
      </p:sp>
      <p:sp>
        <p:nvSpPr>
          <p:cNvPr id="7" name="Shape 5"/>
          <p:cNvSpPr/>
          <p:nvPr/>
        </p:nvSpPr>
        <p:spPr>
          <a:xfrm>
            <a:off x="822960" y="2880360"/>
            <a:ext cx="685800" cy="685800"/>
          </a:xfrm>
          <a:prstGeom prst="ellipse">
            <a:avLst/>
          </a:prstGeom>
          <a:solidFill>
            <a:srgbClr val="1E3A8A"/>
          </a:solidFill>
          <a:ln/>
        </p:spPr>
        <p:txBody>
          <a:bodyPr/>
          <a:lstStyle/>
          <a:p>
            <a:endParaRPr lang="en-US"/>
          </a:p>
        </p:txBody>
      </p:sp>
      <p:pic>
        <p:nvPicPr>
          <p:cNvPr id="8" name="Image 0" descr="/home/claude/icons/warning_white.png"/>
          <p:cNvPicPr>
            <a:picLocks noChangeAspect="1"/>
          </p:cNvPicPr>
          <p:nvPr/>
        </p:nvPicPr>
        <p:blipFill>
          <a:blip r:embed="rId3"/>
          <a:stretch>
            <a:fillRect/>
          </a:stretch>
        </p:blipFill>
        <p:spPr>
          <a:xfrm>
            <a:off x="982980" y="3040380"/>
            <a:ext cx="365760" cy="365760"/>
          </a:xfrm>
          <a:prstGeom prst="rect">
            <a:avLst/>
          </a:prstGeom>
        </p:spPr>
      </p:pic>
      <p:sp>
        <p:nvSpPr>
          <p:cNvPr id="9" name="Text 6"/>
          <p:cNvSpPr/>
          <p:nvPr/>
        </p:nvSpPr>
        <p:spPr>
          <a:xfrm>
            <a:off x="822960" y="3703320"/>
            <a:ext cx="2971800" cy="365760"/>
          </a:xfrm>
          <a:prstGeom prst="rect">
            <a:avLst/>
          </a:prstGeom>
          <a:noFill/>
          <a:ln/>
        </p:spPr>
        <p:txBody>
          <a:bodyPr wrap="square" rtlCol="0" anchor="ctr"/>
          <a:lstStyle/>
          <a:p>
            <a:pPr marL="0" indent="0">
              <a:buNone/>
            </a:pPr>
            <a:r>
              <a:rPr lang="en-US" sz="1450" b="1" dirty="0">
                <a:solidFill>
                  <a:srgbClr val="111827"/>
                </a:solidFill>
                <a:latin typeface="Arial" pitchFamily="34" charset="0"/>
                <a:ea typeface="Arial" pitchFamily="34" charset="-122"/>
                <a:cs typeface="Arial" pitchFamily="34" charset="-120"/>
              </a:rPr>
              <a:t>Reactive, not predictive</a:t>
            </a:r>
            <a:endParaRPr lang="en-US" sz="1450" dirty="0"/>
          </a:p>
        </p:txBody>
      </p:sp>
      <p:sp>
        <p:nvSpPr>
          <p:cNvPr id="10" name="Text 7"/>
          <p:cNvSpPr/>
          <p:nvPr/>
        </p:nvSpPr>
        <p:spPr>
          <a:xfrm>
            <a:off x="822960" y="4069080"/>
            <a:ext cx="2971800" cy="640080"/>
          </a:xfrm>
          <a:prstGeom prst="rect">
            <a:avLst/>
          </a:prstGeom>
          <a:noFill/>
          <a:ln/>
        </p:spPr>
        <p:txBody>
          <a:bodyPr wrap="square" rtlCol="0" anchor="ctr"/>
          <a:lstStyle/>
          <a:p>
            <a:pPr marL="0" indent="0">
              <a:lnSpc>
                <a:spcPct val="115000"/>
              </a:lnSpc>
              <a:buNone/>
            </a:pPr>
            <a:r>
              <a:rPr lang="en-US" sz="1150" dirty="0">
                <a:solidFill>
                  <a:srgbClr val="4B5563"/>
                </a:solidFill>
                <a:latin typeface="Arial" pitchFamily="34" charset="0"/>
                <a:ea typeface="Arial" pitchFamily="34" charset="-122"/>
                <a:cs typeface="Arial" pitchFamily="34" charset="-120"/>
              </a:rPr>
              <a:t>Poor results are noticed only after final exams, when it is too late to intervene.</a:t>
            </a:r>
            <a:endParaRPr lang="en-US" sz="1150" dirty="0"/>
          </a:p>
        </p:txBody>
      </p:sp>
      <p:sp>
        <p:nvSpPr>
          <p:cNvPr id="11" name="Shape 8"/>
          <p:cNvSpPr/>
          <p:nvPr/>
        </p:nvSpPr>
        <p:spPr>
          <a:xfrm>
            <a:off x="4343400" y="2606040"/>
            <a:ext cx="3520440" cy="2194560"/>
          </a:xfrm>
          <a:prstGeom prst="roundRect">
            <a:avLst>
              <a:gd name="adj" fmla="val 3333"/>
            </a:avLst>
          </a:prstGeom>
          <a:solidFill>
            <a:srgbClr val="EFF6FF"/>
          </a:solidFill>
          <a:ln/>
          <a:effectLst>
            <a:outerShdw blurRad="101600" dist="38100" dir="5400000" algn="bl" rotWithShape="0">
              <a:srgbClr val="1E3A8A">
                <a:alpha val="15000"/>
              </a:srgbClr>
            </a:outerShdw>
          </a:effectLst>
        </p:spPr>
        <p:txBody>
          <a:bodyPr/>
          <a:lstStyle/>
          <a:p>
            <a:endParaRPr lang="en-US"/>
          </a:p>
        </p:txBody>
      </p:sp>
      <p:sp>
        <p:nvSpPr>
          <p:cNvPr id="12" name="Shape 9"/>
          <p:cNvSpPr/>
          <p:nvPr/>
        </p:nvSpPr>
        <p:spPr>
          <a:xfrm>
            <a:off x="4617720" y="2880360"/>
            <a:ext cx="685800" cy="685800"/>
          </a:xfrm>
          <a:prstGeom prst="ellipse">
            <a:avLst/>
          </a:prstGeom>
          <a:solidFill>
            <a:srgbClr val="1E3A8A"/>
          </a:solidFill>
          <a:ln/>
        </p:spPr>
        <p:txBody>
          <a:bodyPr/>
          <a:lstStyle/>
          <a:p>
            <a:endParaRPr lang="en-US"/>
          </a:p>
        </p:txBody>
      </p:sp>
      <p:pic>
        <p:nvPicPr>
          <p:cNvPr id="13" name="Image 1" descr="/home/claude/icons/puzzle_white.png"/>
          <p:cNvPicPr>
            <a:picLocks noChangeAspect="1"/>
          </p:cNvPicPr>
          <p:nvPr/>
        </p:nvPicPr>
        <p:blipFill>
          <a:blip r:embed="rId4"/>
          <a:stretch>
            <a:fillRect/>
          </a:stretch>
        </p:blipFill>
        <p:spPr>
          <a:xfrm>
            <a:off x="4777740" y="3040380"/>
            <a:ext cx="365760" cy="365760"/>
          </a:xfrm>
          <a:prstGeom prst="rect">
            <a:avLst/>
          </a:prstGeom>
        </p:spPr>
      </p:pic>
      <p:sp>
        <p:nvSpPr>
          <p:cNvPr id="14" name="Text 10"/>
          <p:cNvSpPr/>
          <p:nvPr/>
        </p:nvSpPr>
        <p:spPr>
          <a:xfrm>
            <a:off x="4617720" y="3703320"/>
            <a:ext cx="2971800" cy="365760"/>
          </a:xfrm>
          <a:prstGeom prst="rect">
            <a:avLst/>
          </a:prstGeom>
          <a:noFill/>
          <a:ln/>
        </p:spPr>
        <p:txBody>
          <a:bodyPr wrap="square" rtlCol="0" anchor="ctr"/>
          <a:lstStyle/>
          <a:p>
            <a:pPr marL="0" indent="0">
              <a:buNone/>
            </a:pPr>
            <a:r>
              <a:rPr lang="en-US" sz="1450" b="1" dirty="0">
                <a:solidFill>
                  <a:srgbClr val="111827"/>
                </a:solidFill>
                <a:latin typeface="Arial" pitchFamily="34" charset="0"/>
                <a:ea typeface="Arial" pitchFamily="34" charset="-122"/>
                <a:cs typeface="Arial" pitchFamily="34" charset="-120"/>
              </a:rPr>
              <a:t>Multi-factor complexity</a:t>
            </a:r>
            <a:endParaRPr lang="en-US" sz="1450" dirty="0"/>
          </a:p>
        </p:txBody>
      </p:sp>
      <p:sp>
        <p:nvSpPr>
          <p:cNvPr id="15" name="Text 11"/>
          <p:cNvSpPr/>
          <p:nvPr/>
        </p:nvSpPr>
        <p:spPr>
          <a:xfrm>
            <a:off x="4617720" y="4069080"/>
            <a:ext cx="2971800" cy="640080"/>
          </a:xfrm>
          <a:prstGeom prst="rect">
            <a:avLst/>
          </a:prstGeom>
          <a:noFill/>
          <a:ln/>
        </p:spPr>
        <p:txBody>
          <a:bodyPr wrap="square" rtlCol="0" anchor="ctr"/>
          <a:lstStyle/>
          <a:p>
            <a:pPr marL="0" indent="0">
              <a:lnSpc>
                <a:spcPct val="115000"/>
              </a:lnSpc>
              <a:buNone/>
            </a:pPr>
            <a:r>
              <a:rPr lang="en-US" sz="1150" dirty="0">
                <a:solidFill>
                  <a:srgbClr val="4B5563"/>
                </a:solidFill>
                <a:latin typeface="Arial" pitchFamily="34" charset="0"/>
                <a:ea typeface="Arial" pitchFamily="34" charset="-122"/>
                <a:cs typeface="Arial" pitchFamily="34" charset="-120"/>
              </a:rPr>
              <a:t>Attendance, study hours, sleep, tutoring, and prior scores interact non-linearly.</a:t>
            </a:r>
            <a:endParaRPr lang="en-US" sz="1150" dirty="0"/>
          </a:p>
        </p:txBody>
      </p:sp>
      <p:sp>
        <p:nvSpPr>
          <p:cNvPr id="16" name="Shape 12"/>
          <p:cNvSpPr/>
          <p:nvPr/>
        </p:nvSpPr>
        <p:spPr>
          <a:xfrm>
            <a:off x="8138160" y="2606040"/>
            <a:ext cx="3520440" cy="2194560"/>
          </a:xfrm>
          <a:prstGeom prst="roundRect">
            <a:avLst>
              <a:gd name="adj" fmla="val 3333"/>
            </a:avLst>
          </a:prstGeom>
          <a:solidFill>
            <a:srgbClr val="EFF6FF"/>
          </a:solidFill>
          <a:ln/>
          <a:effectLst>
            <a:outerShdw blurRad="101600" dist="38100" dir="5400000" algn="bl" rotWithShape="0">
              <a:srgbClr val="1E3A8A">
                <a:alpha val="15000"/>
              </a:srgbClr>
            </a:outerShdw>
          </a:effectLst>
        </p:spPr>
        <p:txBody>
          <a:bodyPr/>
          <a:lstStyle/>
          <a:p>
            <a:endParaRPr lang="en-US"/>
          </a:p>
        </p:txBody>
      </p:sp>
      <p:sp>
        <p:nvSpPr>
          <p:cNvPr id="17" name="Shape 13"/>
          <p:cNvSpPr/>
          <p:nvPr/>
        </p:nvSpPr>
        <p:spPr>
          <a:xfrm>
            <a:off x="8412480" y="2880360"/>
            <a:ext cx="685800" cy="685800"/>
          </a:xfrm>
          <a:prstGeom prst="ellipse">
            <a:avLst/>
          </a:prstGeom>
          <a:solidFill>
            <a:srgbClr val="1E3A8A"/>
          </a:solidFill>
          <a:ln/>
        </p:spPr>
        <p:txBody>
          <a:bodyPr/>
          <a:lstStyle/>
          <a:p>
            <a:endParaRPr lang="en-US"/>
          </a:p>
        </p:txBody>
      </p:sp>
      <p:pic>
        <p:nvPicPr>
          <p:cNvPr id="18" name="Image 2" descr="/home/claude/icons/balance_white.png"/>
          <p:cNvPicPr>
            <a:picLocks noChangeAspect="1"/>
          </p:cNvPicPr>
          <p:nvPr/>
        </p:nvPicPr>
        <p:blipFill>
          <a:blip r:embed="rId5"/>
          <a:stretch>
            <a:fillRect/>
          </a:stretch>
        </p:blipFill>
        <p:spPr>
          <a:xfrm>
            <a:off x="8572500" y="3040380"/>
            <a:ext cx="365760" cy="365760"/>
          </a:xfrm>
          <a:prstGeom prst="rect">
            <a:avLst/>
          </a:prstGeom>
        </p:spPr>
      </p:pic>
      <p:sp>
        <p:nvSpPr>
          <p:cNvPr id="19" name="Text 14"/>
          <p:cNvSpPr/>
          <p:nvPr/>
        </p:nvSpPr>
        <p:spPr>
          <a:xfrm>
            <a:off x="8412480" y="3703320"/>
            <a:ext cx="2971800" cy="365760"/>
          </a:xfrm>
          <a:prstGeom prst="rect">
            <a:avLst/>
          </a:prstGeom>
          <a:noFill/>
          <a:ln/>
        </p:spPr>
        <p:txBody>
          <a:bodyPr wrap="square" rtlCol="0" anchor="ctr"/>
          <a:lstStyle/>
          <a:p>
            <a:pPr marL="0" indent="0">
              <a:buNone/>
            </a:pPr>
            <a:r>
              <a:rPr lang="en-US" sz="1450" b="1" dirty="0">
                <a:solidFill>
                  <a:srgbClr val="111827"/>
                </a:solidFill>
                <a:latin typeface="Arial" pitchFamily="34" charset="0"/>
                <a:ea typeface="Arial" pitchFamily="34" charset="-122"/>
                <a:cs typeface="Arial" pitchFamily="34" charset="-120"/>
              </a:rPr>
              <a:t>Single models fall short</a:t>
            </a:r>
            <a:endParaRPr lang="en-US" sz="1450" dirty="0"/>
          </a:p>
        </p:txBody>
      </p:sp>
      <p:sp>
        <p:nvSpPr>
          <p:cNvPr id="20" name="Text 15"/>
          <p:cNvSpPr/>
          <p:nvPr/>
        </p:nvSpPr>
        <p:spPr>
          <a:xfrm>
            <a:off x="8412480" y="4069080"/>
            <a:ext cx="2971800" cy="640080"/>
          </a:xfrm>
          <a:prstGeom prst="rect">
            <a:avLst/>
          </a:prstGeom>
          <a:noFill/>
          <a:ln/>
        </p:spPr>
        <p:txBody>
          <a:bodyPr wrap="square" rtlCol="0" anchor="ctr"/>
          <a:lstStyle/>
          <a:p>
            <a:pPr marL="0" indent="0">
              <a:lnSpc>
                <a:spcPct val="115000"/>
              </a:lnSpc>
              <a:buNone/>
            </a:pPr>
            <a:r>
              <a:rPr lang="en-US" sz="1150" dirty="0">
                <a:solidFill>
                  <a:srgbClr val="4B5563"/>
                </a:solidFill>
                <a:latin typeface="Arial" pitchFamily="34" charset="0"/>
                <a:ea typeface="Arial" pitchFamily="34" charset="-122"/>
                <a:cs typeface="Arial" pitchFamily="34" charset="-120"/>
              </a:rPr>
              <a:t>A single linear or tree model captures only part of the pattern -- not all of it.</a:t>
            </a:r>
            <a:endParaRPr lang="en-US" sz="1150" dirty="0"/>
          </a:p>
        </p:txBody>
      </p:sp>
      <p:sp>
        <p:nvSpPr>
          <p:cNvPr id="21" name="Shape 16"/>
          <p:cNvSpPr/>
          <p:nvPr/>
        </p:nvSpPr>
        <p:spPr>
          <a:xfrm>
            <a:off x="548640" y="5074920"/>
            <a:ext cx="11064240" cy="1051560"/>
          </a:xfrm>
          <a:prstGeom prst="roundRect">
            <a:avLst>
              <a:gd name="adj" fmla="val 6957"/>
            </a:avLst>
          </a:prstGeom>
          <a:solidFill>
            <a:srgbClr val="1E3A8A"/>
          </a:solidFill>
          <a:ln/>
        </p:spPr>
        <p:txBody>
          <a:bodyPr/>
          <a:lstStyle/>
          <a:p>
            <a:endParaRPr lang="en-US"/>
          </a:p>
        </p:txBody>
      </p:sp>
      <p:pic>
        <p:nvPicPr>
          <p:cNvPr id="22" name="Image 3" descr="/home/claude/icons/bulb_white.png"/>
          <p:cNvPicPr>
            <a:picLocks noChangeAspect="1"/>
          </p:cNvPicPr>
          <p:nvPr/>
        </p:nvPicPr>
        <p:blipFill>
          <a:blip r:embed="rId6"/>
          <a:stretch>
            <a:fillRect/>
          </a:stretch>
        </p:blipFill>
        <p:spPr>
          <a:xfrm>
            <a:off x="822960" y="5349240"/>
            <a:ext cx="502920" cy="502920"/>
          </a:xfrm>
          <a:prstGeom prst="rect">
            <a:avLst/>
          </a:prstGeom>
        </p:spPr>
      </p:pic>
      <p:sp>
        <p:nvSpPr>
          <p:cNvPr id="23" name="Text 17"/>
          <p:cNvSpPr/>
          <p:nvPr/>
        </p:nvSpPr>
        <p:spPr>
          <a:xfrm>
            <a:off x="1508760" y="5212080"/>
            <a:ext cx="9784080" cy="777240"/>
          </a:xfrm>
          <a:prstGeom prst="rect">
            <a:avLst/>
          </a:prstGeom>
          <a:noFill/>
          <a:ln/>
        </p:spPr>
        <p:txBody>
          <a:bodyPr wrap="square" rtlCol="0" anchor="ctr"/>
          <a:lstStyle/>
          <a:p>
            <a:pPr marL="0" indent="0">
              <a:buNone/>
            </a:pPr>
            <a:r>
              <a:rPr lang="en-US" sz="1300" dirty="0">
                <a:solidFill>
                  <a:srgbClr val="FFFFFF"/>
                </a:solidFill>
                <a:latin typeface="Arial" pitchFamily="34" charset="0"/>
                <a:ea typeface="Arial" pitchFamily="34" charset="-122"/>
                <a:cs typeface="Arial" pitchFamily="34" charset="-120"/>
              </a:rPr>
              <a:t>Our approach: combine complementary models so their strengths cover each other's weaknesses -- and quantify each factor's real impact on Exam Score.</a:t>
            </a:r>
            <a:endParaRPr lang="en-US" sz="1300" dirty="0"/>
          </a:p>
        </p:txBody>
      </p:sp>
      <p:sp>
        <p:nvSpPr>
          <p:cNvPr id="24" name="Text 18"/>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65760"/>
          </a:xfrm>
          <a:prstGeom prst="roundRect">
            <a:avLst>
              <a:gd name="adj" fmla="val 20000"/>
            </a:avLst>
          </a:prstGeom>
          <a:solidFill>
            <a:srgbClr val="EFF6FF"/>
          </a:solidFill>
          <a:ln/>
        </p:spPr>
        <p:txBody>
          <a:bodyPr/>
          <a:lstStyle/>
          <a:p>
            <a:endParaRPr lang="en-US"/>
          </a:p>
        </p:txBody>
      </p:sp>
      <p:sp>
        <p:nvSpPr>
          <p:cNvPr id="3" name="Text 1"/>
          <p:cNvSpPr/>
          <p:nvPr/>
        </p:nvSpPr>
        <p:spPr>
          <a:xfrm>
            <a:off x="548640" y="457200"/>
            <a:ext cx="2377440" cy="365760"/>
          </a:xfrm>
          <a:prstGeom prst="rect">
            <a:avLst/>
          </a:prstGeom>
          <a:noFill/>
          <a:ln/>
        </p:spPr>
        <p:txBody>
          <a:bodyPr wrap="square" rtlCol="0" anchor="ctr"/>
          <a:lstStyle/>
          <a:p>
            <a:pPr marL="0" indent="0" algn="ctr">
              <a:buNone/>
            </a:pPr>
            <a:r>
              <a:rPr lang="en-US" sz="1100" b="1" kern="0" spc="200" dirty="0">
                <a:solidFill>
                  <a:srgbClr val="1E3A8A"/>
                </a:solidFill>
                <a:latin typeface="Arial" pitchFamily="34" charset="0"/>
                <a:ea typeface="Arial" pitchFamily="34" charset="-122"/>
                <a:cs typeface="Arial" pitchFamily="34" charset="-120"/>
              </a:rPr>
              <a:t>02  ·  OBJECTIVES</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200" b="1" dirty="0">
                <a:solidFill>
                  <a:srgbClr val="111827"/>
                </a:solidFill>
                <a:latin typeface="Arial" pitchFamily="34" charset="0"/>
                <a:ea typeface="Arial" pitchFamily="34" charset="-122"/>
                <a:cs typeface="Arial" pitchFamily="34" charset="-120"/>
              </a:rPr>
              <a:t>Project Objectives</a:t>
            </a:r>
            <a:endParaRPr lang="en-US" sz="3200" dirty="0"/>
          </a:p>
        </p:txBody>
      </p:sp>
      <p:sp>
        <p:nvSpPr>
          <p:cNvPr id="5" name="Shape 3"/>
          <p:cNvSpPr/>
          <p:nvPr/>
        </p:nvSpPr>
        <p:spPr>
          <a:xfrm>
            <a:off x="548640" y="1783080"/>
            <a:ext cx="5349240" cy="1874520"/>
          </a:xfrm>
          <a:prstGeom prst="roundRect">
            <a:avLst>
              <a:gd name="adj" fmla="val 3902"/>
            </a:avLst>
          </a:prstGeom>
          <a:solidFill>
            <a:srgbClr val="FFFFFF"/>
          </a:solidFill>
          <a:ln w="15875">
            <a:solidFill>
              <a:srgbClr val="DBEAFE"/>
            </a:solidFill>
            <a:prstDash val="solid"/>
          </a:ln>
          <a:effectLst>
            <a:outerShdw blurRad="76200" dist="25400" dir="5400000" algn="bl" rotWithShape="0">
              <a:srgbClr val="1E3A8A">
                <a:alpha val="10000"/>
              </a:srgbClr>
            </a:outerShdw>
          </a:effectLst>
        </p:spPr>
        <p:txBody>
          <a:bodyPr/>
          <a:lstStyle/>
          <a:p>
            <a:endParaRPr lang="en-US"/>
          </a:p>
        </p:txBody>
      </p:sp>
      <p:sp>
        <p:nvSpPr>
          <p:cNvPr id="6" name="Shape 4"/>
          <p:cNvSpPr/>
          <p:nvPr/>
        </p:nvSpPr>
        <p:spPr>
          <a:xfrm>
            <a:off x="777240" y="2039112"/>
            <a:ext cx="640080" cy="640080"/>
          </a:xfrm>
          <a:prstGeom prst="roundRect">
            <a:avLst>
              <a:gd name="adj" fmla="val 20000"/>
            </a:avLst>
          </a:prstGeom>
          <a:solidFill>
            <a:srgbClr val="EFF6FF"/>
          </a:solidFill>
          <a:ln/>
        </p:spPr>
        <p:txBody>
          <a:bodyPr/>
          <a:lstStyle/>
          <a:p>
            <a:endParaRPr lang="en-US"/>
          </a:p>
        </p:txBody>
      </p:sp>
      <p:pic>
        <p:nvPicPr>
          <p:cNvPr id="7" name="Image 0" descr="/home/claude/icons/search_blue.png"/>
          <p:cNvPicPr>
            <a:picLocks noChangeAspect="1"/>
          </p:cNvPicPr>
          <p:nvPr/>
        </p:nvPicPr>
        <p:blipFill>
          <a:blip r:embed="rId3"/>
          <a:stretch>
            <a:fillRect/>
          </a:stretch>
        </p:blipFill>
        <p:spPr>
          <a:xfrm>
            <a:off x="914400" y="2176272"/>
            <a:ext cx="365760" cy="365760"/>
          </a:xfrm>
          <a:prstGeom prst="rect">
            <a:avLst/>
          </a:prstGeom>
        </p:spPr>
      </p:pic>
      <p:sp>
        <p:nvSpPr>
          <p:cNvPr id="8" name="Text 5"/>
          <p:cNvSpPr/>
          <p:nvPr/>
        </p:nvSpPr>
        <p:spPr>
          <a:xfrm>
            <a:off x="5212080" y="1947672"/>
            <a:ext cx="502920" cy="365760"/>
          </a:xfrm>
          <a:prstGeom prst="rect">
            <a:avLst/>
          </a:prstGeom>
          <a:noFill/>
          <a:ln/>
        </p:spPr>
        <p:txBody>
          <a:bodyPr wrap="square" rtlCol="0" anchor="ctr"/>
          <a:lstStyle/>
          <a:p>
            <a:pPr marL="0" indent="0" algn="r">
              <a:buNone/>
            </a:pPr>
            <a:r>
              <a:rPr lang="en-US" sz="1800" b="1" dirty="0">
                <a:solidFill>
                  <a:srgbClr val="E0EAFF"/>
                </a:solidFill>
                <a:latin typeface="Arial" pitchFamily="34" charset="0"/>
                <a:ea typeface="Arial" pitchFamily="34" charset="-122"/>
                <a:cs typeface="Arial" pitchFamily="34" charset="-120"/>
              </a:rPr>
              <a:t>01</a:t>
            </a:r>
            <a:endParaRPr lang="en-US" sz="1800" dirty="0"/>
          </a:p>
        </p:txBody>
      </p:sp>
      <p:sp>
        <p:nvSpPr>
          <p:cNvPr id="9" name="Text 6"/>
          <p:cNvSpPr/>
          <p:nvPr/>
        </p:nvSpPr>
        <p:spPr>
          <a:xfrm>
            <a:off x="777240" y="2743200"/>
            <a:ext cx="4892040" cy="365760"/>
          </a:xfrm>
          <a:prstGeom prst="rect">
            <a:avLst/>
          </a:prstGeom>
          <a:noFill/>
          <a:ln/>
        </p:spPr>
        <p:txBody>
          <a:bodyPr wrap="square" rtlCol="0" anchor="ctr"/>
          <a:lstStyle/>
          <a:p>
            <a:pPr marL="0" indent="0">
              <a:buNone/>
            </a:pPr>
            <a:r>
              <a:rPr lang="en-US" sz="1500" b="1" dirty="0">
                <a:solidFill>
                  <a:srgbClr val="111827"/>
                </a:solidFill>
                <a:latin typeface="Arial" pitchFamily="34" charset="0"/>
                <a:ea typeface="Arial" pitchFamily="34" charset="-122"/>
                <a:cs typeface="Arial" pitchFamily="34" charset="-120"/>
              </a:rPr>
              <a:t>Analyze influencing factors</a:t>
            </a:r>
            <a:endParaRPr lang="en-US" sz="1500" dirty="0"/>
          </a:p>
        </p:txBody>
      </p:sp>
      <p:sp>
        <p:nvSpPr>
          <p:cNvPr id="10" name="Text 7"/>
          <p:cNvSpPr/>
          <p:nvPr/>
        </p:nvSpPr>
        <p:spPr>
          <a:xfrm>
            <a:off x="777240" y="3081528"/>
            <a:ext cx="4892040" cy="502920"/>
          </a:xfrm>
          <a:prstGeom prst="rect">
            <a:avLst/>
          </a:prstGeom>
          <a:noFill/>
          <a:ln/>
        </p:spPr>
        <p:txBody>
          <a:bodyPr wrap="square" rtlCol="0" anchor="ctr"/>
          <a:lstStyle/>
          <a:p>
            <a:pPr marL="0" indent="0">
              <a:lnSpc>
                <a:spcPct val="115000"/>
              </a:lnSpc>
              <a:buNone/>
            </a:pPr>
            <a:r>
              <a:rPr lang="en-US" sz="1150" dirty="0">
                <a:solidFill>
                  <a:srgbClr val="4B5563"/>
                </a:solidFill>
                <a:latin typeface="Arial" pitchFamily="34" charset="0"/>
                <a:ea typeface="Arial" pitchFamily="34" charset="-122"/>
                <a:cs typeface="Arial" pitchFamily="34" charset="-120"/>
              </a:rPr>
              <a:t>Explore how attendance, study hours, sleep, tutoring, and prior scores relate to exam outcomes.</a:t>
            </a:r>
            <a:endParaRPr lang="en-US" sz="1150" dirty="0"/>
          </a:p>
        </p:txBody>
      </p:sp>
      <p:sp>
        <p:nvSpPr>
          <p:cNvPr id="11" name="Shape 8"/>
          <p:cNvSpPr/>
          <p:nvPr/>
        </p:nvSpPr>
        <p:spPr>
          <a:xfrm>
            <a:off x="6263640" y="1783080"/>
            <a:ext cx="5349240" cy="1874520"/>
          </a:xfrm>
          <a:prstGeom prst="roundRect">
            <a:avLst>
              <a:gd name="adj" fmla="val 3902"/>
            </a:avLst>
          </a:prstGeom>
          <a:solidFill>
            <a:srgbClr val="FFFFFF"/>
          </a:solidFill>
          <a:ln w="15875">
            <a:solidFill>
              <a:srgbClr val="DBEAFE"/>
            </a:solidFill>
            <a:prstDash val="solid"/>
          </a:ln>
          <a:effectLst>
            <a:outerShdw blurRad="76200" dist="25400" dir="5400000" algn="bl" rotWithShape="0">
              <a:srgbClr val="1E3A8A">
                <a:alpha val="10000"/>
              </a:srgbClr>
            </a:outerShdw>
          </a:effectLst>
        </p:spPr>
        <p:txBody>
          <a:bodyPr/>
          <a:lstStyle/>
          <a:p>
            <a:endParaRPr lang="en-US"/>
          </a:p>
        </p:txBody>
      </p:sp>
      <p:sp>
        <p:nvSpPr>
          <p:cNvPr id="12" name="Shape 9"/>
          <p:cNvSpPr/>
          <p:nvPr/>
        </p:nvSpPr>
        <p:spPr>
          <a:xfrm>
            <a:off x="6492240" y="2039112"/>
            <a:ext cx="640080" cy="640080"/>
          </a:xfrm>
          <a:prstGeom prst="roundRect">
            <a:avLst>
              <a:gd name="adj" fmla="val 20000"/>
            </a:avLst>
          </a:prstGeom>
          <a:solidFill>
            <a:srgbClr val="EFF6FF"/>
          </a:solidFill>
          <a:ln/>
        </p:spPr>
        <p:txBody>
          <a:bodyPr/>
          <a:lstStyle/>
          <a:p>
            <a:endParaRPr lang="en-US"/>
          </a:p>
        </p:txBody>
      </p:sp>
      <p:pic>
        <p:nvPicPr>
          <p:cNvPr id="13" name="Image 1" descr="/home/claude/icons/cogs_blue.png"/>
          <p:cNvPicPr>
            <a:picLocks noChangeAspect="1"/>
          </p:cNvPicPr>
          <p:nvPr/>
        </p:nvPicPr>
        <p:blipFill>
          <a:blip r:embed="rId4"/>
          <a:stretch>
            <a:fillRect/>
          </a:stretch>
        </p:blipFill>
        <p:spPr>
          <a:xfrm>
            <a:off x="6629400" y="2176272"/>
            <a:ext cx="365760" cy="365760"/>
          </a:xfrm>
          <a:prstGeom prst="rect">
            <a:avLst/>
          </a:prstGeom>
        </p:spPr>
      </p:pic>
      <p:sp>
        <p:nvSpPr>
          <p:cNvPr id="14" name="Text 10"/>
          <p:cNvSpPr/>
          <p:nvPr/>
        </p:nvSpPr>
        <p:spPr>
          <a:xfrm>
            <a:off x="10927080" y="1947672"/>
            <a:ext cx="502920" cy="365760"/>
          </a:xfrm>
          <a:prstGeom prst="rect">
            <a:avLst/>
          </a:prstGeom>
          <a:noFill/>
          <a:ln/>
        </p:spPr>
        <p:txBody>
          <a:bodyPr wrap="square" rtlCol="0" anchor="ctr"/>
          <a:lstStyle/>
          <a:p>
            <a:pPr marL="0" indent="0" algn="r">
              <a:buNone/>
            </a:pPr>
            <a:r>
              <a:rPr lang="en-US" sz="1800" b="1" dirty="0">
                <a:solidFill>
                  <a:srgbClr val="E0EAFF"/>
                </a:solidFill>
                <a:latin typeface="Arial" pitchFamily="34" charset="0"/>
                <a:ea typeface="Arial" pitchFamily="34" charset="-122"/>
                <a:cs typeface="Arial" pitchFamily="34" charset="-120"/>
              </a:rPr>
              <a:t>02</a:t>
            </a:r>
            <a:endParaRPr lang="en-US" sz="1800" dirty="0"/>
          </a:p>
        </p:txBody>
      </p:sp>
      <p:sp>
        <p:nvSpPr>
          <p:cNvPr id="15" name="Text 11"/>
          <p:cNvSpPr/>
          <p:nvPr/>
        </p:nvSpPr>
        <p:spPr>
          <a:xfrm>
            <a:off x="6492240" y="2743200"/>
            <a:ext cx="4892040" cy="365760"/>
          </a:xfrm>
          <a:prstGeom prst="rect">
            <a:avLst/>
          </a:prstGeom>
          <a:noFill/>
          <a:ln/>
        </p:spPr>
        <p:txBody>
          <a:bodyPr wrap="square" rtlCol="0" anchor="ctr"/>
          <a:lstStyle/>
          <a:p>
            <a:pPr marL="0" indent="0">
              <a:buNone/>
            </a:pPr>
            <a:r>
              <a:rPr lang="en-US" sz="1500" b="1" dirty="0">
                <a:solidFill>
                  <a:srgbClr val="111827"/>
                </a:solidFill>
                <a:latin typeface="Arial" pitchFamily="34" charset="0"/>
                <a:ea typeface="Arial" pitchFamily="34" charset="-122"/>
                <a:cs typeface="Arial" pitchFamily="34" charset="-120"/>
              </a:rPr>
              <a:t>Engineer a clean pipeline</a:t>
            </a:r>
            <a:endParaRPr lang="en-US" sz="1500" dirty="0"/>
          </a:p>
        </p:txBody>
      </p:sp>
      <p:sp>
        <p:nvSpPr>
          <p:cNvPr id="16" name="Text 12"/>
          <p:cNvSpPr/>
          <p:nvPr/>
        </p:nvSpPr>
        <p:spPr>
          <a:xfrm>
            <a:off x="6492240" y="3081528"/>
            <a:ext cx="4892040" cy="502920"/>
          </a:xfrm>
          <a:prstGeom prst="rect">
            <a:avLst/>
          </a:prstGeom>
          <a:noFill/>
          <a:ln/>
        </p:spPr>
        <p:txBody>
          <a:bodyPr wrap="square" rtlCol="0" anchor="ctr"/>
          <a:lstStyle/>
          <a:p>
            <a:pPr marL="0" indent="0">
              <a:lnSpc>
                <a:spcPct val="115000"/>
              </a:lnSpc>
              <a:buNone/>
            </a:pPr>
            <a:r>
              <a:rPr lang="en-US" sz="1150" dirty="0">
                <a:solidFill>
                  <a:srgbClr val="4B5563"/>
                </a:solidFill>
                <a:latin typeface="Arial" pitchFamily="34" charset="0"/>
                <a:ea typeface="Arial" pitchFamily="34" charset="-122"/>
                <a:cs typeface="Arial" pitchFamily="34" charset="-120"/>
              </a:rPr>
              <a:t>Handle missing values, duplicates, and scaling so the model trains on reliable data.</a:t>
            </a:r>
            <a:endParaRPr lang="en-US" sz="1150" dirty="0"/>
          </a:p>
        </p:txBody>
      </p:sp>
      <p:sp>
        <p:nvSpPr>
          <p:cNvPr id="17" name="Shape 13"/>
          <p:cNvSpPr/>
          <p:nvPr/>
        </p:nvSpPr>
        <p:spPr>
          <a:xfrm>
            <a:off x="548640" y="3977640"/>
            <a:ext cx="5349240" cy="1874520"/>
          </a:xfrm>
          <a:prstGeom prst="roundRect">
            <a:avLst>
              <a:gd name="adj" fmla="val 3902"/>
            </a:avLst>
          </a:prstGeom>
          <a:solidFill>
            <a:srgbClr val="FFFFFF"/>
          </a:solidFill>
          <a:ln w="15875">
            <a:solidFill>
              <a:srgbClr val="DBEAFE"/>
            </a:solidFill>
            <a:prstDash val="solid"/>
          </a:ln>
          <a:effectLst>
            <a:outerShdw blurRad="76200" dist="25400" dir="5400000" algn="bl" rotWithShape="0">
              <a:srgbClr val="1E3A8A">
                <a:alpha val="10000"/>
              </a:srgbClr>
            </a:outerShdw>
          </a:effectLst>
        </p:spPr>
        <p:txBody>
          <a:bodyPr/>
          <a:lstStyle/>
          <a:p>
            <a:endParaRPr lang="en-US"/>
          </a:p>
        </p:txBody>
      </p:sp>
      <p:sp>
        <p:nvSpPr>
          <p:cNvPr id="18" name="Shape 14"/>
          <p:cNvSpPr/>
          <p:nvPr/>
        </p:nvSpPr>
        <p:spPr>
          <a:xfrm>
            <a:off x="777240" y="4233672"/>
            <a:ext cx="640080" cy="640080"/>
          </a:xfrm>
          <a:prstGeom prst="roundRect">
            <a:avLst>
              <a:gd name="adj" fmla="val 20000"/>
            </a:avLst>
          </a:prstGeom>
          <a:solidFill>
            <a:srgbClr val="EFF6FF"/>
          </a:solidFill>
          <a:ln/>
        </p:spPr>
        <p:txBody>
          <a:bodyPr/>
          <a:lstStyle/>
          <a:p>
            <a:endParaRPr lang="en-US"/>
          </a:p>
        </p:txBody>
      </p:sp>
      <p:pic>
        <p:nvPicPr>
          <p:cNvPr id="19" name="Image 2" descr="/home/claude/icons/layers_blue.png"/>
          <p:cNvPicPr>
            <a:picLocks noChangeAspect="1"/>
          </p:cNvPicPr>
          <p:nvPr/>
        </p:nvPicPr>
        <p:blipFill>
          <a:blip r:embed="rId5"/>
          <a:stretch>
            <a:fillRect/>
          </a:stretch>
        </p:blipFill>
        <p:spPr>
          <a:xfrm>
            <a:off x="914400" y="4370832"/>
            <a:ext cx="365760" cy="365760"/>
          </a:xfrm>
          <a:prstGeom prst="rect">
            <a:avLst/>
          </a:prstGeom>
        </p:spPr>
      </p:pic>
      <p:sp>
        <p:nvSpPr>
          <p:cNvPr id="20" name="Text 15"/>
          <p:cNvSpPr/>
          <p:nvPr/>
        </p:nvSpPr>
        <p:spPr>
          <a:xfrm>
            <a:off x="5212080" y="4142232"/>
            <a:ext cx="502920" cy="365760"/>
          </a:xfrm>
          <a:prstGeom prst="rect">
            <a:avLst/>
          </a:prstGeom>
          <a:noFill/>
          <a:ln/>
        </p:spPr>
        <p:txBody>
          <a:bodyPr wrap="square" rtlCol="0" anchor="ctr"/>
          <a:lstStyle/>
          <a:p>
            <a:pPr marL="0" indent="0" algn="r">
              <a:buNone/>
            </a:pPr>
            <a:r>
              <a:rPr lang="en-US" sz="1800" b="1" dirty="0">
                <a:solidFill>
                  <a:srgbClr val="E0EAFF"/>
                </a:solidFill>
                <a:latin typeface="Arial" pitchFamily="34" charset="0"/>
                <a:ea typeface="Arial" pitchFamily="34" charset="-122"/>
                <a:cs typeface="Arial" pitchFamily="34" charset="-120"/>
              </a:rPr>
              <a:t>03</a:t>
            </a:r>
            <a:endParaRPr lang="en-US" sz="1800" dirty="0"/>
          </a:p>
        </p:txBody>
      </p:sp>
      <p:sp>
        <p:nvSpPr>
          <p:cNvPr id="21" name="Text 16"/>
          <p:cNvSpPr/>
          <p:nvPr/>
        </p:nvSpPr>
        <p:spPr>
          <a:xfrm>
            <a:off x="777240" y="4937760"/>
            <a:ext cx="4892040" cy="365760"/>
          </a:xfrm>
          <a:prstGeom prst="rect">
            <a:avLst/>
          </a:prstGeom>
          <a:noFill/>
          <a:ln/>
        </p:spPr>
        <p:txBody>
          <a:bodyPr wrap="square" rtlCol="0" anchor="ctr"/>
          <a:lstStyle/>
          <a:p>
            <a:pPr marL="0" indent="0">
              <a:buNone/>
            </a:pPr>
            <a:r>
              <a:rPr lang="en-US" sz="1500" b="1" dirty="0">
                <a:solidFill>
                  <a:srgbClr val="111827"/>
                </a:solidFill>
                <a:latin typeface="Arial" pitchFamily="34" charset="0"/>
                <a:ea typeface="Arial" pitchFamily="34" charset="-122"/>
                <a:cs typeface="Arial" pitchFamily="34" charset="-120"/>
              </a:rPr>
              <a:t>Build a hybrid stacked model</a:t>
            </a:r>
            <a:endParaRPr lang="en-US" sz="1500" dirty="0"/>
          </a:p>
        </p:txBody>
      </p:sp>
      <p:sp>
        <p:nvSpPr>
          <p:cNvPr id="22" name="Text 17"/>
          <p:cNvSpPr/>
          <p:nvPr/>
        </p:nvSpPr>
        <p:spPr>
          <a:xfrm>
            <a:off x="777240" y="5276088"/>
            <a:ext cx="4892040" cy="502920"/>
          </a:xfrm>
          <a:prstGeom prst="rect">
            <a:avLst/>
          </a:prstGeom>
          <a:noFill/>
          <a:ln/>
        </p:spPr>
        <p:txBody>
          <a:bodyPr wrap="square" rtlCol="0" anchor="ctr"/>
          <a:lstStyle/>
          <a:p>
            <a:pPr>
              <a:lnSpc>
                <a:spcPct val="115000"/>
              </a:lnSpc>
            </a:pPr>
            <a:r>
              <a:rPr lang="en-US" sz="1150" dirty="0">
                <a:solidFill>
                  <a:srgbClr val="4B5563"/>
                </a:solidFill>
                <a:latin typeface="Arial" pitchFamily="34" charset="0"/>
                <a:ea typeface="Arial" pitchFamily="34" charset="-122"/>
                <a:cs typeface="Arial" pitchFamily="34" charset="-120"/>
              </a:rPr>
              <a:t>Combine Linear Regression and XGBoost as base learners with a Linear Regression meta-model.</a:t>
            </a:r>
            <a:endParaRPr lang="en-US" sz="1150" dirty="0"/>
          </a:p>
        </p:txBody>
      </p:sp>
      <p:sp>
        <p:nvSpPr>
          <p:cNvPr id="23" name="Shape 18"/>
          <p:cNvSpPr/>
          <p:nvPr/>
        </p:nvSpPr>
        <p:spPr>
          <a:xfrm>
            <a:off x="6263640" y="3977640"/>
            <a:ext cx="5349240" cy="1874520"/>
          </a:xfrm>
          <a:prstGeom prst="roundRect">
            <a:avLst>
              <a:gd name="adj" fmla="val 3902"/>
            </a:avLst>
          </a:prstGeom>
          <a:solidFill>
            <a:srgbClr val="FFFFFF"/>
          </a:solidFill>
          <a:ln w="15875">
            <a:solidFill>
              <a:srgbClr val="DBEAFE"/>
            </a:solidFill>
            <a:prstDash val="solid"/>
          </a:ln>
          <a:effectLst>
            <a:outerShdw blurRad="76200" dist="25400" dir="5400000" algn="bl" rotWithShape="0">
              <a:srgbClr val="1E3A8A">
                <a:alpha val="10000"/>
              </a:srgbClr>
            </a:outerShdw>
          </a:effectLst>
        </p:spPr>
        <p:txBody>
          <a:bodyPr/>
          <a:lstStyle/>
          <a:p>
            <a:endParaRPr lang="en-US"/>
          </a:p>
        </p:txBody>
      </p:sp>
      <p:sp>
        <p:nvSpPr>
          <p:cNvPr id="24" name="Shape 19"/>
          <p:cNvSpPr/>
          <p:nvPr/>
        </p:nvSpPr>
        <p:spPr>
          <a:xfrm>
            <a:off x="6492240" y="4233672"/>
            <a:ext cx="640080" cy="640080"/>
          </a:xfrm>
          <a:prstGeom prst="roundRect">
            <a:avLst>
              <a:gd name="adj" fmla="val 20000"/>
            </a:avLst>
          </a:prstGeom>
          <a:solidFill>
            <a:srgbClr val="EFF6FF"/>
          </a:solidFill>
          <a:ln/>
        </p:spPr>
        <p:txBody>
          <a:bodyPr/>
          <a:lstStyle/>
          <a:p>
            <a:endParaRPr lang="en-US"/>
          </a:p>
        </p:txBody>
      </p:sp>
      <p:pic>
        <p:nvPicPr>
          <p:cNvPr id="25" name="Image 3" descr="/home/claude/icons/chart_bar_blue.png"/>
          <p:cNvPicPr>
            <a:picLocks noChangeAspect="1"/>
          </p:cNvPicPr>
          <p:nvPr/>
        </p:nvPicPr>
        <p:blipFill>
          <a:blip r:embed="rId6"/>
          <a:stretch>
            <a:fillRect/>
          </a:stretch>
        </p:blipFill>
        <p:spPr>
          <a:xfrm>
            <a:off x="6629400" y="4370832"/>
            <a:ext cx="365760" cy="365760"/>
          </a:xfrm>
          <a:prstGeom prst="rect">
            <a:avLst/>
          </a:prstGeom>
        </p:spPr>
      </p:pic>
      <p:sp>
        <p:nvSpPr>
          <p:cNvPr id="26" name="Text 20"/>
          <p:cNvSpPr/>
          <p:nvPr/>
        </p:nvSpPr>
        <p:spPr>
          <a:xfrm>
            <a:off x="10927080" y="4142232"/>
            <a:ext cx="502920" cy="365760"/>
          </a:xfrm>
          <a:prstGeom prst="rect">
            <a:avLst/>
          </a:prstGeom>
          <a:noFill/>
          <a:ln/>
        </p:spPr>
        <p:txBody>
          <a:bodyPr wrap="square" rtlCol="0" anchor="ctr"/>
          <a:lstStyle/>
          <a:p>
            <a:pPr marL="0" indent="0" algn="r">
              <a:buNone/>
            </a:pPr>
            <a:r>
              <a:rPr lang="en-US" sz="1800" b="1" dirty="0">
                <a:solidFill>
                  <a:srgbClr val="E0EAFF"/>
                </a:solidFill>
                <a:latin typeface="Arial" pitchFamily="34" charset="0"/>
                <a:ea typeface="Arial" pitchFamily="34" charset="-122"/>
                <a:cs typeface="Arial" pitchFamily="34" charset="-120"/>
              </a:rPr>
              <a:t>04</a:t>
            </a:r>
            <a:endParaRPr lang="en-US" sz="1800" dirty="0"/>
          </a:p>
        </p:txBody>
      </p:sp>
      <p:sp>
        <p:nvSpPr>
          <p:cNvPr id="27" name="Text 21"/>
          <p:cNvSpPr/>
          <p:nvPr/>
        </p:nvSpPr>
        <p:spPr>
          <a:xfrm>
            <a:off x="6492240" y="4937760"/>
            <a:ext cx="4892040" cy="365760"/>
          </a:xfrm>
          <a:prstGeom prst="rect">
            <a:avLst/>
          </a:prstGeom>
          <a:noFill/>
          <a:ln/>
        </p:spPr>
        <p:txBody>
          <a:bodyPr wrap="square" rtlCol="0" anchor="ctr"/>
          <a:lstStyle/>
          <a:p>
            <a:pPr marL="0" indent="0">
              <a:buNone/>
            </a:pPr>
            <a:r>
              <a:rPr lang="en-US" sz="1500" b="1" dirty="0">
                <a:solidFill>
                  <a:srgbClr val="111827"/>
                </a:solidFill>
                <a:latin typeface="Arial" pitchFamily="34" charset="0"/>
                <a:ea typeface="Arial" pitchFamily="34" charset="-122"/>
                <a:cs typeface="Arial" pitchFamily="34" charset="-120"/>
              </a:rPr>
              <a:t>Evaluate rigorously</a:t>
            </a:r>
            <a:endParaRPr lang="en-US" sz="1500" dirty="0"/>
          </a:p>
        </p:txBody>
      </p:sp>
      <p:sp>
        <p:nvSpPr>
          <p:cNvPr id="28" name="Text 22"/>
          <p:cNvSpPr/>
          <p:nvPr/>
        </p:nvSpPr>
        <p:spPr>
          <a:xfrm>
            <a:off x="6492240" y="5276088"/>
            <a:ext cx="4892040" cy="502920"/>
          </a:xfrm>
          <a:prstGeom prst="rect">
            <a:avLst/>
          </a:prstGeom>
          <a:noFill/>
          <a:ln/>
        </p:spPr>
        <p:txBody>
          <a:bodyPr wrap="square" rtlCol="0" anchor="ctr"/>
          <a:lstStyle/>
          <a:p>
            <a:pPr marL="0" indent="0">
              <a:lnSpc>
                <a:spcPct val="115000"/>
              </a:lnSpc>
              <a:buNone/>
            </a:pPr>
            <a:r>
              <a:rPr lang="en-US" sz="1150" dirty="0">
                <a:solidFill>
                  <a:srgbClr val="4B5563"/>
                </a:solidFill>
                <a:latin typeface="Arial" pitchFamily="34" charset="0"/>
                <a:ea typeface="Arial" pitchFamily="34" charset="-122"/>
                <a:cs typeface="Arial" pitchFamily="34" charset="-120"/>
              </a:rPr>
              <a:t>Measure MAE, MSE, RMSE, and R² to judge real predictive accuracy, not just training fit.</a:t>
            </a:r>
            <a:endParaRPr lang="en-US" sz="1150" dirty="0"/>
          </a:p>
        </p:txBody>
      </p:sp>
      <p:sp>
        <p:nvSpPr>
          <p:cNvPr id="29" name="Text 23"/>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65760"/>
          </a:xfrm>
          <a:prstGeom prst="roundRect">
            <a:avLst>
              <a:gd name="adj" fmla="val 20000"/>
            </a:avLst>
          </a:prstGeom>
          <a:solidFill>
            <a:srgbClr val="EFF6FF"/>
          </a:solidFill>
          <a:ln/>
        </p:spPr>
        <p:txBody>
          <a:bodyPr/>
          <a:lstStyle/>
          <a:p>
            <a:endParaRPr lang="en-US"/>
          </a:p>
        </p:txBody>
      </p:sp>
      <p:sp>
        <p:nvSpPr>
          <p:cNvPr id="3" name="Text 1"/>
          <p:cNvSpPr/>
          <p:nvPr/>
        </p:nvSpPr>
        <p:spPr>
          <a:xfrm>
            <a:off x="548640" y="457200"/>
            <a:ext cx="2377440" cy="365760"/>
          </a:xfrm>
          <a:prstGeom prst="rect">
            <a:avLst/>
          </a:prstGeom>
          <a:noFill/>
          <a:ln/>
        </p:spPr>
        <p:txBody>
          <a:bodyPr wrap="square" rtlCol="0" anchor="ctr"/>
          <a:lstStyle/>
          <a:p>
            <a:pPr marL="0" indent="0" algn="ctr">
              <a:buNone/>
            </a:pPr>
            <a:r>
              <a:rPr lang="en-US" sz="1100" b="1" kern="0" spc="200" dirty="0">
                <a:solidFill>
                  <a:srgbClr val="1E3A8A"/>
                </a:solidFill>
                <a:latin typeface="Arial" pitchFamily="34" charset="0"/>
                <a:ea typeface="Arial" pitchFamily="34" charset="-122"/>
                <a:cs typeface="Arial" pitchFamily="34" charset="-120"/>
              </a:rPr>
              <a:t>03  ·  DATASET</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200" b="1" dirty="0">
                <a:solidFill>
                  <a:srgbClr val="111827"/>
                </a:solidFill>
                <a:latin typeface="Arial" pitchFamily="34" charset="0"/>
                <a:ea typeface="Arial" pitchFamily="34" charset="-122"/>
                <a:cs typeface="Arial" pitchFamily="34" charset="-120"/>
              </a:rPr>
              <a:t>Dataset Overview</a:t>
            </a:r>
            <a:endParaRPr lang="en-US" sz="3200" dirty="0"/>
          </a:p>
        </p:txBody>
      </p:sp>
      <p:sp>
        <p:nvSpPr>
          <p:cNvPr id="5" name="Text 3"/>
          <p:cNvSpPr/>
          <p:nvPr/>
        </p:nvSpPr>
        <p:spPr>
          <a:xfrm>
            <a:off x="548640" y="1691640"/>
            <a:ext cx="5486400" cy="320040"/>
          </a:xfrm>
          <a:prstGeom prst="rect">
            <a:avLst/>
          </a:prstGeom>
          <a:noFill/>
          <a:ln/>
        </p:spPr>
        <p:txBody>
          <a:bodyPr wrap="square" rtlCol="0" anchor="ctr"/>
          <a:lstStyle/>
          <a:p>
            <a:pPr marL="0" indent="0">
              <a:buNone/>
            </a:pPr>
            <a:r>
              <a:rPr lang="en-US" sz="1400" b="1" dirty="0">
                <a:solidFill>
                  <a:srgbClr val="1E3A8A"/>
                </a:solidFill>
                <a:latin typeface="Arial" pitchFamily="34" charset="0"/>
                <a:ea typeface="Arial" pitchFamily="34" charset="-122"/>
                <a:cs typeface="Arial" pitchFamily="34" charset="-120"/>
              </a:rPr>
              <a:t>Student Performance Factors Dataset</a:t>
            </a:r>
            <a:endParaRPr lang="en-US" sz="1400" dirty="0"/>
          </a:p>
        </p:txBody>
      </p:sp>
      <p:sp>
        <p:nvSpPr>
          <p:cNvPr id="6" name="Text 4"/>
          <p:cNvSpPr/>
          <p:nvPr/>
        </p:nvSpPr>
        <p:spPr>
          <a:xfrm>
            <a:off x="548640" y="2011680"/>
            <a:ext cx="5486400" cy="502920"/>
          </a:xfrm>
          <a:prstGeom prst="rect">
            <a:avLst/>
          </a:prstGeom>
          <a:noFill/>
          <a:ln/>
        </p:spPr>
        <p:txBody>
          <a:bodyPr wrap="square" rtlCol="0" anchor="ctr"/>
          <a:lstStyle/>
          <a:p>
            <a:pPr marL="0" indent="0">
              <a:lnSpc>
                <a:spcPct val="120000"/>
              </a:lnSpc>
              <a:buNone/>
            </a:pPr>
            <a:r>
              <a:rPr lang="en-US" sz="1150" dirty="0">
                <a:solidFill>
                  <a:srgbClr val="4B5563"/>
                </a:solidFill>
                <a:latin typeface="Arial" pitchFamily="34" charset="0"/>
                <a:ea typeface="Arial" pitchFamily="34" charset="-122"/>
                <a:cs typeface="Arial" pitchFamily="34" charset="-120"/>
              </a:rPr>
              <a:t>Loaded from Google Drive as a CSV file into a pandas DataFrame for analysis and modeling.</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5486400" cy="2560320"/>
        </p:xfrm>
        <a:graphic>
          <a:graphicData uri="http://schemas.openxmlformats.org/drawingml/2006/table">
            <a:tbl>
              <a:tblPr/>
              <a:tblGrid>
                <a:gridCol w="31089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Arial" pitchFamily="34" charset="0"/>
                          <a:ea typeface="Arial" pitchFamily="34" charset="-122"/>
                          <a:cs typeface="Arial" pitchFamily="34" charset="-120"/>
                        </a:rPr>
                        <a:t>Feature</a:t>
                      </a:r>
                      <a:endParaRPr lang="en-US" sz="12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1E3A8A"/>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1E3A8A"/>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Type</a:t>
                      </a:r>
                      <a:endParaRPr lang="en-US" sz="12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1E3A8A"/>
                    </a:solidFill>
                  </a:tcPr>
                </a:tc>
                <a:extLst>
                  <a:ext uri="{0D108BD9-81ED-4DB2-BD59-A6C34878D82A}">
                    <a16:rowId xmlns:a16="http://schemas.microsoft.com/office/drawing/2014/main" val="10000"/>
                  </a:ext>
                </a:extLst>
              </a:tr>
              <a:tr h="365760">
                <a:tc>
                  <a:txBody>
                    <a:bodyPr/>
                    <a:lstStyle/>
                    <a:p>
                      <a:pPr marL="0" indent="0">
                        <a:buNone/>
                      </a:pPr>
                      <a:r>
                        <a:rPr lang="en-US" sz="1050" dirty="0">
                          <a:solidFill>
                            <a:srgbClr val="111827"/>
                          </a:solidFill>
                          <a:latin typeface="Arial" pitchFamily="34" charset="0"/>
                          <a:ea typeface="Arial" pitchFamily="34" charset="-122"/>
                          <a:cs typeface="Arial" pitchFamily="34" charset="-120"/>
                        </a:rPr>
                        <a:t>Attendance</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Input</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Numeric</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extLst>
                  <a:ext uri="{0D108BD9-81ED-4DB2-BD59-A6C34878D82A}">
                    <a16:rowId xmlns:a16="http://schemas.microsoft.com/office/drawing/2014/main" val="10001"/>
                  </a:ext>
                </a:extLst>
              </a:tr>
              <a:tr h="365760">
                <a:tc>
                  <a:txBody>
                    <a:bodyPr/>
                    <a:lstStyle/>
                    <a:p>
                      <a:pPr marL="0" indent="0">
                        <a:buNone/>
                      </a:pPr>
                      <a:r>
                        <a:rPr lang="en-US" sz="1050" dirty="0">
                          <a:solidFill>
                            <a:srgbClr val="111827"/>
                          </a:solidFill>
                          <a:latin typeface="Arial" pitchFamily="34" charset="0"/>
                          <a:ea typeface="Arial" pitchFamily="34" charset="-122"/>
                          <a:cs typeface="Arial" pitchFamily="34" charset="-120"/>
                        </a:rPr>
                        <a:t>Hours_Studied</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FFF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Input</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FFF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Numeric</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050" dirty="0">
                          <a:solidFill>
                            <a:srgbClr val="111827"/>
                          </a:solidFill>
                          <a:latin typeface="Arial" pitchFamily="34" charset="0"/>
                          <a:ea typeface="Arial" pitchFamily="34" charset="-122"/>
                          <a:cs typeface="Arial" pitchFamily="34" charset="-120"/>
                        </a:rPr>
                        <a:t>Previous_Academic_Scores_Avg</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Input</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Numeric</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extLst>
                  <a:ext uri="{0D108BD9-81ED-4DB2-BD59-A6C34878D82A}">
                    <a16:rowId xmlns:a16="http://schemas.microsoft.com/office/drawing/2014/main" val="10003"/>
                  </a:ext>
                </a:extLst>
              </a:tr>
              <a:tr h="365760">
                <a:tc>
                  <a:txBody>
                    <a:bodyPr/>
                    <a:lstStyle/>
                    <a:p>
                      <a:pPr marL="0" indent="0">
                        <a:buNone/>
                      </a:pPr>
                      <a:r>
                        <a:rPr lang="en-US" sz="1050" dirty="0">
                          <a:solidFill>
                            <a:srgbClr val="111827"/>
                          </a:solidFill>
                          <a:latin typeface="Arial" pitchFamily="34" charset="0"/>
                          <a:ea typeface="Arial" pitchFamily="34" charset="-122"/>
                          <a:cs typeface="Arial" pitchFamily="34" charset="-120"/>
                        </a:rPr>
                        <a:t>Sleep_Hours</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FFF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Input</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FFF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Numeric</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050" dirty="0">
                          <a:solidFill>
                            <a:srgbClr val="111827"/>
                          </a:solidFill>
                          <a:latin typeface="Arial" pitchFamily="34" charset="0"/>
                          <a:ea typeface="Arial" pitchFamily="34" charset="-122"/>
                          <a:cs typeface="Arial" pitchFamily="34" charset="-120"/>
                        </a:rPr>
                        <a:t>Tutoring_Sessions</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Input</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Numeric</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r h="365760">
                <a:tc>
                  <a:txBody>
                    <a:bodyPr/>
                    <a:lstStyle/>
                    <a:p>
                      <a:pPr marL="0" indent="0">
                        <a:buNone/>
                      </a:pPr>
                      <a:r>
                        <a:rPr lang="en-US" sz="1050" dirty="0">
                          <a:solidFill>
                            <a:srgbClr val="111827"/>
                          </a:solidFill>
                          <a:latin typeface="Arial" pitchFamily="34" charset="0"/>
                          <a:ea typeface="Arial" pitchFamily="34" charset="-122"/>
                          <a:cs typeface="Arial" pitchFamily="34" charset="-120"/>
                        </a:rPr>
                        <a:t>Exam_Score</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FFF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Target</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FFFFF"/>
                    </a:solidFill>
                  </a:tcPr>
                </a:tc>
                <a:tc>
                  <a:txBody>
                    <a:bodyPr/>
                    <a:lstStyle/>
                    <a:p>
                      <a:pPr marL="0" indent="0">
                        <a:buNone/>
                      </a:pPr>
                      <a:r>
                        <a:rPr lang="en-US" sz="1050" dirty="0">
                          <a:solidFill>
                            <a:srgbClr val="111827"/>
                          </a:solidFill>
                          <a:latin typeface="Arial" pitchFamily="34" charset="0"/>
                          <a:ea typeface="Arial" pitchFamily="34" charset="-122"/>
                          <a:cs typeface="Arial" pitchFamily="34" charset="-120"/>
                        </a:rPr>
                        <a:t>Numeric</a:t>
                      </a:r>
                      <a:endParaRPr lang="en-US" sz="105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Shape 5"/>
          <p:cNvSpPr/>
          <p:nvPr/>
        </p:nvSpPr>
        <p:spPr>
          <a:xfrm>
            <a:off x="6400800" y="1783080"/>
            <a:ext cx="5212080" cy="731520"/>
          </a:xfrm>
          <a:prstGeom prst="roundRect">
            <a:avLst>
              <a:gd name="adj" fmla="val 10000"/>
            </a:avLst>
          </a:prstGeom>
          <a:solidFill>
            <a:srgbClr val="EFF6FF"/>
          </a:solidFill>
          <a:ln/>
        </p:spPr>
        <p:txBody>
          <a:bodyPr/>
          <a:lstStyle/>
          <a:p>
            <a:endParaRPr lang="en-US"/>
          </a:p>
        </p:txBody>
      </p:sp>
      <p:sp>
        <p:nvSpPr>
          <p:cNvPr id="9" name="Shape 6"/>
          <p:cNvSpPr/>
          <p:nvPr/>
        </p:nvSpPr>
        <p:spPr>
          <a:xfrm>
            <a:off x="6565392" y="1920240"/>
            <a:ext cx="457200" cy="457200"/>
          </a:xfrm>
          <a:prstGeom prst="ellipse">
            <a:avLst/>
          </a:prstGeom>
          <a:solidFill>
            <a:srgbClr val="1E3A8A"/>
          </a:solidFill>
          <a:ln/>
        </p:spPr>
        <p:txBody>
          <a:bodyPr/>
          <a:lstStyle/>
          <a:p>
            <a:endParaRPr lang="en-US"/>
          </a:p>
        </p:txBody>
      </p:sp>
      <p:pic>
        <p:nvPicPr>
          <p:cNvPr id="10" name="Image 0" descr="/home/claude/icons/database_white.png"/>
          <p:cNvPicPr>
            <a:picLocks noChangeAspect="1"/>
          </p:cNvPicPr>
          <p:nvPr/>
        </p:nvPicPr>
        <p:blipFill>
          <a:blip r:embed="rId3"/>
          <a:stretch>
            <a:fillRect/>
          </a:stretch>
        </p:blipFill>
        <p:spPr>
          <a:xfrm>
            <a:off x="6684264" y="2039112"/>
            <a:ext cx="219456" cy="219456"/>
          </a:xfrm>
          <a:prstGeom prst="rect">
            <a:avLst/>
          </a:prstGeom>
        </p:spPr>
      </p:pic>
      <p:sp>
        <p:nvSpPr>
          <p:cNvPr id="11" name="Text 7"/>
          <p:cNvSpPr/>
          <p:nvPr/>
        </p:nvSpPr>
        <p:spPr>
          <a:xfrm>
            <a:off x="7178040" y="1856232"/>
            <a:ext cx="4297680" cy="256032"/>
          </a:xfrm>
          <a:prstGeom prst="rect">
            <a:avLst/>
          </a:prstGeom>
          <a:noFill/>
          <a:ln/>
        </p:spPr>
        <p:txBody>
          <a:bodyPr wrap="square" rtlCol="0" anchor="ctr"/>
          <a:lstStyle/>
          <a:p>
            <a:pPr marL="0" indent="0">
              <a:buNone/>
            </a:pPr>
            <a:r>
              <a:rPr lang="en-US" sz="950" b="1" kern="0" spc="100" dirty="0">
                <a:solidFill>
                  <a:srgbClr val="1E3A8A"/>
                </a:solidFill>
                <a:latin typeface="Arial" pitchFamily="34" charset="0"/>
                <a:ea typeface="Arial" pitchFamily="34" charset="-122"/>
                <a:cs typeface="Arial" pitchFamily="34" charset="-120"/>
              </a:rPr>
              <a:t>PREPROCESSING</a:t>
            </a:r>
            <a:endParaRPr lang="en-US" sz="950" dirty="0"/>
          </a:p>
        </p:txBody>
      </p:sp>
      <p:sp>
        <p:nvSpPr>
          <p:cNvPr id="12" name="Text 8"/>
          <p:cNvSpPr/>
          <p:nvPr/>
        </p:nvSpPr>
        <p:spPr>
          <a:xfrm>
            <a:off x="7178040" y="2112264"/>
            <a:ext cx="4297680" cy="347472"/>
          </a:xfrm>
          <a:prstGeom prst="rect">
            <a:avLst/>
          </a:prstGeom>
          <a:noFill/>
          <a:ln/>
        </p:spPr>
        <p:txBody>
          <a:bodyPr wrap="square" rtlCol="0" anchor="ctr"/>
          <a:lstStyle/>
          <a:p>
            <a:pPr marL="0" indent="0">
              <a:buNone/>
            </a:pPr>
            <a:r>
              <a:rPr lang="en-US" sz="1150" dirty="0">
                <a:solidFill>
                  <a:srgbClr val="111827"/>
                </a:solidFill>
                <a:latin typeface="Arial" pitchFamily="34" charset="0"/>
                <a:ea typeface="Arial" pitchFamily="34" charset="-122"/>
                <a:cs typeface="Arial" pitchFamily="34" charset="-120"/>
              </a:rPr>
              <a:t>Mean / Mode Imputation</a:t>
            </a:r>
            <a:endParaRPr lang="en-US" sz="1150" dirty="0"/>
          </a:p>
        </p:txBody>
      </p:sp>
      <p:sp>
        <p:nvSpPr>
          <p:cNvPr id="13" name="Shape 9"/>
          <p:cNvSpPr/>
          <p:nvPr/>
        </p:nvSpPr>
        <p:spPr>
          <a:xfrm>
            <a:off x="6400800" y="2651760"/>
            <a:ext cx="5212080" cy="731520"/>
          </a:xfrm>
          <a:prstGeom prst="roundRect">
            <a:avLst>
              <a:gd name="adj" fmla="val 10000"/>
            </a:avLst>
          </a:prstGeom>
          <a:solidFill>
            <a:srgbClr val="EFF6FF"/>
          </a:solidFill>
          <a:ln/>
        </p:spPr>
        <p:txBody>
          <a:bodyPr/>
          <a:lstStyle/>
          <a:p>
            <a:endParaRPr lang="en-US"/>
          </a:p>
        </p:txBody>
      </p:sp>
      <p:sp>
        <p:nvSpPr>
          <p:cNvPr id="14" name="Shape 10"/>
          <p:cNvSpPr/>
          <p:nvPr/>
        </p:nvSpPr>
        <p:spPr>
          <a:xfrm>
            <a:off x="6565392" y="2788920"/>
            <a:ext cx="457200" cy="457200"/>
          </a:xfrm>
          <a:prstGeom prst="ellipse">
            <a:avLst/>
          </a:prstGeom>
          <a:solidFill>
            <a:srgbClr val="1E3A8A"/>
          </a:solidFill>
          <a:ln/>
        </p:spPr>
        <p:txBody>
          <a:bodyPr/>
          <a:lstStyle/>
          <a:p>
            <a:endParaRPr lang="en-US"/>
          </a:p>
        </p:txBody>
      </p:sp>
      <p:pic>
        <p:nvPicPr>
          <p:cNvPr id="15" name="Image 1" descr="/home/claude/icons/filter_white.png"/>
          <p:cNvPicPr>
            <a:picLocks noChangeAspect="1"/>
          </p:cNvPicPr>
          <p:nvPr/>
        </p:nvPicPr>
        <p:blipFill>
          <a:blip r:embed="rId4"/>
          <a:stretch>
            <a:fillRect/>
          </a:stretch>
        </p:blipFill>
        <p:spPr>
          <a:xfrm>
            <a:off x="6684264" y="2907792"/>
            <a:ext cx="219456" cy="219456"/>
          </a:xfrm>
          <a:prstGeom prst="rect">
            <a:avLst/>
          </a:prstGeom>
        </p:spPr>
      </p:pic>
      <p:sp>
        <p:nvSpPr>
          <p:cNvPr id="16" name="Text 11"/>
          <p:cNvSpPr/>
          <p:nvPr/>
        </p:nvSpPr>
        <p:spPr>
          <a:xfrm>
            <a:off x="7178040" y="2724912"/>
            <a:ext cx="4297680" cy="256032"/>
          </a:xfrm>
          <a:prstGeom prst="rect">
            <a:avLst/>
          </a:prstGeom>
          <a:noFill/>
          <a:ln/>
        </p:spPr>
        <p:txBody>
          <a:bodyPr wrap="square" rtlCol="0" anchor="ctr"/>
          <a:lstStyle/>
          <a:p>
            <a:pPr marL="0" indent="0">
              <a:buNone/>
            </a:pPr>
            <a:r>
              <a:rPr lang="en-US" sz="950" b="1" kern="0" spc="100" dirty="0">
                <a:solidFill>
                  <a:srgbClr val="1E3A8A"/>
                </a:solidFill>
                <a:latin typeface="Arial" pitchFamily="34" charset="0"/>
                <a:ea typeface="Arial" pitchFamily="34" charset="-122"/>
                <a:cs typeface="Arial" pitchFamily="34" charset="-120"/>
              </a:rPr>
              <a:t>DUPLICATES</a:t>
            </a:r>
            <a:endParaRPr lang="en-US" sz="950" dirty="0"/>
          </a:p>
        </p:txBody>
      </p:sp>
      <p:sp>
        <p:nvSpPr>
          <p:cNvPr id="17" name="Text 12"/>
          <p:cNvSpPr/>
          <p:nvPr/>
        </p:nvSpPr>
        <p:spPr>
          <a:xfrm>
            <a:off x="7178040" y="2980944"/>
            <a:ext cx="4297680" cy="347472"/>
          </a:xfrm>
          <a:prstGeom prst="rect">
            <a:avLst/>
          </a:prstGeom>
          <a:noFill/>
          <a:ln/>
        </p:spPr>
        <p:txBody>
          <a:bodyPr wrap="square" rtlCol="0" anchor="ctr"/>
          <a:lstStyle/>
          <a:p>
            <a:pPr marL="0" indent="0">
              <a:buNone/>
            </a:pPr>
            <a:r>
              <a:rPr lang="en-US" sz="1150" dirty="0">
                <a:solidFill>
                  <a:srgbClr val="111827"/>
                </a:solidFill>
                <a:latin typeface="Arial" pitchFamily="34" charset="0"/>
                <a:ea typeface="Arial" pitchFamily="34" charset="-122"/>
                <a:cs typeface="Arial" pitchFamily="34" charset="-120"/>
              </a:rPr>
              <a:t>Removed via drop_duplicates()</a:t>
            </a:r>
            <a:endParaRPr lang="en-US" sz="1150" dirty="0"/>
          </a:p>
        </p:txBody>
      </p:sp>
      <p:sp>
        <p:nvSpPr>
          <p:cNvPr id="18" name="Shape 13"/>
          <p:cNvSpPr/>
          <p:nvPr/>
        </p:nvSpPr>
        <p:spPr>
          <a:xfrm>
            <a:off x="6400800" y="3520440"/>
            <a:ext cx="5212080" cy="731520"/>
          </a:xfrm>
          <a:prstGeom prst="roundRect">
            <a:avLst>
              <a:gd name="adj" fmla="val 10000"/>
            </a:avLst>
          </a:prstGeom>
          <a:solidFill>
            <a:srgbClr val="EFF6FF"/>
          </a:solidFill>
          <a:ln/>
        </p:spPr>
        <p:txBody>
          <a:bodyPr/>
          <a:lstStyle/>
          <a:p>
            <a:endParaRPr lang="en-US"/>
          </a:p>
        </p:txBody>
      </p:sp>
      <p:sp>
        <p:nvSpPr>
          <p:cNvPr id="19" name="Shape 14"/>
          <p:cNvSpPr/>
          <p:nvPr/>
        </p:nvSpPr>
        <p:spPr>
          <a:xfrm>
            <a:off x="6565392" y="3657600"/>
            <a:ext cx="457200" cy="457200"/>
          </a:xfrm>
          <a:prstGeom prst="ellipse">
            <a:avLst/>
          </a:prstGeom>
          <a:solidFill>
            <a:srgbClr val="1E3A8A"/>
          </a:solidFill>
          <a:ln/>
        </p:spPr>
        <p:txBody>
          <a:bodyPr/>
          <a:lstStyle/>
          <a:p>
            <a:endParaRPr lang="en-US"/>
          </a:p>
        </p:txBody>
      </p:sp>
      <p:pic>
        <p:nvPicPr>
          <p:cNvPr id="20" name="Image 2" descr="/home/claude/icons/chart_bar_white.png"/>
          <p:cNvPicPr>
            <a:picLocks noChangeAspect="1"/>
          </p:cNvPicPr>
          <p:nvPr/>
        </p:nvPicPr>
        <p:blipFill>
          <a:blip r:embed="rId5"/>
          <a:stretch>
            <a:fillRect/>
          </a:stretch>
        </p:blipFill>
        <p:spPr>
          <a:xfrm>
            <a:off x="6684264" y="3776472"/>
            <a:ext cx="219456" cy="219456"/>
          </a:xfrm>
          <a:prstGeom prst="rect">
            <a:avLst/>
          </a:prstGeom>
        </p:spPr>
      </p:pic>
      <p:sp>
        <p:nvSpPr>
          <p:cNvPr id="21" name="Text 15"/>
          <p:cNvSpPr/>
          <p:nvPr/>
        </p:nvSpPr>
        <p:spPr>
          <a:xfrm>
            <a:off x="7178040" y="3593592"/>
            <a:ext cx="4297680" cy="256032"/>
          </a:xfrm>
          <a:prstGeom prst="rect">
            <a:avLst/>
          </a:prstGeom>
          <a:noFill/>
          <a:ln/>
        </p:spPr>
        <p:txBody>
          <a:bodyPr wrap="square" rtlCol="0" anchor="ctr"/>
          <a:lstStyle/>
          <a:p>
            <a:pPr marL="0" indent="0">
              <a:buNone/>
            </a:pPr>
            <a:r>
              <a:rPr lang="en-US" sz="950" b="1" kern="0" spc="100" dirty="0">
                <a:solidFill>
                  <a:srgbClr val="1E3A8A"/>
                </a:solidFill>
                <a:latin typeface="Arial" pitchFamily="34" charset="0"/>
                <a:ea typeface="Arial" pitchFamily="34" charset="-122"/>
                <a:cs typeface="Arial" pitchFamily="34" charset="-120"/>
              </a:rPr>
              <a:t>SCALING</a:t>
            </a:r>
            <a:endParaRPr lang="en-US" sz="950" dirty="0"/>
          </a:p>
        </p:txBody>
      </p:sp>
      <p:sp>
        <p:nvSpPr>
          <p:cNvPr id="22" name="Text 16"/>
          <p:cNvSpPr/>
          <p:nvPr/>
        </p:nvSpPr>
        <p:spPr>
          <a:xfrm>
            <a:off x="7178040" y="3849624"/>
            <a:ext cx="4297680" cy="347472"/>
          </a:xfrm>
          <a:prstGeom prst="rect">
            <a:avLst/>
          </a:prstGeom>
          <a:noFill/>
          <a:ln/>
        </p:spPr>
        <p:txBody>
          <a:bodyPr wrap="square" rtlCol="0" anchor="ctr"/>
          <a:lstStyle/>
          <a:p>
            <a:pPr marL="0" indent="0">
              <a:buNone/>
            </a:pPr>
            <a:r>
              <a:rPr lang="en-US" sz="1150" dirty="0">
                <a:solidFill>
                  <a:srgbClr val="111827"/>
                </a:solidFill>
                <a:latin typeface="Arial" pitchFamily="34" charset="0"/>
                <a:ea typeface="Arial" pitchFamily="34" charset="-122"/>
                <a:cs typeface="Arial" pitchFamily="34" charset="-120"/>
              </a:rPr>
              <a:t>StandardScaler (zero mean, unit variance)</a:t>
            </a:r>
            <a:endParaRPr lang="en-US" sz="1150" dirty="0"/>
          </a:p>
        </p:txBody>
      </p:sp>
      <p:sp>
        <p:nvSpPr>
          <p:cNvPr id="23" name="Shape 17"/>
          <p:cNvSpPr/>
          <p:nvPr/>
        </p:nvSpPr>
        <p:spPr>
          <a:xfrm>
            <a:off x="6400800" y="4434840"/>
            <a:ext cx="5212080" cy="1691640"/>
          </a:xfrm>
          <a:prstGeom prst="roundRect">
            <a:avLst>
              <a:gd name="adj" fmla="val 4324"/>
            </a:avLst>
          </a:prstGeom>
          <a:solidFill>
            <a:srgbClr val="1E3A8A"/>
          </a:solidFill>
          <a:ln/>
        </p:spPr>
        <p:txBody>
          <a:bodyPr/>
          <a:lstStyle/>
          <a:p>
            <a:endParaRPr lang="en-US"/>
          </a:p>
        </p:txBody>
      </p:sp>
      <p:sp>
        <p:nvSpPr>
          <p:cNvPr id="24" name="Text 18"/>
          <p:cNvSpPr/>
          <p:nvPr/>
        </p:nvSpPr>
        <p:spPr>
          <a:xfrm>
            <a:off x="6675120" y="4617720"/>
            <a:ext cx="4663440" cy="274320"/>
          </a:xfrm>
          <a:prstGeom prst="rect">
            <a:avLst/>
          </a:prstGeom>
          <a:noFill/>
          <a:ln/>
        </p:spPr>
        <p:txBody>
          <a:bodyPr wrap="square" rtlCol="0" anchor="ctr"/>
          <a:lstStyle/>
          <a:p>
            <a:pPr marL="0" indent="0">
              <a:buNone/>
            </a:pPr>
            <a:r>
              <a:rPr lang="en-US" sz="1050" b="1" kern="0" spc="150" dirty="0">
                <a:solidFill>
                  <a:srgbClr val="2563EB"/>
                </a:solidFill>
                <a:latin typeface="Arial" pitchFamily="34" charset="0"/>
                <a:ea typeface="Arial" pitchFamily="34" charset="-122"/>
                <a:cs typeface="Arial" pitchFamily="34" charset="-120"/>
              </a:rPr>
              <a:t>MISSING VALUES</a:t>
            </a:r>
            <a:endParaRPr lang="en-US" sz="1050" dirty="0"/>
          </a:p>
        </p:txBody>
      </p:sp>
      <p:sp>
        <p:nvSpPr>
          <p:cNvPr id="25" name="Text 19"/>
          <p:cNvSpPr/>
          <p:nvPr/>
        </p:nvSpPr>
        <p:spPr>
          <a:xfrm>
            <a:off x="6675120" y="4937760"/>
            <a:ext cx="4663440" cy="822960"/>
          </a:xfrm>
          <a:prstGeom prst="rect">
            <a:avLst/>
          </a:prstGeom>
          <a:noFill/>
          <a:ln/>
        </p:spPr>
        <p:txBody>
          <a:bodyPr wrap="square" rtlCol="0" anchor="ctr"/>
          <a:lstStyle/>
          <a:p>
            <a:pPr marL="0" indent="0">
              <a:lnSpc>
                <a:spcPct val="125000"/>
              </a:lnSpc>
              <a:buNone/>
            </a:pPr>
            <a:r>
              <a:rPr lang="en-US" sz="1150" dirty="0">
                <a:solidFill>
                  <a:srgbClr val="FFFFFF"/>
                </a:solidFill>
                <a:latin typeface="Arial" pitchFamily="34" charset="0"/>
                <a:ea typeface="Arial" pitchFamily="34" charset="-122"/>
                <a:cs typeface="Arial" pitchFamily="34" charset="-120"/>
              </a:rPr>
              <a:t>Numeric columns filled with the column mean; categorical columns filled with the column mode -- ensuring no rows are dropped due to missing entries.</a:t>
            </a:r>
            <a:endParaRPr lang="en-US" sz="1150" dirty="0"/>
          </a:p>
        </p:txBody>
      </p:sp>
      <p:sp>
        <p:nvSpPr>
          <p:cNvPr id="26" name="Text 20"/>
          <p:cNvSpPr/>
          <p:nvPr/>
        </p:nvSpPr>
        <p:spPr>
          <a:xfrm>
            <a:off x="548640" y="6263640"/>
            <a:ext cx="5486400" cy="274320"/>
          </a:xfrm>
          <a:prstGeom prst="rect">
            <a:avLst/>
          </a:prstGeom>
          <a:noFill/>
          <a:ln/>
        </p:spPr>
        <p:txBody>
          <a:bodyPr wrap="square" rtlCol="0" anchor="ctr"/>
          <a:lstStyle/>
          <a:p>
            <a:pPr marL="0" indent="0">
              <a:buNone/>
            </a:pPr>
            <a:r>
              <a:rPr lang="en-US" sz="1000" i="1" dirty="0">
                <a:solidFill>
                  <a:srgbClr val="9CA3AF"/>
                </a:solidFill>
                <a:latin typeface="Arial" pitchFamily="34" charset="0"/>
                <a:ea typeface="Arial" pitchFamily="34" charset="-122"/>
                <a:cs typeface="Arial" pitchFamily="34" charset="-120"/>
              </a:rPr>
              <a:t>df.shape → (rows, 6 columns) after cleaning &amp; duplicate removal</a:t>
            </a:r>
            <a:endParaRPr lang="en-US" sz="1000" dirty="0"/>
          </a:p>
        </p:txBody>
      </p:sp>
      <p:sp>
        <p:nvSpPr>
          <p:cNvPr id="27" name="Text 21"/>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65760"/>
          </a:xfrm>
          <a:prstGeom prst="roundRect">
            <a:avLst>
              <a:gd name="adj" fmla="val 20000"/>
            </a:avLst>
          </a:prstGeom>
          <a:solidFill>
            <a:srgbClr val="EFF6FF"/>
          </a:solidFill>
          <a:ln/>
        </p:spPr>
        <p:txBody>
          <a:bodyPr/>
          <a:lstStyle/>
          <a:p>
            <a:endParaRPr lang="en-US"/>
          </a:p>
        </p:txBody>
      </p:sp>
      <p:sp>
        <p:nvSpPr>
          <p:cNvPr id="3" name="Text 1"/>
          <p:cNvSpPr/>
          <p:nvPr/>
        </p:nvSpPr>
        <p:spPr>
          <a:xfrm>
            <a:off x="548640" y="457200"/>
            <a:ext cx="2377440" cy="365760"/>
          </a:xfrm>
          <a:prstGeom prst="rect">
            <a:avLst/>
          </a:prstGeom>
          <a:noFill/>
          <a:ln/>
        </p:spPr>
        <p:txBody>
          <a:bodyPr wrap="square" rtlCol="0" anchor="ctr"/>
          <a:lstStyle/>
          <a:p>
            <a:pPr marL="0" indent="0" algn="ctr">
              <a:buNone/>
            </a:pPr>
            <a:r>
              <a:rPr lang="en-US" sz="1100" b="1" kern="0" spc="200" dirty="0">
                <a:solidFill>
                  <a:srgbClr val="1E3A8A"/>
                </a:solidFill>
                <a:latin typeface="Arial" pitchFamily="34" charset="0"/>
                <a:ea typeface="Arial" pitchFamily="34" charset="-122"/>
                <a:cs typeface="Arial" pitchFamily="34" charset="-120"/>
              </a:rPr>
              <a:t>04  ·  WORKFLOW</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200" b="1" dirty="0">
                <a:solidFill>
                  <a:srgbClr val="111827"/>
                </a:solidFill>
                <a:latin typeface="Arial" pitchFamily="34" charset="0"/>
                <a:ea typeface="Arial" pitchFamily="34" charset="-122"/>
                <a:cs typeface="Arial" pitchFamily="34" charset="-120"/>
              </a:rPr>
              <a:t>End-to-End Execution Pipeline</a:t>
            </a:r>
            <a:endParaRPr lang="en-US" sz="3200" dirty="0"/>
          </a:p>
        </p:txBody>
      </p:sp>
      <p:sp>
        <p:nvSpPr>
          <p:cNvPr id="5" name="Shape 3"/>
          <p:cNvSpPr/>
          <p:nvPr/>
        </p:nvSpPr>
        <p:spPr>
          <a:xfrm>
            <a:off x="548640" y="2286000"/>
            <a:ext cx="1691640" cy="1417320"/>
          </a:xfrm>
          <a:prstGeom prst="roundRect">
            <a:avLst>
              <a:gd name="adj" fmla="val 5806"/>
            </a:avLst>
          </a:prstGeom>
          <a:solidFill>
            <a:srgbClr val="EFF6FF"/>
          </a:solidFill>
          <a:ln/>
          <a:effectLst>
            <a:outerShdw blurRad="76200" dist="25400" dir="5400000" algn="bl" rotWithShape="0">
              <a:srgbClr val="1E3A8A">
                <a:alpha val="12000"/>
              </a:srgbClr>
            </a:outerShdw>
          </a:effectLst>
        </p:spPr>
        <p:txBody>
          <a:bodyPr/>
          <a:lstStyle/>
          <a:p>
            <a:endParaRPr lang="en-US"/>
          </a:p>
        </p:txBody>
      </p:sp>
      <p:sp>
        <p:nvSpPr>
          <p:cNvPr id="6" name="Shape 4"/>
          <p:cNvSpPr/>
          <p:nvPr/>
        </p:nvSpPr>
        <p:spPr>
          <a:xfrm>
            <a:off x="1101852" y="2468880"/>
            <a:ext cx="585216" cy="585216"/>
          </a:xfrm>
          <a:prstGeom prst="ellipse">
            <a:avLst/>
          </a:prstGeom>
          <a:solidFill>
            <a:srgbClr val="1E3A8A"/>
          </a:solidFill>
          <a:ln/>
        </p:spPr>
        <p:txBody>
          <a:bodyPr/>
          <a:lstStyle/>
          <a:p>
            <a:endParaRPr lang="en-US"/>
          </a:p>
        </p:txBody>
      </p:sp>
      <p:pic>
        <p:nvPicPr>
          <p:cNvPr id="7" name="Image 0" descr="/home/claude/icons/database_white.png"/>
          <p:cNvPicPr>
            <a:picLocks noChangeAspect="1"/>
          </p:cNvPicPr>
          <p:nvPr/>
        </p:nvPicPr>
        <p:blipFill>
          <a:blip r:embed="rId3"/>
          <a:stretch>
            <a:fillRect/>
          </a:stretch>
        </p:blipFill>
        <p:spPr>
          <a:xfrm>
            <a:off x="1220724" y="2592324"/>
            <a:ext cx="347472" cy="347472"/>
          </a:xfrm>
          <a:prstGeom prst="rect">
            <a:avLst/>
          </a:prstGeom>
        </p:spPr>
      </p:pic>
      <p:sp>
        <p:nvSpPr>
          <p:cNvPr id="8" name="Text 5"/>
          <p:cNvSpPr/>
          <p:nvPr/>
        </p:nvSpPr>
        <p:spPr>
          <a:xfrm>
            <a:off x="594360" y="3154680"/>
            <a:ext cx="1600200" cy="274320"/>
          </a:xfrm>
          <a:prstGeom prst="rect">
            <a:avLst/>
          </a:prstGeom>
          <a:noFill/>
          <a:ln/>
        </p:spPr>
        <p:txBody>
          <a:bodyPr wrap="square" rtlCol="0" anchor="ctr"/>
          <a:lstStyle/>
          <a:p>
            <a:pPr marL="0" indent="0" algn="ctr">
              <a:buNone/>
            </a:pPr>
            <a:r>
              <a:rPr lang="en-US" sz="1150" b="1" dirty="0">
                <a:solidFill>
                  <a:srgbClr val="111827"/>
                </a:solidFill>
                <a:latin typeface="Arial" pitchFamily="34" charset="0"/>
                <a:ea typeface="Arial" pitchFamily="34" charset="-122"/>
                <a:cs typeface="Arial" pitchFamily="34" charset="-120"/>
              </a:rPr>
              <a:t>Load Data</a:t>
            </a:r>
            <a:endParaRPr lang="en-US" sz="1150" dirty="0"/>
          </a:p>
        </p:txBody>
      </p:sp>
      <p:sp>
        <p:nvSpPr>
          <p:cNvPr id="9" name="Text 6"/>
          <p:cNvSpPr/>
          <p:nvPr/>
        </p:nvSpPr>
        <p:spPr>
          <a:xfrm>
            <a:off x="594360" y="3419856"/>
            <a:ext cx="1600200" cy="256032"/>
          </a:xfrm>
          <a:prstGeom prst="rect">
            <a:avLst/>
          </a:prstGeom>
          <a:noFill/>
          <a:ln/>
        </p:spPr>
        <p:txBody>
          <a:bodyPr wrap="square" rtlCol="0" anchor="ctr"/>
          <a:lstStyle/>
          <a:p>
            <a:pPr marL="0" indent="0" algn="ctr">
              <a:buNone/>
            </a:pPr>
            <a:r>
              <a:rPr lang="en-US" sz="900" dirty="0">
                <a:solidFill>
                  <a:srgbClr val="4B5563"/>
                </a:solidFill>
                <a:latin typeface="Arial" pitchFamily="34" charset="0"/>
                <a:ea typeface="Arial" pitchFamily="34" charset="-122"/>
                <a:cs typeface="Arial" pitchFamily="34" charset="-120"/>
              </a:rPr>
              <a:t>CSV from Drive</a:t>
            </a:r>
            <a:endParaRPr lang="en-US" sz="900" dirty="0"/>
          </a:p>
        </p:txBody>
      </p:sp>
      <p:sp>
        <p:nvSpPr>
          <p:cNvPr id="10" name="Text 7"/>
          <p:cNvSpPr/>
          <p:nvPr/>
        </p:nvSpPr>
        <p:spPr>
          <a:xfrm>
            <a:off x="502920" y="1993392"/>
            <a:ext cx="365760" cy="274320"/>
          </a:xfrm>
          <a:prstGeom prst="rect">
            <a:avLst/>
          </a:prstGeom>
          <a:noFill/>
          <a:ln/>
        </p:spPr>
        <p:txBody>
          <a:bodyPr wrap="square" rtlCol="0" anchor="ctr"/>
          <a:lstStyle/>
          <a:p>
            <a:pPr marL="0" indent="0" algn="l">
              <a:buNone/>
            </a:pPr>
            <a:r>
              <a:rPr lang="en-US" sz="1000" b="1" dirty="0">
                <a:solidFill>
                  <a:srgbClr val="9CA3AF"/>
                </a:solidFill>
                <a:latin typeface="Arial" pitchFamily="34" charset="0"/>
                <a:ea typeface="Arial" pitchFamily="34" charset="-122"/>
                <a:cs typeface="Arial" pitchFamily="34" charset="-120"/>
              </a:rPr>
              <a:t>1</a:t>
            </a:r>
            <a:endParaRPr lang="en-US" sz="1000" dirty="0"/>
          </a:p>
        </p:txBody>
      </p:sp>
      <p:pic>
        <p:nvPicPr>
          <p:cNvPr id="11" name="Image 1" descr="/home/claude/icons/arrow_right_blue.png"/>
          <p:cNvPicPr>
            <a:picLocks noChangeAspect="1"/>
          </p:cNvPicPr>
          <p:nvPr/>
        </p:nvPicPr>
        <p:blipFill>
          <a:blip r:embed="rId4"/>
          <a:stretch>
            <a:fillRect/>
          </a:stretch>
        </p:blipFill>
        <p:spPr>
          <a:xfrm>
            <a:off x="2212848" y="2875788"/>
            <a:ext cx="237744" cy="237744"/>
          </a:xfrm>
          <a:prstGeom prst="rect">
            <a:avLst/>
          </a:prstGeom>
        </p:spPr>
      </p:pic>
      <p:sp>
        <p:nvSpPr>
          <p:cNvPr id="12" name="Shape 8"/>
          <p:cNvSpPr/>
          <p:nvPr/>
        </p:nvSpPr>
        <p:spPr>
          <a:xfrm>
            <a:off x="2423160" y="2286000"/>
            <a:ext cx="1691640" cy="1417320"/>
          </a:xfrm>
          <a:prstGeom prst="roundRect">
            <a:avLst>
              <a:gd name="adj" fmla="val 5806"/>
            </a:avLst>
          </a:prstGeom>
          <a:solidFill>
            <a:srgbClr val="EFF6FF"/>
          </a:solidFill>
          <a:ln/>
          <a:effectLst>
            <a:outerShdw blurRad="76200" dist="25400" dir="5400000" algn="bl" rotWithShape="0">
              <a:srgbClr val="1E3A8A">
                <a:alpha val="12000"/>
              </a:srgbClr>
            </a:outerShdw>
          </a:effectLst>
        </p:spPr>
        <p:txBody>
          <a:bodyPr/>
          <a:lstStyle/>
          <a:p>
            <a:endParaRPr lang="en-US"/>
          </a:p>
        </p:txBody>
      </p:sp>
      <p:sp>
        <p:nvSpPr>
          <p:cNvPr id="13" name="Shape 9"/>
          <p:cNvSpPr/>
          <p:nvPr/>
        </p:nvSpPr>
        <p:spPr>
          <a:xfrm>
            <a:off x="2976372" y="2468880"/>
            <a:ext cx="585216" cy="585216"/>
          </a:xfrm>
          <a:prstGeom prst="ellipse">
            <a:avLst/>
          </a:prstGeom>
          <a:solidFill>
            <a:srgbClr val="1E3A8A"/>
          </a:solidFill>
          <a:ln/>
        </p:spPr>
        <p:txBody>
          <a:bodyPr/>
          <a:lstStyle/>
          <a:p>
            <a:endParaRPr lang="en-US"/>
          </a:p>
        </p:txBody>
      </p:sp>
      <p:pic>
        <p:nvPicPr>
          <p:cNvPr id="14" name="Image 2" descr="/home/claude/icons/filter_white.png"/>
          <p:cNvPicPr>
            <a:picLocks noChangeAspect="1"/>
          </p:cNvPicPr>
          <p:nvPr/>
        </p:nvPicPr>
        <p:blipFill>
          <a:blip r:embed="rId5"/>
          <a:stretch>
            <a:fillRect/>
          </a:stretch>
        </p:blipFill>
        <p:spPr>
          <a:xfrm>
            <a:off x="3095244" y="2592324"/>
            <a:ext cx="347472" cy="347472"/>
          </a:xfrm>
          <a:prstGeom prst="rect">
            <a:avLst/>
          </a:prstGeom>
        </p:spPr>
      </p:pic>
      <p:sp>
        <p:nvSpPr>
          <p:cNvPr id="15" name="Text 10"/>
          <p:cNvSpPr/>
          <p:nvPr/>
        </p:nvSpPr>
        <p:spPr>
          <a:xfrm>
            <a:off x="2468880" y="3154680"/>
            <a:ext cx="1600200" cy="274320"/>
          </a:xfrm>
          <a:prstGeom prst="rect">
            <a:avLst/>
          </a:prstGeom>
          <a:noFill/>
          <a:ln/>
        </p:spPr>
        <p:txBody>
          <a:bodyPr wrap="square" rtlCol="0" anchor="ctr"/>
          <a:lstStyle/>
          <a:p>
            <a:pPr marL="0" indent="0" algn="ctr">
              <a:buNone/>
            </a:pPr>
            <a:r>
              <a:rPr lang="en-US" sz="1150" b="1" dirty="0">
                <a:solidFill>
                  <a:srgbClr val="111827"/>
                </a:solidFill>
                <a:latin typeface="Arial" pitchFamily="34" charset="0"/>
                <a:ea typeface="Arial" pitchFamily="34" charset="-122"/>
                <a:cs typeface="Arial" pitchFamily="34" charset="-120"/>
              </a:rPr>
              <a:t>Clean Data</a:t>
            </a:r>
            <a:endParaRPr lang="en-US" sz="1150" dirty="0"/>
          </a:p>
        </p:txBody>
      </p:sp>
      <p:sp>
        <p:nvSpPr>
          <p:cNvPr id="16" name="Text 11"/>
          <p:cNvSpPr/>
          <p:nvPr/>
        </p:nvSpPr>
        <p:spPr>
          <a:xfrm>
            <a:off x="2468880" y="3419856"/>
            <a:ext cx="1600200" cy="256032"/>
          </a:xfrm>
          <a:prstGeom prst="rect">
            <a:avLst/>
          </a:prstGeom>
          <a:noFill/>
          <a:ln/>
        </p:spPr>
        <p:txBody>
          <a:bodyPr wrap="square" rtlCol="0" anchor="ctr"/>
          <a:lstStyle/>
          <a:p>
            <a:pPr marL="0" indent="0" algn="ctr">
              <a:buNone/>
            </a:pPr>
            <a:r>
              <a:rPr lang="en-US" sz="900" dirty="0">
                <a:solidFill>
                  <a:srgbClr val="4B5563"/>
                </a:solidFill>
                <a:latin typeface="Arial" pitchFamily="34" charset="0"/>
                <a:ea typeface="Arial" pitchFamily="34" charset="-122"/>
                <a:cs typeface="Arial" pitchFamily="34" charset="-120"/>
              </a:rPr>
              <a:t>Impute &amp; dedupe</a:t>
            </a:r>
            <a:endParaRPr lang="en-US" sz="900" dirty="0"/>
          </a:p>
        </p:txBody>
      </p:sp>
      <p:sp>
        <p:nvSpPr>
          <p:cNvPr id="17" name="Text 12"/>
          <p:cNvSpPr/>
          <p:nvPr/>
        </p:nvSpPr>
        <p:spPr>
          <a:xfrm>
            <a:off x="2377440" y="1993392"/>
            <a:ext cx="365760" cy="274320"/>
          </a:xfrm>
          <a:prstGeom prst="rect">
            <a:avLst/>
          </a:prstGeom>
          <a:noFill/>
          <a:ln/>
        </p:spPr>
        <p:txBody>
          <a:bodyPr wrap="square" rtlCol="0" anchor="ctr"/>
          <a:lstStyle/>
          <a:p>
            <a:pPr marL="0" indent="0" algn="l">
              <a:buNone/>
            </a:pPr>
            <a:r>
              <a:rPr lang="en-US" sz="1000" b="1" dirty="0">
                <a:solidFill>
                  <a:srgbClr val="9CA3AF"/>
                </a:solidFill>
                <a:latin typeface="Arial" pitchFamily="34" charset="0"/>
                <a:ea typeface="Arial" pitchFamily="34" charset="-122"/>
                <a:cs typeface="Arial" pitchFamily="34" charset="-120"/>
              </a:rPr>
              <a:t>2</a:t>
            </a:r>
            <a:endParaRPr lang="en-US" sz="1000" dirty="0"/>
          </a:p>
        </p:txBody>
      </p:sp>
      <p:pic>
        <p:nvPicPr>
          <p:cNvPr id="18" name="Image 3" descr="/home/claude/icons/arrow_right_blue.png"/>
          <p:cNvPicPr>
            <a:picLocks noChangeAspect="1"/>
          </p:cNvPicPr>
          <p:nvPr/>
        </p:nvPicPr>
        <p:blipFill>
          <a:blip r:embed="rId4"/>
          <a:stretch>
            <a:fillRect/>
          </a:stretch>
        </p:blipFill>
        <p:spPr>
          <a:xfrm>
            <a:off x="4087368" y="2875788"/>
            <a:ext cx="237744" cy="237744"/>
          </a:xfrm>
          <a:prstGeom prst="rect">
            <a:avLst/>
          </a:prstGeom>
        </p:spPr>
      </p:pic>
      <p:sp>
        <p:nvSpPr>
          <p:cNvPr id="19" name="Shape 13"/>
          <p:cNvSpPr/>
          <p:nvPr/>
        </p:nvSpPr>
        <p:spPr>
          <a:xfrm>
            <a:off x="4297680" y="2286000"/>
            <a:ext cx="1691640" cy="1417320"/>
          </a:xfrm>
          <a:prstGeom prst="roundRect">
            <a:avLst>
              <a:gd name="adj" fmla="val 5806"/>
            </a:avLst>
          </a:prstGeom>
          <a:solidFill>
            <a:srgbClr val="EFF6FF"/>
          </a:solidFill>
          <a:ln/>
          <a:effectLst>
            <a:outerShdw blurRad="76200" dist="25400" dir="5400000" algn="bl" rotWithShape="0">
              <a:srgbClr val="1E3A8A">
                <a:alpha val="12000"/>
              </a:srgbClr>
            </a:outerShdw>
          </a:effectLst>
        </p:spPr>
        <p:txBody>
          <a:bodyPr/>
          <a:lstStyle/>
          <a:p>
            <a:endParaRPr lang="en-US"/>
          </a:p>
        </p:txBody>
      </p:sp>
      <p:sp>
        <p:nvSpPr>
          <p:cNvPr id="20" name="Shape 14"/>
          <p:cNvSpPr/>
          <p:nvPr/>
        </p:nvSpPr>
        <p:spPr>
          <a:xfrm>
            <a:off x="4850892" y="2468880"/>
            <a:ext cx="585216" cy="585216"/>
          </a:xfrm>
          <a:prstGeom prst="ellipse">
            <a:avLst/>
          </a:prstGeom>
          <a:solidFill>
            <a:srgbClr val="1E3A8A"/>
          </a:solidFill>
          <a:ln/>
        </p:spPr>
        <p:txBody>
          <a:bodyPr/>
          <a:lstStyle/>
          <a:p>
            <a:endParaRPr lang="en-US"/>
          </a:p>
        </p:txBody>
      </p:sp>
      <p:pic>
        <p:nvPicPr>
          <p:cNvPr id="21" name="Image 4" descr="/home/claude/icons/search_white.png"/>
          <p:cNvPicPr>
            <a:picLocks noChangeAspect="1"/>
          </p:cNvPicPr>
          <p:nvPr/>
        </p:nvPicPr>
        <p:blipFill>
          <a:blip r:embed="rId6"/>
          <a:stretch>
            <a:fillRect/>
          </a:stretch>
        </p:blipFill>
        <p:spPr>
          <a:xfrm>
            <a:off x="4969764" y="2592324"/>
            <a:ext cx="347472" cy="347472"/>
          </a:xfrm>
          <a:prstGeom prst="rect">
            <a:avLst/>
          </a:prstGeom>
        </p:spPr>
      </p:pic>
      <p:sp>
        <p:nvSpPr>
          <p:cNvPr id="22" name="Text 15"/>
          <p:cNvSpPr/>
          <p:nvPr/>
        </p:nvSpPr>
        <p:spPr>
          <a:xfrm>
            <a:off x="4343400" y="3154680"/>
            <a:ext cx="1600200" cy="274320"/>
          </a:xfrm>
          <a:prstGeom prst="rect">
            <a:avLst/>
          </a:prstGeom>
          <a:noFill/>
          <a:ln/>
        </p:spPr>
        <p:txBody>
          <a:bodyPr wrap="square" rtlCol="0" anchor="ctr"/>
          <a:lstStyle/>
          <a:p>
            <a:pPr marL="0" indent="0" algn="ctr">
              <a:buNone/>
            </a:pPr>
            <a:r>
              <a:rPr lang="en-US" sz="1150" b="1" dirty="0">
                <a:solidFill>
                  <a:srgbClr val="111827"/>
                </a:solidFill>
                <a:latin typeface="Arial" pitchFamily="34" charset="0"/>
                <a:ea typeface="Arial" pitchFamily="34" charset="-122"/>
                <a:cs typeface="Arial" pitchFamily="34" charset="-120"/>
              </a:rPr>
              <a:t>EDA</a:t>
            </a:r>
            <a:endParaRPr lang="en-US" sz="1150" dirty="0"/>
          </a:p>
        </p:txBody>
      </p:sp>
      <p:sp>
        <p:nvSpPr>
          <p:cNvPr id="23" name="Text 16"/>
          <p:cNvSpPr/>
          <p:nvPr/>
        </p:nvSpPr>
        <p:spPr>
          <a:xfrm>
            <a:off x="4343400" y="3419856"/>
            <a:ext cx="1600200" cy="256032"/>
          </a:xfrm>
          <a:prstGeom prst="rect">
            <a:avLst/>
          </a:prstGeom>
          <a:noFill/>
          <a:ln/>
        </p:spPr>
        <p:txBody>
          <a:bodyPr wrap="square" rtlCol="0" anchor="ctr"/>
          <a:lstStyle/>
          <a:p>
            <a:pPr marL="0" indent="0" algn="ctr">
              <a:buNone/>
            </a:pPr>
            <a:r>
              <a:rPr lang="en-US" sz="900" dirty="0">
                <a:solidFill>
                  <a:srgbClr val="4B5563"/>
                </a:solidFill>
                <a:latin typeface="Arial" pitchFamily="34" charset="0"/>
                <a:ea typeface="Arial" pitchFamily="34" charset="-122"/>
                <a:cs typeface="Arial" pitchFamily="34" charset="-120"/>
              </a:rPr>
              <a:t>Plots &amp; heatmap</a:t>
            </a:r>
            <a:endParaRPr lang="en-US" sz="900" dirty="0"/>
          </a:p>
        </p:txBody>
      </p:sp>
      <p:sp>
        <p:nvSpPr>
          <p:cNvPr id="24" name="Text 17"/>
          <p:cNvSpPr/>
          <p:nvPr/>
        </p:nvSpPr>
        <p:spPr>
          <a:xfrm>
            <a:off x="4251960" y="1993392"/>
            <a:ext cx="365760" cy="274320"/>
          </a:xfrm>
          <a:prstGeom prst="rect">
            <a:avLst/>
          </a:prstGeom>
          <a:noFill/>
          <a:ln/>
        </p:spPr>
        <p:txBody>
          <a:bodyPr wrap="square" rtlCol="0" anchor="ctr"/>
          <a:lstStyle/>
          <a:p>
            <a:pPr marL="0" indent="0" algn="l">
              <a:buNone/>
            </a:pPr>
            <a:r>
              <a:rPr lang="en-US" sz="1000" b="1" dirty="0">
                <a:solidFill>
                  <a:srgbClr val="9CA3AF"/>
                </a:solidFill>
                <a:latin typeface="Arial" pitchFamily="34" charset="0"/>
                <a:ea typeface="Arial" pitchFamily="34" charset="-122"/>
                <a:cs typeface="Arial" pitchFamily="34" charset="-120"/>
              </a:rPr>
              <a:t>3</a:t>
            </a:r>
            <a:endParaRPr lang="en-US" sz="1000" dirty="0"/>
          </a:p>
        </p:txBody>
      </p:sp>
      <p:pic>
        <p:nvPicPr>
          <p:cNvPr id="25" name="Image 5" descr="/home/claude/icons/arrow_right_blue.png"/>
          <p:cNvPicPr>
            <a:picLocks noChangeAspect="1"/>
          </p:cNvPicPr>
          <p:nvPr/>
        </p:nvPicPr>
        <p:blipFill>
          <a:blip r:embed="rId4"/>
          <a:stretch>
            <a:fillRect/>
          </a:stretch>
        </p:blipFill>
        <p:spPr>
          <a:xfrm>
            <a:off x="5961888" y="2875788"/>
            <a:ext cx="237744" cy="237744"/>
          </a:xfrm>
          <a:prstGeom prst="rect">
            <a:avLst/>
          </a:prstGeom>
        </p:spPr>
      </p:pic>
      <p:sp>
        <p:nvSpPr>
          <p:cNvPr id="26" name="Shape 18"/>
          <p:cNvSpPr/>
          <p:nvPr/>
        </p:nvSpPr>
        <p:spPr>
          <a:xfrm>
            <a:off x="6172200" y="2286000"/>
            <a:ext cx="1691640" cy="1417320"/>
          </a:xfrm>
          <a:prstGeom prst="roundRect">
            <a:avLst>
              <a:gd name="adj" fmla="val 5806"/>
            </a:avLst>
          </a:prstGeom>
          <a:solidFill>
            <a:srgbClr val="EFF6FF"/>
          </a:solidFill>
          <a:ln/>
          <a:effectLst>
            <a:outerShdw blurRad="76200" dist="25400" dir="5400000" algn="bl" rotWithShape="0">
              <a:srgbClr val="1E3A8A">
                <a:alpha val="12000"/>
              </a:srgbClr>
            </a:outerShdw>
          </a:effectLst>
        </p:spPr>
        <p:txBody>
          <a:bodyPr/>
          <a:lstStyle/>
          <a:p>
            <a:endParaRPr lang="en-US"/>
          </a:p>
        </p:txBody>
      </p:sp>
      <p:sp>
        <p:nvSpPr>
          <p:cNvPr id="27" name="Shape 19"/>
          <p:cNvSpPr/>
          <p:nvPr/>
        </p:nvSpPr>
        <p:spPr>
          <a:xfrm>
            <a:off x="6725412" y="2468880"/>
            <a:ext cx="585216" cy="585216"/>
          </a:xfrm>
          <a:prstGeom prst="ellipse">
            <a:avLst/>
          </a:prstGeom>
          <a:solidFill>
            <a:srgbClr val="1E3A8A"/>
          </a:solidFill>
          <a:ln/>
        </p:spPr>
        <p:txBody>
          <a:bodyPr/>
          <a:lstStyle/>
          <a:p>
            <a:endParaRPr lang="en-US"/>
          </a:p>
        </p:txBody>
      </p:sp>
      <p:pic>
        <p:nvPicPr>
          <p:cNvPr id="28" name="Image 6" descr="/home/claude/icons/chart_bar_white.png"/>
          <p:cNvPicPr>
            <a:picLocks noChangeAspect="1"/>
          </p:cNvPicPr>
          <p:nvPr/>
        </p:nvPicPr>
        <p:blipFill>
          <a:blip r:embed="rId7"/>
          <a:stretch>
            <a:fillRect/>
          </a:stretch>
        </p:blipFill>
        <p:spPr>
          <a:xfrm>
            <a:off x="6844284" y="2592324"/>
            <a:ext cx="347472" cy="347472"/>
          </a:xfrm>
          <a:prstGeom prst="rect">
            <a:avLst/>
          </a:prstGeom>
        </p:spPr>
      </p:pic>
      <p:sp>
        <p:nvSpPr>
          <p:cNvPr id="29" name="Text 20"/>
          <p:cNvSpPr/>
          <p:nvPr/>
        </p:nvSpPr>
        <p:spPr>
          <a:xfrm>
            <a:off x="6217920" y="3154680"/>
            <a:ext cx="1600200" cy="274320"/>
          </a:xfrm>
          <a:prstGeom prst="rect">
            <a:avLst/>
          </a:prstGeom>
          <a:noFill/>
          <a:ln/>
        </p:spPr>
        <p:txBody>
          <a:bodyPr wrap="square" rtlCol="0" anchor="ctr"/>
          <a:lstStyle/>
          <a:p>
            <a:pPr marL="0" indent="0" algn="ctr">
              <a:buNone/>
            </a:pPr>
            <a:r>
              <a:rPr lang="en-US" sz="1150" b="1" dirty="0">
                <a:solidFill>
                  <a:srgbClr val="111827"/>
                </a:solidFill>
                <a:latin typeface="Arial" pitchFamily="34" charset="0"/>
                <a:ea typeface="Arial" pitchFamily="34" charset="-122"/>
                <a:cs typeface="Arial" pitchFamily="34" charset="-120"/>
              </a:rPr>
              <a:t>Scale &amp; Split</a:t>
            </a:r>
            <a:endParaRPr lang="en-US" sz="1150" dirty="0"/>
          </a:p>
        </p:txBody>
      </p:sp>
      <p:sp>
        <p:nvSpPr>
          <p:cNvPr id="30" name="Text 21"/>
          <p:cNvSpPr/>
          <p:nvPr/>
        </p:nvSpPr>
        <p:spPr>
          <a:xfrm>
            <a:off x="6217920" y="3419856"/>
            <a:ext cx="1600200" cy="256032"/>
          </a:xfrm>
          <a:prstGeom prst="rect">
            <a:avLst/>
          </a:prstGeom>
          <a:noFill/>
          <a:ln/>
        </p:spPr>
        <p:txBody>
          <a:bodyPr wrap="square" rtlCol="0" anchor="ctr"/>
          <a:lstStyle/>
          <a:p>
            <a:pPr marL="0" indent="0" algn="ctr">
              <a:buNone/>
            </a:pPr>
            <a:r>
              <a:rPr lang="en-US" sz="900" dirty="0">
                <a:solidFill>
                  <a:srgbClr val="4B5563"/>
                </a:solidFill>
                <a:latin typeface="Arial" pitchFamily="34" charset="0"/>
                <a:ea typeface="Arial" pitchFamily="34" charset="-122"/>
                <a:cs typeface="Arial" pitchFamily="34" charset="-120"/>
              </a:rPr>
              <a:t>Standardize, 80/20</a:t>
            </a:r>
            <a:endParaRPr lang="en-US" sz="900" dirty="0"/>
          </a:p>
        </p:txBody>
      </p:sp>
      <p:sp>
        <p:nvSpPr>
          <p:cNvPr id="31" name="Text 22"/>
          <p:cNvSpPr/>
          <p:nvPr/>
        </p:nvSpPr>
        <p:spPr>
          <a:xfrm>
            <a:off x="6126480" y="1993392"/>
            <a:ext cx="365760" cy="274320"/>
          </a:xfrm>
          <a:prstGeom prst="rect">
            <a:avLst/>
          </a:prstGeom>
          <a:noFill/>
          <a:ln/>
        </p:spPr>
        <p:txBody>
          <a:bodyPr wrap="square" rtlCol="0" anchor="ctr"/>
          <a:lstStyle/>
          <a:p>
            <a:pPr marL="0" indent="0" algn="l">
              <a:buNone/>
            </a:pPr>
            <a:r>
              <a:rPr lang="en-US" sz="1000" b="1" dirty="0">
                <a:solidFill>
                  <a:srgbClr val="9CA3AF"/>
                </a:solidFill>
                <a:latin typeface="Arial" pitchFamily="34" charset="0"/>
                <a:ea typeface="Arial" pitchFamily="34" charset="-122"/>
                <a:cs typeface="Arial" pitchFamily="34" charset="-120"/>
              </a:rPr>
              <a:t>4</a:t>
            </a:r>
            <a:endParaRPr lang="en-US" sz="1000" dirty="0"/>
          </a:p>
        </p:txBody>
      </p:sp>
      <p:pic>
        <p:nvPicPr>
          <p:cNvPr id="32" name="Image 7" descr="/home/claude/icons/arrow_right_blue.png"/>
          <p:cNvPicPr>
            <a:picLocks noChangeAspect="1"/>
          </p:cNvPicPr>
          <p:nvPr/>
        </p:nvPicPr>
        <p:blipFill>
          <a:blip r:embed="rId4"/>
          <a:stretch>
            <a:fillRect/>
          </a:stretch>
        </p:blipFill>
        <p:spPr>
          <a:xfrm>
            <a:off x="7836408" y="2875788"/>
            <a:ext cx="237744" cy="237744"/>
          </a:xfrm>
          <a:prstGeom prst="rect">
            <a:avLst/>
          </a:prstGeom>
        </p:spPr>
      </p:pic>
      <p:sp>
        <p:nvSpPr>
          <p:cNvPr id="33" name="Shape 23"/>
          <p:cNvSpPr/>
          <p:nvPr/>
        </p:nvSpPr>
        <p:spPr>
          <a:xfrm>
            <a:off x="8046720" y="2286000"/>
            <a:ext cx="1691640" cy="1417320"/>
          </a:xfrm>
          <a:prstGeom prst="roundRect">
            <a:avLst>
              <a:gd name="adj" fmla="val 5806"/>
            </a:avLst>
          </a:prstGeom>
          <a:solidFill>
            <a:srgbClr val="EFF6FF"/>
          </a:solidFill>
          <a:ln/>
          <a:effectLst>
            <a:outerShdw blurRad="76200" dist="25400" dir="5400000" algn="bl" rotWithShape="0">
              <a:srgbClr val="1E3A8A">
                <a:alpha val="12000"/>
              </a:srgbClr>
            </a:outerShdw>
          </a:effectLst>
        </p:spPr>
        <p:txBody>
          <a:bodyPr/>
          <a:lstStyle/>
          <a:p>
            <a:endParaRPr lang="en-US"/>
          </a:p>
        </p:txBody>
      </p:sp>
      <p:sp>
        <p:nvSpPr>
          <p:cNvPr id="34" name="Shape 24"/>
          <p:cNvSpPr/>
          <p:nvPr/>
        </p:nvSpPr>
        <p:spPr>
          <a:xfrm>
            <a:off x="8599932" y="2468880"/>
            <a:ext cx="585216" cy="585216"/>
          </a:xfrm>
          <a:prstGeom prst="ellipse">
            <a:avLst/>
          </a:prstGeom>
          <a:solidFill>
            <a:srgbClr val="1E3A8A"/>
          </a:solidFill>
          <a:ln/>
        </p:spPr>
        <p:txBody>
          <a:bodyPr/>
          <a:lstStyle/>
          <a:p>
            <a:endParaRPr lang="en-US"/>
          </a:p>
        </p:txBody>
      </p:sp>
      <p:pic>
        <p:nvPicPr>
          <p:cNvPr id="35" name="Image 8" descr="/home/claude/icons/layers_white.png"/>
          <p:cNvPicPr>
            <a:picLocks noChangeAspect="1"/>
          </p:cNvPicPr>
          <p:nvPr/>
        </p:nvPicPr>
        <p:blipFill>
          <a:blip r:embed="rId8"/>
          <a:stretch>
            <a:fillRect/>
          </a:stretch>
        </p:blipFill>
        <p:spPr>
          <a:xfrm>
            <a:off x="8718804" y="2592324"/>
            <a:ext cx="347472" cy="347472"/>
          </a:xfrm>
          <a:prstGeom prst="rect">
            <a:avLst/>
          </a:prstGeom>
        </p:spPr>
      </p:pic>
      <p:sp>
        <p:nvSpPr>
          <p:cNvPr id="36" name="Text 25"/>
          <p:cNvSpPr/>
          <p:nvPr/>
        </p:nvSpPr>
        <p:spPr>
          <a:xfrm>
            <a:off x="8092440" y="3154680"/>
            <a:ext cx="1600200" cy="274320"/>
          </a:xfrm>
          <a:prstGeom prst="rect">
            <a:avLst/>
          </a:prstGeom>
          <a:noFill/>
          <a:ln/>
        </p:spPr>
        <p:txBody>
          <a:bodyPr wrap="square" rtlCol="0" anchor="ctr"/>
          <a:lstStyle/>
          <a:p>
            <a:pPr marL="0" indent="0" algn="ctr">
              <a:buNone/>
            </a:pPr>
            <a:r>
              <a:rPr lang="en-US" sz="1150" b="1" dirty="0">
                <a:solidFill>
                  <a:srgbClr val="111827"/>
                </a:solidFill>
                <a:latin typeface="Arial" pitchFamily="34" charset="0"/>
                <a:ea typeface="Arial" pitchFamily="34" charset="-122"/>
                <a:cs typeface="Arial" pitchFamily="34" charset="-120"/>
              </a:rPr>
              <a:t>Stack Models</a:t>
            </a:r>
            <a:endParaRPr lang="en-US" sz="1150" dirty="0"/>
          </a:p>
        </p:txBody>
      </p:sp>
      <p:sp>
        <p:nvSpPr>
          <p:cNvPr id="37" name="Text 26"/>
          <p:cNvSpPr/>
          <p:nvPr/>
        </p:nvSpPr>
        <p:spPr>
          <a:xfrm>
            <a:off x="8092440" y="3419856"/>
            <a:ext cx="1600200" cy="256032"/>
          </a:xfrm>
          <a:prstGeom prst="rect">
            <a:avLst/>
          </a:prstGeom>
          <a:noFill/>
          <a:ln/>
        </p:spPr>
        <p:txBody>
          <a:bodyPr wrap="square" rtlCol="0" anchor="ctr"/>
          <a:lstStyle/>
          <a:p>
            <a:pPr marL="0" indent="0" algn="ctr">
              <a:buNone/>
            </a:pPr>
            <a:r>
              <a:rPr lang="en-US" sz="900" dirty="0">
                <a:solidFill>
                  <a:srgbClr val="4B5563"/>
                </a:solidFill>
                <a:latin typeface="Arial" pitchFamily="34" charset="0"/>
                <a:ea typeface="Arial" pitchFamily="34" charset="-122"/>
                <a:cs typeface="Arial" pitchFamily="34" charset="-120"/>
              </a:rPr>
              <a:t>LR + XGB → LR</a:t>
            </a:r>
            <a:endParaRPr lang="en-US" sz="900" dirty="0"/>
          </a:p>
        </p:txBody>
      </p:sp>
      <p:sp>
        <p:nvSpPr>
          <p:cNvPr id="38" name="Text 27"/>
          <p:cNvSpPr/>
          <p:nvPr/>
        </p:nvSpPr>
        <p:spPr>
          <a:xfrm>
            <a:off x="8001000" y="1993392"/>
            <a:ext cx="365760" cy="274320"/>
          </a:xfrm>
          <a:prstGeom prst="rect">
            <a:avLst/>
          </a:prstGeom>
          <a:noFill/>
          <a:ln/>
        </p:spPr>
        <p:txBody>
          <a:bodyPr wrap="square" rtlCol="0" anchor="ctr"/>
          <a:lstStyle/>
          <a:p>
            <a:pPr marL="0" indent="0" algn="l">
              <a:buNone/>
            </a:pPr>
            <a:r>
              <a:rPr lang="en-US" sz="1000" b="1" dirty="0">
                <a:solidFill>
                  <a:srgbClr val="9CA3AF"/>
                </a:solidFill>
                <a:latin typeface="Arial" pitchFamily="34" charset="0"/>
                <a:ea typeface="Arial" pitchFamily="34" charset="-122"/>
                <a:cs typeface="Arial" pitchFamily="34" charset="-120"/>
              </a:rPr>
              <a:t>5</a:t>
            </a:r>
            <a:endParaRPr lang="en-US" sz="1000" dirty="0"/>
          </a:p>
        </p:txBody>
      </p:sp>
      <p:pic>
        <p:nvPicPr>
          <p:cNvPr id="39" name="Image 9" descr="/home/claude/icons/arrow_right_blue.png"/>
          <p:cNvPicPr>
            <a:picLocks noChangeAspect="1"/>
          </p:cNvPicPr>
          <p:nvPr/>
        </p:nvPicPr>
        <p:blipFill>
          <a:blip r:embed="rId4"/>
          <a:stretch>
            <a:fillRect/>
          </a:stretch>
        </p:blipFill>
        <p:spPr>
          <a:xfrm>
            <a:off x="9710928" y="2875788"/>
            <a:ext cx="237744" cy="237744"/>
          </a:xfrm>
          <a:prstGeom prst="rect">
            <a:avLst/>
          </a:prstGeom>
        </p:spPr>
      </p:pic>
      <p:sp>
        <p:nvSpPr>
          <p:cNvPr id="40" name="Shape 28"/>
          <p:cNvSpPr/>
          <p:nvPr/>
        </p:nvSpPr>
        <p:spPr>
          <a:xfrm>
            <a:off x="9921240" y="2286000"/>
            <a:ext cx="1691640" cy="1417320"/>
          </a:xfrm>
          <a:prstGeom prst="roundRect">
            <a:avLst>
              <a:gd name="adj" fmla="val 5806"/>
            </a:avLst>
          </a:prstGeom>
          <a:solidFill>
            <a:srgbClr val="1E3A8A"/>
          </a:solidFill>
          <a:ln/>
          <a:effectLst>
            <a:outerShdw blurRad="76200" dist="25400" dir="5400000" algn="bl" rotWithShape="0">
              <a:srgbClr val="1E3A8A">
                <a:alpha val="12000"/>
              </a:srgbClr>
            </a:outerShdw>
          </a:effectLst>
        </p:spPr>
        <p:txBody>
          <a:bodyPr/>
          <a:lstStyle/>
          <a:p>
            <a:endParaRPr lang="en-US"/>
          </a:p>
        </p:txBody>
      </p:sp>
      <p:sp>
        <p:nvSpPr>
          <p:cNvPr id="41" name="Shape 29"/>
          <p:cNvSpPr/>
          <p:nvPr/>
        </p:nvSpPr>
        <p:spPr>
          <a:xfrm>
            <a:off x="10474452" y="2468880"/>
            <a:ext cx="585216" cy="585216"/>
          </a:xfrm>
          <a:prstGeom prst="ellipse">
            <a:avLst/>
          </a:prstGeom>
          <a:solidFill>
            <a:srgbClr val="FFFFFF"/>
          </a:solidFill>
          <a:ln/>
        </p:spPr>
        <p:txBody>
          <a:bodyPr/>
          <a:lstStyle/>
          <a:p>
            <a:endParaRPr lang="en-US"/>
          </a:p>
        </p:txBody>
      </p:sp>
      <p:pic>
        <p:nvPicPr>
          <p:cNvPr id="42" name="Image 10" descr="/home/claude/icons/check_circle_blue.png"/>
          <p:cNvPicPr>
            <a:picLocks noChangeAspect="1"/>
          </p:cNvPicPr>
          <p:nvPr/>
        </p:nvPicPr>
        <p:blipFill>
          <a:blip r:embed="rId9"/>
          <a:stretch>
            <a:fillRect/>
          </a:stretch>
        </p:blipFill>
        <p:spPr>
          <a:xfrm>
            <a:off x="10593324" y="2592324"/>
            <a:ext cx="347472" cy="347472"/>
          </a:xfrm>
          <a:prstGeom prst="rect">
            <a:avLst/>
          </a:prstGeom>
        </p:spPr>
      </p:pic>
      <p:sp>
        <p:nvSpPr>
          <p:cNvPr id="43" name="Text 30"/>
          <p:cNvSpPr/>
          <p:nvPr/>
        </p:nvSpPr>
        <p:spPr>
          <a:xfrm>
            <a:off x="9966960" y="3154680"/>
            <a:ext cx="1600200" cy="274320"/>
          </a:xfrm>
          <a:prstGeom prst="rect">
            <a:avLst/>
          </a:prstGeom>
          <a:noFill/>
          <a:ln/>
        </p:spPr>
        <p:txBody>
          <a:bodyPr wrap="square"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Evaluate</a:t>
            </a:r>
            <a:endParaRPr lang="en-US" sz="1150" dirty="0"/>
          </a:p>
        </p:txBody>
      </p:sp>
      <p:sp>
        <p:nvSpPr>
          <p:cNvPr id="44" name="Text 31"/>
          <p:cNvSpPr/>
          <p:nvPr/>
        </p:nvSpPr>
        <p:spPr>
          <a:xfrm>
            <a:off x="9966960" y="3419856"/>
            <a:ext cx="1600200" cy="256032"/>
          </a:xfrm>
          <a:prstGeom prst="rect">
            <a:avLst/>
          </a:prstGeom>
          <a:noFill/>
          <a:ln/>
        </p:spPr>
        <p:txBody>
          <a:bodyPr wrap="square" rtlCol="0" anchor="ctr"/>
          <a:lstStyle/>
          <a:p>
            <a:pPr marL="0" indent="0" algn="ctr">
              <a:buNone/>
            </a:pPr>
            <a:r>
              <a:rPr lang="en-US" sz="900" dirty="0">
                <a:solidFill>
                  <a:srgbClr val="E0EAFF"/>
                </a:solidFill>
                <a:latin typeface="Arial" pitchFamily="34" charset="0"/>
                <a:ea typeface="Arial" pitchFamily="34" charset="-122"/>
                <a:cs typeface="Arial" pitchFamily="34" charset="-120"/>
              </a:rPr>
              <a:t>MAE · RMSE · R²</a:t>
            </a:r>
            <a:endParaRPr lang="en-US" sz="900" dirty="0"/>
          </a:p>
        </p:txBody>
      </p:sp>
      <p:sp>
        <p:nvSpPr>
          <p:cNvPr id="45" name="Text 32"/>
          <p:cNvSpPr/>
          <p:nvPr/>
        </p:nvSpPr>
        <p:spPr>
          <a:xfrm>
            <a:off x="9875520" y="1993392"/>
            <a:ext cx="365760" cy="274320"/>
          </a:xfrm>
          <a:prstGeom prst="rect">
            <a:avLst/>
          </a:prstGeom>
          <a:noFill/>
          <a:ln/>
        </p:spPr>
        <p:txBody>
          <a:bodyPr wrap="square" rtlCol="0" anchor="ctr"/>
          <a:lstStyle/>
          <a:p>
            <a:pPr marL="0" indent="0" algn="l">
              <a:buNone/>
            </a:pPr>
            <a:r>
              <a:rPr lang="en-US" sz="1000" b="1" dirty="0">
                <a:solidFill>
                  <a:srgbClr val="9CA3AF"/>
                </a:solidFill>
                <a:latin typeface="Arial" pitchFamily="34" charset="0"/>
                <a:ea typeface="Arial" pitchFamily="34" charset="-122"/>
                <a:cs typeface="Arial" pitchFamily="34" charset="-120"/>
              </a:rPr>
              <a:t>6</a:t>
            </a:r>
            <a:endParaRPr lang="en-US" sz="1000" dirty="0"/>
          </a:p>
        </p:txBody>
      </p:sp>
      <p:sp>
        <p:nvSpPr>
          <p:cNvPr id="46" name="Shape 33"/>
          <p:cNvSpPr/>
          <p:nvPr/>
        </p:nvSpPr>
        <p:spPr>
          <a:xfrm>
            <a:off x="548640" y="4297680"/>
            <a:ext cx="11064240" cy="1828800"/>
          </a:xfrm>
          <a:prstGeom prst="roundRect">
            <a:avLst>
              <a:gd name="adj" fmla="val 4000"/>
            </a:avLst>
          </a:prstGeom>
          <a:solidFill>
            <a:srgbClr val="FFFFFF"/>
          </a:solidFill>
          <a:ln w="15875">
            <a:solidFill>
              <a:srgbClr val="DBEAFE"/>
            </a:solidFill>
            <a:prstDash val="solid"/>
          </a:ln>
        </p:spPr>
        <p:txBody>
          <a:bodyPr/>
          <a:lstStyle/>
          <a:p>
            <a:endParaRPr lang="en-US"/>
          </a:p>
        </p:txBody>
      </p:sp>
      <p:sp>
        <p:nvSpPr>
          <p:cNvPr id="47" name="Text 34"/>
          <p:cNvSpPr/>
          <p:nvPr/>
        </p:nvSpPr>
        <p:spPr>
          <a:xfrm>
            <a:off x="868680" y="4498848"/>
            <a:ext cx="3657600" cy="320040"/>
          </a:xfrm>
          <a:prstGeom prst="rect">
            <a:avLst/>
          </a:prstGeom>
          <a:noFill/>
          <a:ln/>
        </p:spPr>
        <p:txBody>
          <a:bodyPr wrap="square" rtlCol="0" anchor="ctr"/>
          <a:lstStyle/>
          <a:p>
            <a:pPr marL="0" indent="0">
              <a:buNone/>
            </a:pPr>
            <a:r>
              <a:rPr lang="en-US" sz="1250" b="1" dirty="0">
                <a:solidFill>
                  <a:srgbClr val="1E3A8A"/>
                </a:solidFill>
                <a:latin typeface="Arial" pitchFamily="34" charset="0"/>
                <a:ea typeface="Arial" pitchFamily="34" charset="-122"/>
                <a:cs typeface="Arial" pitchFamily="34" charset="-120"/>
              </a:rPr>
              <a:t>Input → Output</a:t>
            </a:r>
            <a:endParaRPr lang="en-US" sz="1250" dirty="0"/>
          </a:p>
        </p:txBody>
      </p:sp>
      <p:sp>
        <p:nvSpPr>
          <p:cNvPr id="48" name="Text 35"/>
          <p:cNvSpPr/>
          <p:nvPr/>
        </p:nvSpPr>
        <p:spPr>
          <a:xfrm>
            <a:off x="868680" y="4846320"/>
            <a:ext cx="10424160" cy="1143000"/>
          </a:xfrm>
          <a:prstGeom prst="rect">
            <a:avLst/>
          </a:prstGeom>
          <a:noFill/>
          <a:ln/>
        </p:spPr>
        <p:txBody>
          <a:bodyPr wrap="square" rtlCol="0" anchor="ctr"/>
          <a:lstStyle/>
          <a:p>
            <a:pPr marL="0" indent="0">
              <a:lnSpc>
                <a:spcPct val="135000"/>
              </a:lnSpc>
              <a:buNone/>
            </a:pPr>
            <a:r>
              <a:rPr lang="en-US" sz="1200" b="1" dirty="0">
                <a:solidFill>
                  <a:srgbClr val="111827"/>
                </a:solidFill>
              </a:rPr>
              <a:t>Input:  </a:t>
            </a:r>
            <a:r>
              <a:rPr lang="en-US" sz="1200" dirty="0">
                <a:solidFill>
                  <a:srgbClr val="4B5563"/>
                </a:solidFill>
              </a:rPr>
              <a:t>Attendance, Hours Studied, Previous Scores, Sleep Hours, Tutoring Sessions
</a:t>
            </a:r>
            <a:r>
              <a:rPr lang="en-US" sz="1200" b="1" dirty="0">
                <a:solidFill>
                  <a:srgbClr val="111827"/>
                </a:solidFill>
              </a:rPr>
              <a:t>Output:  </a:t>
            </a:r>
            <a:r>
              <a:rPr lang="en-US" sz="1200" dirty="0">
                <a:solidFill>
                  <a:srgbClr val="4B5563"/>
                </a:solidFill>
              </a:rPr>
              <a:t>Predicted Exam Score (continuous value)
</a:t>
            </a:r>
            <a:r>
              <a:rPr lang="en-US" sz="1200" b="1" dirty="0">
                <a:solidFill>
                  <a:srgbClr val="111827"/>
                </a:solidFill>
              </a:rPr>
              <a:t>Constraint:  </a:t>
            </a:r>
            <a:r>
              <a:rPr lang="en-US" sz="1200" dirty="0">
                <a:solidFill>
                  <a:srgbClr val="4B5563"/>
                </a:solidFill>
              </a:rPr>
              <a:t>All features must be numeric and scaled the same way as during training before inference.</a:t>
            </a:r>
            <a:endParaRPr lang="en-US" sz="1200" dirty="0"/>
          </a:p>
        </p:txBody>
      </p:sp>
      <p:sp>
        <p:nvSpPr>
          <p:cNvPr id="49" name="Text 36"/>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65760"/>
          </a:xfrm>
          <a:prstGeom prst="roundRect">
            <a:avLst>
              <a:gd name="adj" fmla="val 20000"/>
            </a:avLst>
          </a:prstGeom>
          <a:solidFill>
            <a:srgbClr val="EFF6FF"/>
          </a:solidFill>
          <a:ln/>
        </p:spPr>
        <p:txBody>
          <a:bodyPr/>
          <a:lstStyle/>
          <a:p>
            <a:endParaRPr lang="en-US"/>
          </a:p>
        </p:txBody>
      </p:sp>
      <p:sp>
        <p:nvSpPr>
          <p:cNvPr id="3" name="Text 1"/>
          <p:cNvSpPr/>
          <p:nvPr/>
        </p:nvSpPr>
        <p:spPr>
          <a:xfrm>
            <a:off x="548640" y="457200"/>
            <a:ext cx="2377440" cy="365760"/>
          </a:xfrm>
          <a:prstGeom prst="rect">
            <a:avLst/>
          </a:prstGeom>
          <a:noFill/>
          <a:ln/>
        </p:spPr>
        <p:txBody>
          <a:bodyPr wrap="square" rtlCol="0" anchor="ctr"/>
          <a:lstStyle/>
          <a:p>
            <a:pPr marL="0" indent="0" algn="ctr">
              <a:buNone/>
            </a:pPr>
            <a:r>
              <a:rPr lang="en-US" sz="1100" b="1" kern="0" spc="200" dirty="0">
                <a:solidFill>
                  <a:srgbClr val="1E3A8A"/>
                </a:solidFill>
                <a:latin typeface="Arial" pitchFamily="34" charset="0"/>
                <a:ea typeface="Arial" pitchFamily="34" charset="-122"/>
                <a:cs typeface="Arial" pitchFamily="34" charset="-120"/>
              </a:rPr>
              <a:t>05  ·  METHODOLOGY</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200" b="1" dirty="0">
                <a:solidFill>
                  <a:srgbClr val="111827"/>
                </a:solidFill>
                <a:latin typeface="Arial" pitchFamily="34" charset="0"/>
                <a:ea typeface="Arial" pitchFamily="34" charset="-122"/>
                <a:cs typeface="Arial" pitchFamily="34" charset="-120"/>
              </a:rPr>
              <a:t>Preprocessing Pipeline</a:t>
            </a:r>
            <a:endParaRPr lang="en-US" sz="3200" dirty="0"/>
          </a:p>
        </p:txBody>
      </p:sp>
      <p:sp>
        <p:nvSpPr>
          <p:cNvPr id="5" name="Shape 3"/>
          <p:cNvSpPr/>
          <p:nvPr/>
        </p:nvSpPr>
        <p:spPr>
          <a:xfrm>
            <a:off x="548640" y="1783080"/>
            <a:ext cx="502920" cy="502920"/>
          </a:xfrm>
          <a:prstGeom prst="roundRect">
            <a:avLst>
              <a:gd name="adj" fmla="val 20000"/>
            </a:avLst>
          </a:prstGeom>
          <a:solidFill>
            <a:srgbClr val="1E3A8A"/>
          </a:solidFill>
          <a:ln/>
        </p:spPr>
        <p:txBody>
          <a:bodyPr/>
          <a:lstStyle/>
          <a:p>
            <a:endParaRPr lang="en-US"/>
          </a:p>
        </p:txBody>
      </p:sp>
      <p:pic>
        <p:nvPicPr>
          <p:cNvPr id="6" name="Image 0" descr="/home/claude/icons/search_white.png"/>
          <p:cNvPicPr>
            <a:picLocks noChangeAspect="1"/>
          </p:cNvPicPr>
          <p:nvPr/>
        </p:nvPicPr>
        <p:blipFill>
          <a:blip r:embed="rId3"/>
          <a:stretch>
            <a:fillRect/>
          </a:stretch>
        </p:blipFill>
        <p:spPr>
          <a:xfrm>
            <a:off x="658368" y="1892808"/>
            <a:ext cx="283464" cy="283464"/>
          </a:xfrm>
          <a:prstGeom prst="rect">
            <a:avLst/>
          </a:prstGeom>
        </p:spPr>
      </p:pic>
      <p:sp>
        <p:nvSpPr>
          <p:cNvPr id="7" name="Text 4"/>
          <p:cNvSpPr/>
          <p:nvPr/>
        </p:nvSpPr>
        <p:spPr>
          <a:xfrm>
            <a:off x="1234440" y="1764792"/>
            <a:ext cx="1828800" cy="256032"/>
          </a:xfrm>
          <a:prstGeom prst="rect">
            <a:avLst/>
          </a:prstGeom>
          <a:noFill/>
          <a:ln/>
        </p:spPr>
        <p:txBody>
          <a:bodyPr wrap="square" rtlCol="0" anchor="ctr"/>
          <a:lstStyle/>
          <a:p>
            <a:pPr marL="0" indent="0">
              <a:buNone/>
            </a:pPr>
            <a:r>
              <a:rPr lang="en-US" sz="950" b="1" kern="0" spc="100" dirty="0">
                <a:solidFill>
                  <a:srgbClr val="2563EB"/>
                </a:solidFill>
                <a:latin typeface="Arial" pitchFamily="34" charset="0"/>
                <a:ea typeface="Arial" pitchFamily="34" charset="-122"/>
                <a:cs typeface="Arial" pitchFamily="34" charset="-120"/>
              </a:rPr>
              <a:t>STEP 1</a:t>
            </a:r>
            <a:endParaRPr lang="en-US" sz="950" dirty="0"/>
          </a:p>
        </p:txBody>
      </p:sp>
      <p:sp>
        <p:nvSpPr>
          <p:cNvPr id="8" name="Text 5"/>
          <p:cNvSpPr/>
          <p:nvPr/>
        </p:nvSpPr>
        <p:spPr>
          <a:xfrm>
            <a:off x="1234440" y="1965960"/>
            <a:ext cx="3108960" cy="365760"/>
          </a:xfrm>
          <a:prstGeom prst="rect">
            <a:avLst/>
          </a:prstGeom>
          <a:noFill/>
          <a:ln/>
        </p:spPr>
        <p:txBody>
          <a:bodyPr wrap="square" rtlCol="0" anchor="ctr"/>
          <a:lstStyle/>
          <a:p>
            <a:pPr marL="0" indent="0">
              <a:buNone/>
            </a:pPr>
            <a:r>
              <a:rPr lang="en-US" sz="1350" b="1" dirty="0">
                <a:solidFill>
                  <a:srgbClr val="111827"/>
                </a:solidFill>
                <a:latin typeface="Arial" pitchFamily="34" charset="0"/>
                <a:ea typeface="Arial" pitchFamily="34" charset="-122"/>
                <a:cs typeface="Arial" pitchFamily="34" charset="-120"/>
              </a:rPr>
              <a:t>Missing Value Handling</a:t>
            </a:r>
            <a:endParaRPr lang="en-US" sz="1350" dirty="0"/>
          </a:p>
        </p:txBody>
      </p:sp>
      <p:sp>
        <p:nvSpPr>
          <p:cNvPr id="9" name="Text 6"/>
          <p:cNvSpPr/>
          <p:nvPr/>
        </p:nvSpPr>
        <p:spPr>
          <a:xfrm>
            <a:off x="4480560" y="1764792"/>
            <a:ext cx="7132320" cy="777240"/>
          </a:xfrm>
          <a:prstGeom prst="rect">
            <a:avLst/>
          </a:prstGeom>
          <a:noFill/>
          <a:ln/>
        </p:spPr>
        <p:txBody>
          <a:bodyPr wrap="square" rtlCol="0" anchor="ctr"/>
          <a:lstStyle/>
          <a:p>
            <a:pPr marL="0" indent="0">
              <a:lnSpc>
                <a:spcPct val="120000"/>
              </a:lnSpc>
              <a:buNone/>
            </a:pPr>
            <a:r>
              <a:rPr lang="en-US" sz="1150" dirty="0">
                <a:solidFill>
                  <a:srgbClr val="4B5563"/>
                </a:solidFill>
                <a:latin typeface="Arial" pitchFamily="34" charset="0"/>
                <a:ea typeface="Arial" pitchFamily="34" charset="-122"/>
                <a:cs typeface="Arial" pitchFamily="34" charset="-120"/>
              </a:rPr>
              <a:t>Numeric columns imputed with the mean; categorical columns imputed with the mode -- df.isnull().sum() confirms zero nulls afterward.</a:t>
            </a:r>
            <a:endParaRPr lang="en-US" sz="1150" dirty="0"/>
          </a:p>
        </p:txBody>
      </p:sp>
      <p:sp>
        <p:nvSpPr>
          <p:cNvPr id="10" name="Shape 7"/>
          <p:cNvSpPr/>
          <p:nvPr/>
        </p:nvSpPr>
        <p:spPr>
          <a:xfrm>
            <a:off x="800100" y="2313432"/>
            <a:ext cx="0" cy="365760"/>
          </a:xfrm>
          <a:prstGeom prst="line">
            <a:avLst/>
          </a:prstGeom>
          <a:noFill/>
          <a:ln w="19050">
            <a:solidFill>
              <a:srgbClr val="DBEAFE"/>
            </a:solidFill>
            <a:prstDash val="dash"/>
          </a:ln>
        </p:spPr>
        <p:txBody>
          <a:bodyPr/>
          <a:lstStyle/>
          <a:p>
            <a:endParaRPr lang="en-US"/>
          </a:p>
        </p:txBody>
      </p:sp>
      <p:sp>
        <p:nvSpPr>
          <p:cNvPr id="11" name="Shape 8"/>
          <p:cNvSpPr/>
          <p:nvPr/>
        </p:nvSpPr>
        <p:spPr>
          <a:xfrm>
            <a:off x="548640" y="2679192"/>
            <a:ext cx="502920" cy="502920"/>
          </a:xfrm>
          <a:prstGeom prst="roundRect">
            <a:avLst>
              <a:gd name="adj" fmla="val 20000"/>
            </a:avLst>
          </a:prstGeom>
          <a:solidFill>
            <a:srgbClr val="1E3A8A"/>
          </a:solidFill>
          <a:ln/>
        </p:spPr>
        <p:txBody>
          <a:bodyPr/>
          <a:lstStyle/>
          <a:p>
            <a:endParaRPr lang="en-US"/>
          </a:p>
        </p:txBody>
      </p:sp>
      <p:pic>
        <p:nvPicPr>
          <p:cNvPr id="12" name="Image 1" descr="/home/claude/icons/filter_white.png"/>
          <p:cNvPicPr>
            <a:picLocks noChangeAspect="1"/>
          </p:cNvPicPr>
          <p:nvPr/>
        </p:nvPicPr>
        <p:blipFill>
          <a:blip r:embed="rId4"/>
          <a:stretch>
            <a:fillRect/>
          </a:stretch>
        </p:blipFill>
        <p:spPr>
          <a:xfrm>
            <a:off x="658368" y="2788920"/>
            <a:ext cx="283464" cy="283464"/>
          </a:xfrm>
          <a:prstGeom prst="rect">
            <a:avLst/>
          </a:prstGeom>
        </p:spPr>
      </p:pic>
      <p:sp>
        <p:nvSpPr>
          <p:cNvPr id="13" name="Text 9"/>
          <p:cNvSpPr/>
          <p:nvPr/>
        </p:nvSpPr>
        <p:spPr>
          <a:xfrm>
            <a:off x="1234440" y="2660904"/>
            <a:ext cx="1828800" cy="256032"/>
          </a:xfrm>
          <a:prstGeom prst="rect">
            <a:avLst/>
          </a:prstGeom>
          <a:noFill/>
          <a:ln/>
        </p:spPr>
        <p:txBody>
          <a:bodyPr wrap="square" rtlCol="0" anchor="ctr"/>
          <a:lstStyle/>
          <a:p>
            <a:pPr marL="0" indent="0">
              <a:buNone/>
            </a:pPr>
            <a:r>
              <a:rPr lang="en-US" sz="950" b="1" kern="0" spc="100" dirty="0">
                <a:solidFill>
                  <a:srgbClr val="2563EB"/>
                </a:solidFill>
                <a:latin typeface="Arial" pitchFamily="34" charset="0"/>
                <a:ea typeface="Arial" pitchFamily="34" charset="-122"/>
                <a:cs typeface="Arial" pitchFamily="34" charset="-120"/>
              </a:rPr>
              <a:t>STEP 2</a:t>
            </a:r>
            <a:endParaRPr lang="en-US" sz="950" dirty="0"/>
          </a:p>
        </p:txBody>
      </p:sp>
      <p:sp>
        <p:nvSpPr>
          <p:cNvPr id="14" name="Text 10"/>
          <p:cNvSpPr/>
          <p:nvPr/>
        </p:nvSpPr>
        <p:spPr>
          <a:xfrm>
            <a:off x="1234440" y="2862072"/>
            <a:ext cx="3108960" cy="365760"/>
          </a:xfrm>
          <a:prstGeom prst="rect">
            <a:avLst/>
          </a:prstGeom>
          <a:noFill/>
          <a:ln/>
        </p:spPr>
        <p:txBody>
          <a:bodyPr wrap="square" rtlCol="0" anchor="ctr"/>
          <a:lstStyle/>
          <a:p>
            <a:pPr marL="0" indent="0">
              <a:buNone/>
            </a:pPr>
            <a:r>
              <a:rPr lang="en-US" sz="1350" b="1" dirty="0">
                <a:solidFill>
                  <a:srgbClr val="111827"/>
                </a:solidFill>
                <a:latin typeface="Arial" pitchFamily="34" charset="0"/>
                <a:ea typeface="Arial" pitchFamily="34" charset="-122"/>
                <a:cs typeface="Arial" pitchFamily="34" charset="-120"/>
              </a:rPr>
              <a:t>Duplicate Removal</a:t>
            </a:r>
            <a:endParaRPr lang="en-US" sz="1350" dirty="0"/>
          </a:p>
        </p:txBody>
      </p:sp>
      <p:sp>
        <p:nvSpPr>
          <p:cNvPr id="15" name="Text 11"/>
          <p:cNvSpPr/>
          <p:nvPr/>
        </p:nvSpPr>
        <p:spPr>
          <a:xfrm>
            <a:off x="4480560" y="2660904"/>
            <a:ext cx="7132320" cy="777240"/>
          </a:xfrm>
          <a:prstGeom prst="rect">
            <a:avLst/>
          </a:prstGeom>
          <a:noFill/>
          <a:ln/>
        </p:spPr>
        <p:txBody>
          <a:bodyPr wrap="square" rtlCol="0" anchor="ctr"/>
          <a:lstStyle/>
          <a:p>
            <a:pPr marL="0" indent="0">
              <a:lnSpc>
                <a:spcPct val="120000"/>
              </a:lnSpc>
              <a:buNone/>
            </a:pPr>
            <a:r>
              <a:rPr lang="en-US" sz="1150" dirty="0">
                <a:solidFill>
                  <a:srgbClr val="4B5563"/>
                </a:solidFill>
                <a:latin typeface="Arial" pitchFamily="34" charset="0"/>
                <a:ea typeface="Arial" pitchFamily="34" charset="-122"/>
                <a:cs typeface="Arial" pitchFamily="34" charset="-120"/>
              </a:rPr>
              <a:t>df.drop_duplicates() removes repeated rows so the model isn't biased by redundant records.</a:t>
            </a:r>
            <a:endParaRPr lang="en-US" sz="1150" dirty="0"/>
          </a:p>
        </p:txBody>
      </p:sp>
      <p:sp>
        <p:nvSpPr>
          <p:cNvPr id="16" name="Shape 12"/>
          <p:cNvSpPr/>
          <p:nvPr/>
        </p:nvSpPr>
        <p:spPr>
          <a:xfrm>
            <a:off x="800100" y="3209544"/>
            <a:ext cx="0" cy="365760"/>
          </a:xfrm>
          <a:prstGeom prst="line">
            <a:avLst/>
          </a:prstGeom>
          <a:noFill/>
          <a:ln w="19050">
            <a:solidFill>
              <a:srgbClr val="DBEAFE"/>
            </a:solidFill>
            <a:prstDash val="dash"/>
          </a:ln>
        </p:spPr>
        <p:txBody>
          <a:bodyPr/>
          <a:lstStyle/>
          <a:p>
            <a:endParaRPr lang="en-US"/>
          </a:p>
        </p:txBody>
      </p:sp>
      <p:sp>
        <p:nvSpPr>
          <p:cNvPr id="17" name="Shape 13"/>
          <p:cNvSpPr/>
          <p:nvPr/>
        </p:nvSpPr>
        <p:spPr>
          <a:xfrm>
            <a:off x="548640" y="3575304"/>
            <a:ext cx="502920" cy="502920"/>
          </a:xfrm>
          <a:prstGeom prst="roundRect">
            <a:avLst>
              <a:gd name="adj" fmla="val 20000"/>
            </a:avLst>
          </a:prstGeom>
          <a:solidFill>
            <a:srgbClr val="1E3A8A"/>
          </a:solidFill>
          <a:ln/>
        </p:spPr>
        <p:txBody>
          <a:bodyPr/>
          <a:lstStyle/>
          <a:p>
            <a:endParaRPr lang="en-US"/>
          </a:p>
        </p:txBody>
      </p:sp>
      <p:pic>
        <p:nvPicPr>
          <p:cNvPr id="18" name="Image 2" descr="/home/claude/icons/chart_bar_white.png"/>
          <p:cNvPicPr>
            <a:picLocks noChangeAspect="1"/>
          </p:cNvPicPr>
          <p:nvPr/>
        </p:nvPicPr>
        <p:blipFill>
          <a:blip r:embed="rId5"/>
          <a:stretch>
            <a:fillRect/>
          </a:stretch>
        </p:blipFill>
        <p:spPr>
          <a:xfrm>
            <a:off x="658368" y="3685032"/>
            <a:ext cx="283464" cy="283464"/>
          </a:xfrm>
          <a:prstGeom prst="rect">
            <a:avLst/>
          </a:prstGeom>
        </p:spPr>
      </p:pic>
      <p:sp>
        <p:nvSpPr>
          <p:cNvPr id="19" name="Text 14"/>
          <p:cNvSpPr/>
          <p:nvPr/>
        </p:nvSpPr>
        <p:spPr>
          <a:xfrm>
            <a:off x="1234440" y="3557016"/>
            <a:ext cx="1828800" cy="256032"/>
          </a:xfrm>
          <a:prstGeom prst="rect">
            <a:avLst/>
          </a:prstGeom>
          <a:noFill/>
          <a:ln/>
        </p:spPr>
        <p:txBody>
          <a:bodyPr wrap="square" rtlCol="0" anchor="ctr"/>
          <a:lstStyle/>
          <a:p>
            <a:pPr marL="0" indent="0">
              <a:buNone/>
            </a:pPr>
            <a:r>
              <a:rPr lang="en-US" sz="950" b="1" kern="0" spc="100" dirty="0">
                <a:solidFill>
                  <a:srgbClr val="2563EB"/>
                </a:solidFill>
                <a:latin typeface="Arial" pitchFamily="34" charset="0"/>
                <a:ea typeface="Arial" pitchFamily="34" charset="-122"/>
                <a:cs typeface="Arial" pitchFamily="34" charset="-120"/>
              </a:rPr>
              <a:t>STEP 3</a:t>
            </a:r>
            <a:endParaRPr lang="en-US" sz="950" dirty="0"/>
          </a:p>
        </p:txBody>
      </p:sp>
      <p:sp>
        <p:nvSpPr>
          <p:cNvPr id="20" name="Text 15"/>
          <p:cNvSpPr/>
          <p:nvPr/>
        </p:nvSpPr>
        <p:spPr>
          <a:xfrm>
            <a:off x="1234440" y="3758184"/>
            <a:ext cx="3108960" cy="365760"/>
          </a:xfrm>
          <a:prstGeom prst="rect">
            <a:avLst/>
          </a:prstGeom>
          <a:noFill/>
          <a:ln/>
        </p:spPr>
        <p:txBody>
          <a:bodyPr wrap="square" rtlCol="0" anchor="ctr"/>
          <a:lstStyle/>
          <a:p>
            <a:pPr marL="0" indent="0">
              <a:buNone/>
            </a:pPr>
            <a:r>
              <a:rPr lang="en-US" sz="1350" b="1" dirty="0">
                <a:solidFill>
                  <a:srgbClr val="111827"/>
                </a:solidFill>
                <a:latin typeface="Arial" pitchFamily="34" charset="0"/>
                <a:ea typeface="Arial" pitchFamily="34" charset="-122"/>
                <a:cs typeface="Arial" pitchFamily="34" charset="-120"/>
              </a:rPr>
              <a:t>Exploratory Analysis</a:t>
            </a:r>
            <a:endParaRPr lang="en-US" sz="1350" dirty="0"/>
          </a:p>
        </p:txBody>
      </p:sp>
      <p:sp>
        <p:nvSpPr>
          <p:cNvPr id="21" name="Text 16"/>
          <p:cNvSpPr/>
          <p:nvPr/>
        </p:nvSpPr>
        <p:spPr>
          <a:xfrm>
            <a:off x="4480560" y="3557016"/>
            <a:ext cx="7132320" cy="777240"/>
          </a:xfrm>
          <a:prstGeom prst="rect">
            <a:avLst/>
          </a:prstGeom>
          <a:noFill/>
          <a:ln/>
        </p:spPr>
        <p:txBody>
          <a:bodyPr wrap="square" rtlCol="0" anchor="ctr"/>
          <a:lstStyle/>
          <a:p>
            <a:pPr marL="0" indent="0">
              <a:lnSpc>
                <a:spcPct val="120000"/>
              </a:lnSpc>
              <a:buNone/>
            </a:pPr>
            <a:r>
              <a:rPr lang="en-US" sz="1150" dirty="0">
                <a:solidFill>
                  <a:srgbClr val="4B5563"/>
                </a:solidFill>
                <a:latin typeface="Arial" pitchFamily="34" charset="0"/>
                <a:ea typeface="Arial" pitchFamily="34" charset="-122"/>
                <a:cs typeface="Arial" pitchFamily="34" charset="-120"/>
              </a:rPr>
              <a:t>Histograms, scatter plots, a pairplot, and a correlation heatmap reveal feature distributions and relationships with Exam Score.</a:t>
            </a:r>
            <a:endParaRPr lang="en-US" sz="1150" dirty="0"/>
          </a:p>
        </p:txBody>
      </p:sp>
      <p:sp>
        <p:nvSpPr>
          <p:cNvPr id="22" name="Shape 17"/>
          <p:cNvSpPr/>
          <p:nvPr/>
        </p:nvSpPr>
        <p:spPr>
          <a:xfrm>
            <a:off x="800100" y="4105656"/>
            <a:ext cx="0" cy="365760"/>
          </a:xfrm>
          <a:prstGeom prst="line">
            <a:avLst/>
          </a:prstGeom>
          <a:noFill/>
          <a:ln w="19050">
            <a:solidFill>
              <a:srgbClr val="DBEAFE"/>
            </a:solidFill>
            <a:prstDash val="dash"/>
          </a:ln>
        </p:spPr>
        <p:txBody>
          <a:bodyPr/>
          <a:lstStyle/>
          <a:p>
            <a:endParaRPr lang="en-US"/>
          </a:p>
        </p:txBody>
      </p:sp>
      <p:sp>
        <p:nvSpPr>
          <p:cNvPr id="23" name="Shape 18"/>
          <p:cNvSpPr/>
          <p:nvPr/>
        </p:nvSpPr>
        <p:spPr>
          <a:xfrm>
            <a:off x="548640" y="4471416"/>
            <a:ext cx="502920" cy="502920"/>
          </a:xfrm>
          <a:prstGeom prst="roundRect">
            <a:avLst>
              <a:gd name="adj" fmla="val 20000"/>
            </a:avLst>
          </a:prstGeom>
          <a:solidFill>
            <a:srgbClr val="1E3A8A"/>
          </a:solidFill>
          <a:ln/>
        </p:spPr>
        <p:txBody>
          <a:bodyPr/>
          <a:lstStyle/>
          <a:p>
            <a:endParaRPr lang="en-US"/>
          </a:p>
        </p:txBody>
      </p:sp>
      <p:pic>
        <p:nvPicPr>
          <p:cNvPr id="24" name="Image 3" descr="/home/claude/icons/cogs_white.png"/>
          <p:cNvPicPr>
            <a:picLocks noChangeAspect="1"/>
          </p:cNvPicPr>
          <p:nvPr/>
        </p:nvPicPr>
        <p:blipFill>
          <a:blip r:embed="rId6"/>
          <a:stretch>
            <a:fillRect/>
          </a:stretch>
        </p:blipFill>
        <p:spPr>
          <a:xfrm>
            <a:off x="658368" y="4581144"/>
            <a:ext cx="283464" cy="283464"/>
          </a:xfrm>
          <a:prstGeom prst="rect">
            <a:avLst/>
          </a:prstGeom>
        </p:spPr>
      </p:pic>
      <p:sp>
        <p:nvSpPr>
          <p:cNvPr id="25" name="Text 19"/>
          <p:cNvSpPr/>
          <p:nvPr/>
        </p:nvSpPr>
        <p:spPr>
          <a:xfrm>
            <a:off x="1234440" y="4453128"/>
            <a:ext cx="1828800" cy="256032"/>
          </a:xfrm>
          <a:prstGeom prst="rect">
            <a:avLst/>
          </a:prstGeom>
          <a:noFill/>
          <a:ln/>
        </p:spPr>
        <p:txBody>
          <a:bodyPr wrap="square" rtlCol="0" anchor="ctr"/>
          <a:lstStyle/>
          <a:p>
            <a:pPr marL="0" indent="0">
              <a:buNone/>
            </a:pPr>
            <a:r>
              <a:rPr lang="en-US" sz="950" b="1" kern="0" spc="100" dirty="0">
                <a:solidFill>
                  <a:srgbClr val="2563EB"/>
                </a:solidFill>
                <a:latin typeface="Arial" pitchFamily="34" charset="0"/>
                <a:ea typeface="Arial" pitchFamily="34" charset="-122"/>
                <a:cs typeface="Arial" pitchFamily="34" charset="-120"/>
              </a:rPr>
              <a:t>STEP 4</a:t>
            </a:r>
            <a:endParaRPr lang="en-US" sz="950" dirty="0"/>
          </a:p>
        </p:txBody>
      </p:sp>
      <p:sp>
        <p:nvSpPr>
          <p:cNvPr id="26" name="Text 20"/>
          <p:cNvSpPr/>
          <p:nvPr/>
        </p:nvSpPr>
        <p:spPr>
          <a:xfrm>
            <a:off x="1234440" y="4654296"/>
            <a:ext cx="3108960" cy="365760"/>
          </a:xfrm>
          <a:prstGeom prst="rect">
            <a:avLst/>
          </a:prstGeom>
          <a:noFill/>
          <a:ln/>
        </p:spPr>
        <p:txBody>
          <a:bodyPr wrap="square" rtlCol="0" anchor="ctr"/>
          <a:lstStyle/>
          <a:p>
            <a:pPr marL="0" indent="0">
              <a:buNone/>
            </a:pPr>
            <a:r>
              <a:rPr lang="en-US" sz="1350" b="1" dirty="0">
                <a:solidFill>
                  <a:srgbClr val="111827"/>
                </a:solidFill>
                <a:latin typeface="Arial" pitchFamily="34" charset="0"/>
                <a:ea typeface="Arial" pitchFamily="34" charset="-122"/>
                <a:cs typeface="Arial" pitchFamily="34" charset="-120"/>
              </a:rPr>
              <a:t>Feature Scaling</a:t>
            </a:r>
            <a:endParaRPr lang="en-US" sz="1350" dirty="0"/>
          </a:p>
        </p:txBody>
      </p:sp>
      <p:sp>
        <p:nvSpPr>
          <p:cNvPr id="27" name="Text 21"/>
          <p:cNvSpPr/>
          <p:nvPr/>
        </p:nvSpPr>
        <p:spPr>
          <a:xfrm>
            <a:off x="4480560" y="4453128"/>
            <a:ext cx="7132320" cy="777240"/>
          </a:xfrm>
          <a:prstGeom prst="rect">
            <a:avLst/>
          </a:prstGeom>
          <a:noFill/>
          <a:ln/>
        </p:spPr>
        <p:txBody>
          <a:bodyPr wrap="square" rtlCol="0" anchor="ctr"/>
          <a:lstStyle/>
          <a:p>
            <a:pPr marL="0" indent="0">
              <a:lnSpc>
                <a:spcPct val="120000"/>
              </a:lnSpc>
              <a:buNone/>
            </a:pPr>
            <a:r>
              <a:rPr lang="en-US" sz="1150" dirty="0">
                <a:solidFill>
                  <a:srgbClr val="4B5563"/>
                </a:solidFill>
                <a:latin typeface="Arial" pitchFamily="34" charset="0"/>
                <a:ea typeface="Arial" pitchFamily="34" charset="-122"/>
                <a:cs typeface="Arial" pitchFamily="34" charset="-120"/>
              </a:rPr>
              <a:t>StandardScaler transforms all 5 input features to zero mean &amp; unit variance -- essential since Linear Regression is scale-sensitive.</a:t>
            </a:r>
            <a:endParaRPr lang="en-US" sz="1150" dirty="0"/>
          </a:p>
        </p:txBody>
      </p:sp>
      <p:sp>
        <p:nvSpPr>
          <p:cNvPr id="28" name="Shape 22"/>
          <p:cNvSpPr/>
          <p:nvPr/>
        </p:nvSpPr>
        <p:spPr>
          <a:xfrm>
            <a:off x="800100" y="5001768"/>
            <a:ext cx="0" cy="365760"/>
          </a:xfrm>
          <a:prstGeom prst="line">
            <a:avLst/>
          </a:prstGeom>
          <a:noFill/>
          <a:ln w="19050">
            <a:solidFill>
              <a:srgbClr val="DBEAFE"/>
            </a:solidFill>
            <a:prstDash val="dash"/>
          </a:ln>
        </p:spPr>
        <p:txBody>
          <a:bodyPr/>
          <a:lstStyle/>
          <a:p>
            <a:endParaRPr lang="en-US"/>
          </a:p>
        </p:txBody>
      </p:sp>
      <p:sp>
        <p:nvSpPr>
          <p:cNvPr id="29" name="Shape 23"/>
          <p:cNvSpPr/>
          <p:nvPr/>
        </p:nvSpPr>
        <p:spPr>
          <a:xfrm>
            <a:off x="548640" y="5367528"/>
            <a:ext cx="502920" cy="502920"/>
          </a:xfrm>
          <a:prstGeom prst="roundRect">
            <a:avLst>
              <a:gd name="adj" fmla="val 20000"/>
            </a:avLst>
          </a:prstGeom>
          <a:solidFill>
            <a:srgbClr val="1E3A8A"/>
          </a:solidFill>
          <a:ln/>
        </p:spPr>
        <p:txBody>
          <a:bodyPr/>
          <a:lstStyle/>
          <a:p>
            <a:endParaRPr lang="en-US"/>
          </a:p>
        </p:txBody>
      </p:sp>
      <p:pic>
        <p:nvPicPr>
          <p:cNvPr id="30" name="Image 4" descr="/home/claude/icons/layers_white.png"/>
          <p:cNvPicPr>
            <a:picLocks noChangeAspect="1"/>
          </p:cNvPicPr>
          <p:nvPr/>
        </p:nvPicPr>
        <p:blipFill>
          <a:blip r:embed="rId7"/>
          <a:stretch>
            <a:fillRect/>
          </a:stretch>
        </p:blipFill>
        <p:spPr>
          <a:xfrm>
            <a:off x="658368" y="5477256"/>
            <a:ext cx="283464" cy="283464"/>
          </a:xfrm>
          <a:prstGeom prst="rect">
            <a:avLst/>
          </a:prstGeom>
        </p:spPr>
      </p:pic>
      <p:sp>
        <p:nvSpPr>
          <p:cNvPr id="31" name="Text 24"/>
          <p:cNvSpPr/>
          <p:nvPr/>
        </p:nvSpPr>
        <p:spPr>
          <a:xfrm>
            <a:off x="1234440" y="5349240"/>
            <a:ext cx="1828800" cy="256032"/>
          </a:xfrm>
          <a:prstGeom prst="rect">
            <a:avLst/>
          </a:prstGeom>
          <a:noFill/>
          <a:ln/>
        </p:spPr>
        <p:txBody>
          <a:bodyPr wrap="square" rtlCol="0" anchor="ctr"/>
          <a:lstStyle/>
          <a:p>
            <a:pPr marL="0" indent="0">
              <a:buNone/>
            </a:pPr>
            <a:r>
              <a:rPr lang="en-US" sz="950" b="1" kern="0" spc="100" dirty="0">
                <a:solidFill>
                  <a:srgbClr val="2563EB"/>
                </a:solidFill>
                <a:latin typeface="Arial" pitchFamily="34" charset="0"/>
                <a:ea typeface="Arial" pitchFamily="34" charset="-122"/>
                <a:cs typeface="Arial" pitchFamily="34" charset="-120"/>
              </a:rPr>
              <a:t>STEP 5</a:t>
            </a:r>
            <a:endParaRPr lang="en-US" sz="950" dirty="0"/>
          </a:p>
        </p:txBody>
      </p:sp>
      <p:sp>
        <p:nvSpPr>
          <p:cNvPr id="32" name="Text 25"/>
          <p:cNvSpPr/>
          <p:nvPr/>
        </p:nvSpPr>
        <p:spPr>
          <a:xfrm>
            <a:off x="1234440" y="5550408"/>
            <a:ext cx="3108960" cy="365760"/>
          </a:xfrm>
          <a:prstGeom prst="rect">
            <a:avLst/>
          </a:prstGeom>
          <a:noFill/>
          <a:ln/>
        </p:spPr>
        <p:txBody>
          <a:bodyPr wrap="square" rtlCol="0" anchor="ctr"/>
          <a:lstStyle/>
          <a:p>
            <a:pPr marL="0" indent="0">
              <a:buNone/>
            </a:pPr>
            <a:r>
              <a:rPr lang="en-US" sz="1350" b="1" dirty="0">
                <a:solidFill>
                  <a:srgbClr val="111827"/>
                </a:solidFill>
                <a:latin typeface="Arial" pitchFamily="34" charset="0"/>
                <a:ea typeface="Arial" pitchFamily="34" charset="-122"/>
                <a:cs typeface="Arial" pitchFamily="34" charset="-120"/>
              </a:rPr>
              <a:t>Train-Test Split</a:t>
            </a:r>
            <a:endParaRPr lang="en-US" sz="1350" dirty="0"/>
          </a:p>
        </p:txBody>
      </p:sp>
      <p:sp>
        <p:nvSpPr>
          <p:cNvPr id="33" name="Text 26"/>
          <p:cNvSpPr/>
          <p:nvPr/>
        </p:nvSpPr>
        <p:spPr>
          <a:xfrm>
            <a:off x="4480560" y="5349240"/>
            <a:ext cx="7132320" cy="777240"/>
          </a:xfrm>
          <a:prstGeom prst="rect">
            <a:avLst/>
          </a:prstGeom>
          <a:noFill/>
          <a:ln/>
        </p:spPr>
        <p:txBody>
          <a:bodyPr wrap="square" rtlCol="0" anchor="ctr"/>
          <a:lstStyle/>
          <a:p>
            <a:pPr marL="0" indent="0">
              <a:lnSpc>
                <a:spcPct val="120000"/>
              </a:lnSpc>
              <a:buNone/>
            </a:pPr>
            <a:r>
              <a:rPr lang="en-US" sz="1150" dirty="0">
                <a:solidFill>
                  <a:srgbClr val="4B5563"/>
                </a:solidFill>
                <a:latin typeface="Arial" pitchFamily="34" charset="0"/>
                <a:ea typeface="Arial" pitchFamily="34" charset="-122"/>
                <a:cs typeface="Arial" pitchFamily="34" charset="-120"/>
              </a:rPr>
              <a:t>train_test_split() reserves 20% of data for testing (random_state=42) so evaluation reflects unseen data.</a:t>
            </a:r>
            <a:endParaRPr lang="en-US" sz="1150" dirty="0"/>
          </a:p>
        </p:txBody>
      </p:sp>
      <p:sp>
        <p:nvSpPr>
          <p:cNvPr id="34" name="Text 27"/>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65760"/>
          </a:xfrm>
          <a:prstGeom prst="roundRect">
            <a:avLst>
              <a:gd name="adj" fmla="val 20000"/>
            </a:avLst>
          </a:prstGeom>
          <a:solidFill>
            <a:srgbClr val="EFF6FF"/>
          </a:solidFill>
          <a:ln/>
        </p:spPr>
        <p:txBody>
          <a:bodyPr/>
          <a:lstStyle/>
          <a:p>
            <a:endParaRPr lang="en-US"/>
          </a:p>
        </p:txBody>
      </p:sp>
      <p:sp>
        <p:nvSpPr>
          <p:cNvPr id="3" name="Text 1"/>
          <p:cNvSpPr/>
          <p:nvPr/>
        </p:nvSpPr>
        <p:spPr>
          <a:xfrm>
            <a:off x="548640" y="457200"/>
            <a:ext cx="2377440" cy="365760"/>
          </a:xfrm>
          <a:prstGeom prst="rect">
            <a:avLst/>
          </a:prstGeom>
          <a:noFill/>
          <a:ln/>
        </p:spPr>
        <p:txBody>
          <a:bodyPr wrap="square" rtlCol="0" anchor="ctr"/>
          <a:lstStyle/>
          <a:p>
            <a:pPr marL="0" indent="0" algn="ctr">
              <a:buNone/>
            </a:pPr>
            <a:r>
              <a:rPr lang="en-US" sz="1100" b="1" kern="0" spc="200" dirty="0">
                <a:solidFill>
                  <a:srgbClr val="1E3A8A"/>
                </a:solidFill>
                <a:latin typeface="Arial" pitchFamily="34" charset="0"/>
                <a:ea typeface="Arial" pitchFamily="34" charset="-122"/>
                <a:cs typeface="Arial" pitchFamily="34" charset="-120"/>
              </a:rPr>
              <a:t>06  ·  ALGORITHM</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200" b="1" dirty="0">
                <a:solidFill>
                  <a:srgbClr val="111827"/>
                </a:solidFill>
                <a:latin typeface="Arial" pitchFamily="34" charset="0"/>
                <a:ea typeface="Arial" pitchFamily="34" charset="-122"/>
                <a:cs typeface="Arial" pitchFamily="34" charset="-120"/>
              </a:rPr>
              <a:t>Hybrid Stacking Regression</a:t>
            </a:r>
            <a:endParaRPr lang="en-US" sz="3200" dirty="0"/>
          </a:p>
        </p:txBody>
      </p:sp>
      <p:sp>
        <p:nvSpPr>
          <p:cNvPr id="5" name="Text 3"/>
          <p:cNvSpPr/>
          <p:nvPr/>
        </p:nvSpPr>
        <p:spPr>
          <a:xfrm>
            <a:off x="548640" y="1691640"/>
            <a:ext cx="11064240" cy="457200"/>
          </a:xfrm>
          <a:prstGeom prst="rect">
            <a:avLst/>
          </a:prstGeom>
          <a:noFill/>
          <a:ln/>
        </p:spPr>
        <p:txBody>
          <a:bodyPr wrap="square" rtlCol="0" anchor="ctr"/>
          <a:lstStyle/>
          <a:p>
            <a:pPr marL="0" indent="0">
              <a:buNone/>
            </a:pPr>
            <a:r>
              <a:rPr lang="en-US" sz="1250" dirty="0">
                <a:solidFill>
                  <a:srgbClr val="4B5563"/>
                </a:solidFill>
                <a:latin typeface="Arial" pitchFamily="34" charset="0"/>
                <a:ea typeface="Arial" pitchFamily="34" charset="-122"/>
                <a:cs typeface="Arial" pitchFamily="34" charset="-120"/>
              </a:rPr>
              <a:t>Two diverse base learners feed their predictions -- plus the original features -- into a gradient-boosted meta-model that learns the optimal way to combine them.</a:t>
            </a:r>
            <a:endParaRPr lang="en-US" sz="1250" dirty="0"/>
          </a:p>
        </p:txBody>
      </p:sp>
      <p:sp>
        <p:nvSpPr>
          <p:cNvPr id="6" name="Shape 4"/>
          <p:cNvSpPr/>
          <p:nvPr/>
        </p:nvSpPr>
        <p:spPr>
          <a:xfrm>
            <a:off x="548640" y="2651760"/>
            <a:ext cx="1371600" cy="685800"/>
          </a:xfrm>
          <a:prstGeom prst="roundRect">
            <a:avLst>
              <a:gd name="adj" fmla="val 10667"/>
            </a:avLst>
          </a:prstGeom>
          <a:solidFill>
            <a:srgbClr val="EFF6FF"/>
          </a:solidFill>
          <a:ln/>
        </p:spPr>
        <p:txBody>
          <a:bodyPr/>
          <a:lstStyle/>
          <a:p>
            <a:endParaRPr lang="en-US"/>
          </a:p>
        </p:txBody>
      </p:sp>
      <p:sp>
        <p:nvSpPr>
          <p:cNvPr id="7" name="Text 5"/>
          <p:cNvSpPr/>
          <p:nvPr/>
        </p:nvSpPr>
        <p:spPr>
          <a:xfrm>
            <a:off x="548640" y="2651760"/>
            <a:ext cx="1371600" cy="685800"/>
          </a:xfrm>
          <a:prstGeom prst="rect">
            <a:avLst/>
          </a:prstGeom>
          <a:noFill/>
          <a:ln/>
        </p:spPr>
        <p:txBody>
          <a:bodyPr wrap="square" rtlCol="0" anchor="ctr"/>
          <a:lstStyle/>
          <a:p>
            <a:pPr marL="0" indent="0" algn="ctr">
              <a:buNone/>
            </a:pPr>
            <a:r>
              <a:rPr lang="en-US" sz="1050" b="1" dirty="0">
                <a:solidFill>
                  <a:srgbClr val="1E3A8A"/>
                </a:solidFill>
                <a:latin typeface="Arial" pitchFamily="34" charset="0"/>
                <a:ea typeface="Arial" pitchFamily="34" charset="-122"/>
                <a:cs typeface="Arial" pitchFamily="34" charset="-120"/>
              </a:rPr>
              <a:t>Input</a:t>
            </a:r>
            <a:endParaRPr lang="en-US" sz="1050" dirty="0"/>
          </a:p>
          <a:p>
            <a:pPr marL="0" indent="0" algn="ctr">
              <a:buNone/>
            </a:pPr>
            <a:r>
              <a:rPr lang="en-US" sz="1050" b="1" dirty="0">
                <a:solidFill>
                  <a:srgbClr val="1E3A8A"/>
                </a:solidFill>
                <a:latin typeface="Arial" pitchFamily="34" charset="0"/>
                <a:ea typeface="Arial" pitchFamily="34" charset="-122"/>
                <a:cs typeface="Arial" pitchFamily="34" charset="-120"/>
              </a:rPr>
              <a:t>Features (X)</a:t>
            </a:r>
            <a:endParaRPr lang="en-US" sz="1050" dirty="0"/>
          </a:p>
        </p:txBody>
      </p:sp>
      <p:pic>
        <p:nvPicPr>
          <p:cNvPr id="8" name="Image 0" descr="/home/claude/icons/arrow_right_blue.png"/>
          <p:cNvPicPr>
            <a:picLocks noChangeAspect="1"/>
          </p:cNvPicPr>
          <p:nvPr/>
        </p:nvPicPr>
        <p:blipFill>
          <a:blip r:embed="rId3"/>
          <a:stretch>
            <a:fillRect/>
          </a:stretch>
        </p:blipFill>
        <p:spPr>
          <a:xfrm>
            <a:off x="2057400" y="2871216"/>
            <a:ext cx="274320" cy="274320"/>
          </a:xfrm>
          <a:prstGeom prst="rect">
            <a:avLst/>
          </a:prstGeom>
        </p:spPr>
      </p:pic>
      <p:sp>
        <p:nvSpPr>
          <p:cNvPr id="9" name="Shape 6"/>
          <p:cNvSpPr/>
          <p:nvPr/>
        </p:nvSpPr>
        <p:spPr>
          <a:xfrm>
            <a:off x="2468880" y="2286000"/>
            <a:ext cx="2011680" cy="594360"/>
          </a:xfrm>
          <a:prstGeom prst="roundRect">
            <a:avLst>
              <a:gd name="adj" fmla="val 12308"/>
            </a:avLst>
          </a:prstGeom>
          <a:solidFill>
            <a:srgbClr val="1E3A8A"/>
          </a:solidFill>
          <a:ln/>
        </p:spPr>
        <p:txBody>
          <a:bodyPr/>
          <a:lstStyle/>
          <a:p>
            <a:endParaRPr lang="en-US"/>
          </a:p>
        </p:txBody>
      </p:sp>
      <p:sp>
        <p:nvSpPr>
          <p:cNvPr id="10" name="Text 7"/>
          <p:cNvSpPr/>
          <p:nvPr/>
        </p:nvSpPr>
        <p:spPr>
          <a:xfrm>
            <a:off x="2468880" y="2286000"/>
            <a:ext cx="2011680" cy="594360"/>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Linear Regression</a:t>
            </a:r>
            <a:endParaRPr lang="en-US" sz="1050" dirty="0"/>
          </a:p>
        </p:txBody>
      </p:sp>
      <p:sp>
        <p:nvSpPr>
          <p:cNvPr id="11" name="Shape 8"/>
          <p:cNvSpPr/>
          <p:nvPr/>
        </p:nvSpPr>
        <p:spPr>
          <a:xfrm>
            <a:off x="2468880" y="3108960"/>
            <a:ext cx="2011680" cy="594360"/>
          </a:xfrm>
          <a:prstGeom prst="roundRect">
            <a:avLst>
              <a:gd name="adj" fmla="val 12308"/>
            </a:avLst>
          </a:prstGeom>
          <a:solidFill>
            <a:srgbClr val="1E3A8A"/>
          </a:solidFill>
          <a:ln/>
        </p:spPr>
        <p:txBody>
          <a:bodyPr/>
          <a:lstStyle/>
          <a:p>
            <a:pPr algn="ctr"/>
            <a:r>
              <a:rPr lang="en-US" sz="1050" b="1" dirty="0">
                <a:solidFill>
                  <a:schemeClr val="bg1"/>
                </a:solidFill>
                <a:latin typeface="Arial" pitchFamily="34" charset="0"/>
                <a:ea typeface="Arial" pitchFamily="34" charset="-122"/>
                <a:cs typeface="Arial" pitchFamily="34" charset="-120"/>
              </a:rPr>
              <a:t>XGBoost</a:t>
            </a:r>
            <a:endParaRPr lang="en-US" sz="1050" dirty="0">
              <a:solidFill>
                <a:schemeClr val="bg1"/>
              </a:solidFill>
            </a:endParaRPr>
          </a:p>
        </p:txBody>
      </p:sp>
      <p:sp>
        <p:nvSpPr>
          <p:cNvPr id="12" name="Text 9"/>
          <p:cNvSpPr/>
          <p:nvPr/>
        </p:nvSpPr>
        <p:spPr>
          <a:xfrm>
            <a:off x="2468880" y="3108960"/>
            <a:ext cx="2011680" cy="594360"/>
          </a:xfrm>
          <a:prstGeom prst="rect">
            <a:avLst/>
          </a:prstGeom>
          <a:noFill/>
          <a:ln/>
        </p:spPr>
        <p:txBody>
          <a:bodyPr wrap="square" rtlCol="0" anchor="ctr"/>
          <a:lstStyle/>
          <a:p>
            <a:pPr marL="0" indent="0" algn="ctr">
              <a:buNone/>
            </a:pPr>
            <a:endParaRPr lang="en-US" sz="1050" dirty="0"/>
          </a:p>
        </p:txBody>
      </p:sp>
      <p:sp>
        <p:nvSpPr>
          <p:cNvPr id="13" name="Text 10"/>
          <p:cNvSpPr/>
          <p:nvPr/>
        </p:nvSpPr>
        <p:spPr>
          <a:xfrm>
            <a:off x="2468880" y="1965960"/>
            <a:ext cx="2011680" cy="256032"/>
          </a:xfrm>
          <a:prstGeom prst="rect">
            <a:avLst/>
          </a:prstGeom>
          <a:noFill/>
          <a:ln/>
        </p:spPr>
        <p:txBody>
          <a:bodyPr wrap="square" rtlCol="0" anchor="ctr"/>
          <a:lstStyle/>
          <a:p>
            <a:pPr marL="0" indent="0" algn="ctr">
              <a:buNone/>
            </a:pPr>
            <a:r>
              <a:rPr lang="en-US" sz="900" b="1" kern="0" spc="100" dirty="0">
                <a:solidFill>
                  <a:srgbClr val="1E3A8A"/>
                </a:solidFill>
                <a:latin typeface="Arial" pitchFamily="34" charset="0"/>
                <a:ea typeface="Arial" pitchFamily="34" charset="-122"/>
                <a:cs typeface="Arial" pitchFamily="34" charset="-120"/>
              </a:rPr>
              <a:t>BASE LEARNERS</a:t>
            </a:r>
            <a:endParaRPr lang="en-US" sz="900" dirty="0"/>
          </a:p>
        </p:txBody>
      </p:sp>
      <p:pic>
        <p:nvPicPr>
          <p:cNvPr id="14" name="Image 1" descr="/home/claude/icons/arrow_right_blue.png"/>
          <p:cNvPicPr>
            <a:picLocks noChangeAspect="1"/>
          </p:cNvPicPr>
          <p:nvPr/>
        </p:nvPicPr>
        <p:blipFill>
          <a:blip r:embed="rId3"/>
          <a:stretch>
            <a:fillRect/>
          </a:stretch>
        </p:blipFill>
        <p:spPr>
          <a:xfrm>
            <a:off x="4709160" y="2871216"/>
            <a:ext cx="274320" cy="274320"/>
          </a:xfrm>
          <a:prstGeom prst="rect">
            <a:avLst/>
          </a:prstGeom>
        </p:spPr>
      </p:pic>
      <p:sp>
        <p:nvSpPr>
          <p:cNvPr id="15" name="Shape 11"/>
          <p:cNvSpPr/>
          <p:nvPr/>
        </p:nvSpPr>
        <p:spPr>
          <a:xfrm>
            <a:off x="5120640" y="2423160"/>
            <a:ext cx="2148840" cy="1143000"/>
          </a:xfrm>
          <a:prstGeom prst="roundRect">
            <a:avLst>
              <a:gd name="adj" fmla="val 6400"/>
            </a:avLst>
          </a:prstGeom>
          <a:solidFill>
            <a:srgbClr val="EFF6FF"/>
          </a:solidFill>
          <a:ln w="12700">
            <a:solidFill>
              <a:srgbClr val="DBEAFE"/>
            </a:solidFill>
            <a:prstDash val="solid"/>
          </a:ln>
        </p:spPr>
        <p:txBody>
          <a:bodyPr/>
          <a:lstStyle/>
          <a:p>
            <a:endParaRPr lang="en-US"/>
          </a:p>
        </p:txBody>
      </p:sp>
      <p:sp>
        <p:nvSpPr>
          <p:cNvPr id="16" name="Text 12"/>
          <p:cNvSpPr/>
          <p:nvPr/>
        </p:nvSpPr>
        <p:spPr>
          <a:xfrm>
            <a:off x="5120640" y="2423160"/>
            <a:ext cx="2148840" cy="1143000"/>
          </a:xfrm>
          <a:prstGeom prst="rect">
            <a:avLst/>
          </a:prstGeom>
          <a:noFill/>
          <a:ln/>
        </p:spPr>
        <p:txBody>
          <a:bodyPr wrap="square" rtlCol="0" anchor="ctr"/>
          <a:lstStyle/>
          <a:p>
            <a:pPr marL="0" indent="0" algn="ctr">
              <a:lnSpc>
                <a:spcPct val="130000"/>
              </a:lnSpc>
              <a:buNone/>
            </a:pPr>
            <a:r>
              <a:rPr lang="en-US" sz="1000" b="1" dirty="0">
                <a:solidFill>
                  <a:srgbClr val="111827"/>
                </a:solidFill>
                <a:latin typeface="Arial" pitchFamily="34" charset="0"/>
                <a:ea typeface="Arial" pitchFamily="34" charset="-122"/>
                <a:cs typeface="Arial" pitchFamily="34" charset="-120"/>
              </a:rPr>
              <a:t>Meta-Features</a:t>
            </a:r>
            <a:endParaRPr lang="en-US" sz="1000" dirty="0"/>
          </a:p>
          <a:p>
            <a:pPr marL="0" indent="0" algn="ctr">
              <a:lnSpc>
                <a:spcPct val="130000"/>
              </a:lnSpc>
              <a:buNone/>
            </a:pPr>
            <a:r>
              <a:rPr lang="en-US" sz="1000" b="1" dirty="0">
                <a:solidFill>
                  <a:srgbClr val="111827"/>
                </a:solidFill>
                <a:latin typeface="Arial" pitchFamily="34" charset="0"/>
                <a:ea typeface="Arial" pitchFamily="34" charset="-122"/>
                <a:cs typeface="Arial" pitchFamily="34" charset="-120"/>
              </a:rPr>
              <a:t>( ŷ_LR , </a:t>
            </a:r>
            <a:r>
              <a:rPr lang="en-US" sz="1000" b="1" dirty="0" err="1">
                <a:solidFill>
                  <a:srgbClr val="111827"/>
                </a:solidFill>
                <a:latin typeface="Arial" pitchFamily="34" charset="0"/>
                <a:ea typeface="Arial" pitchFamily="34" charset="-122"/>
                <a:cs typeface="Arial" pitchFamily="34" charset="-120"/>
              </a:rPr>
              <a:t>ŷ_XGB</a:t>
            </a:r>
            <a:r>
              <a:rPr lang="en-US" sz="1000" b="1" dirty="0">
                <a:solidFill>
                  <a:srgbClr val="111827"/>
                </a:solidFill>
                <a:latin typeface="Arial" pitchFamily="34" charset="0"/>
                <a:ea typeface="Arial" pitchFamily="34" charset="-122"/>
                <a:cs typeface="Arial" pitchFamily="34" charset="-120"/>
              </a:rPr>
              <a:t> , X )</a:t>
            </a:r>
            <a:endParaRPr lang="en-US" sz="1000" dirty="0"/>
          </a:p>
          <a:p>
            <a:pPr marL="0" indent="0" algn="ctr">
              <a:lnSpc>
                <a:spcPct val="130000"/>
              </a:lnSpc>
              <a:buNone/>
            </a:pPr>
            <a:r>
              <a:rPr lang="en-US" sz="1000" b="1" dirty="0">
                <a:solidFill>
                  <a:srgbClr val="111827"/>
                </a:solidFill>
                <a:latin typeface="Arial" pitchFamily="34" charset="0"/>
                <a:ea typeface="Arial" pitchFamily="34" charset="-122"/>
                <a:cs typeface="Arial" pitchFamily="34" charset="-120"/>
              </a:rPr>
              <a:t>passthrough = True</a:t>
            </a:r>
            <a:endParaRPr lang="en-US" sz="1000" dirty="0"/>
          </a:p>
        </p:txBody>
      </p:sp>
      <p:pic>
        <p:nvPicPr>
          <p:cNvPr id="17" name="Image 2" descr="/home/claude/icons/arrow_right_blue.png"/>
          <p:cNvPicPr>
            <a:picLocks noChangeAspect="1"/>
          </p:cNvPicPr>
          <p:nvPr/>
        </p:nvPicPr>
        <p:blipFill>
          <a:blip r:embed="rId3"/>
          <a:stretch>
            <a:fillRect/>
          </a:stretch>
        </p:blipFill>
        <p:spPr>
          <a:xfrm>
            <a:off x="7406640" y="2871216"/>
            <a:ext cx="274320" cy="274320"/>
          </a:xfrm>
          <a:prstGeom prst="rect">
            <a:avLst/>
          </a:prstGeom>
        </p:spPr>
      </p:pic>
      <p:sp>
        <p:nvSpPr>
          <p:cNvPr id="18" name="Shape 13"/>
          <p:cNvSpPr/>
          <p:nvPr/>
        </p:nvSpPr>
        <p:spPr>
          <a:xfrm>
            <a:off x="7818120" y="2423160"/>
            <a:ext cx="1828800" cy="1143000"/>
          </a:xfrm>
          <a:prstGeom prst="roundRect">
            <a:avLst>
              <a:gd name="adj" fmla="val 6400"/>
            </a:avLst>
          </a:prstGeom>
          <a:solidFill>
            <a:srgbClr val="F59E0B"/>
          </a:solidFill>
          <a:ln/>
        </p:spPr>
        <p:txBody>
          <a:bodyPr/>
          <a:lstStyle/>
          <a:p>
            <a:endParaRPr lang="en-US" sz="1150" b="1" dirty="0">
              <a:latin typeface="Arial" panose="020B0604020202020204" pitchFamily="34" charset="0"/>
              <a:cs typeface="Arial" panose="020B0604020202020204" pitchFamily="34" charset="0"/>
            </a:endParaRPr>
          </a:p>
          <a:p>
            <a:pPr algn="ctr"/>
            <a:r>
              <a:rPr lang="en-US" sz="1150" b="1" dirty="0">
                <a:latin typeface="Arial" panose="020B0604020202020204" pitchFamily="34" charset="0"/>
                <a:cs typeface="Arial" panose="020B0604020202020204" pitchFamily="34" charset="0"/>
              </a:rPr>
              <a:t>Linear Regression</a:t>
            </a:r>
          </a:p>
        </p:txBody>
      </p:sp>
      <p:sp>
        <p:nvSpPr>
          <p:cNvPr id="19" name="Text 14"/>
          <p:cNvSpPr/>
          <p:nvPr/>
        </p:nvSpPr>
        <p:spPr>
          <a:xfrm>
            <a:off x="7818120" y="2423160"/>
            <a:ext cx="1828800" cy="1143000"/>
          </a:xfrm>
          <a:prstGeom prst="rect">
            <a:avLst/>
          </a:prstGeom>
          <a:noFill/>
          <a:ln/>
        </p:spPr>
        <p:txBody>
          <a:bodyPr wrap="square" rtlCol="0" anchor="ctr"/>
          <a:lstStyle/>
          <a:p>
            <a:pPr marL="0" indent="0" algn="ctr">
              <a:buNone/>
            </a:pPr>
            <a:r>
              <a:rPr lang="en-US" sz="1150" b="1" dirty="0">
                <a:solidFill>
                  <a:srgbClr val="111827"/>
                </a:solidFill>
                <a:latin typeface="Arial" pitchFamily="34" charset="0"/>
                <a:ea typeface="Arial" pitchFamily="34" charset="-122"/>
                <a:cs typeface="Arial" pitchFamily="34" charset="-120"/>
              </a:rPr>
              <a:t>Meta-Model</a:t>
            </a:r>
            <a:endParaRPr lang="en-US" sz="1150" dirty="0"/>
          </a:p>
        </p:txBody>
      </p:sp>
      <p:pic>
        <p:nvPicPr>
          <p:cNvPr id="20" name="Image 3" descr="/home/claude/icons/arrow_right_blue.png"/>
          <p:cNvPicPr>
            <a:picLocks noChangeAspect="1"/>
          </p:cNvPicPr>
          <p:nvPr/>
        </p:nvPicPr>
        <p:blipFill>
          <a:blip r:embed="rId3"/>
          <a:stretch>
            <a:fillRect/>
          </a:stretch>
        </p:blipFill>
        <p:spPr>
          <a:xfrm>
            <a:off x="9738360" y="2871216"/>
            <a:ext cx="274320" cy="274320"/>
          </a:xfrm>
          <a:prstGeom prst="rect">
            <a:avLst/>
          </a:prstGeom>
        </p:spPr>
      </p:pic>
      <p:sp>
        <p:nvSpPr>
          <p:cNvPr id="21" name="Shape 15"/>
          <p:cNvSpPr/>
          <p:nvPr/>
        </p:nvSpPr>
        <p:spPr>
          <a:xfrm>
            <a:off x="10149840" y="2423160"/>
            <a:ext cx="1508760" cy="1143000"/>
          </a:xfrm>
          <a:prstGeom prst="roundRect">
            <a:avLst>
              <a:gd name="adj" fmla="val 6400"/>
            </a:avLst>
          </a:prstGeom>
          <a:solidFill>
            <a:srgbClr val="1E3A8A"/>
          </a:solidFill>
          <a:ln/>
        </p:spPr>
        <p:txBody>
          <a:bodyPr/>
          <a:lstStyle/>
          <a:p>
            <a:endParaRPr lang="en-US"/>
          </a:p>
        </p:txBody>
      </p:sp>
      <p:sp>
        <p:nvSpPr>
          <p:cNvPr id="22" name="Text 16"/>
          <p:cNvSpPr/>
          <p:nvPr/>
        </p:nvSpPr>
        <p:spPr>
          <a:xfrm>
            <a:off x="10149840" y="2423160"/>
            <a:ext cx="1508760" cy="1143000"/>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Predicted</a:t>
            </a:r>
            <a:endParaRPr lang="en-US" sz="1050" dirty="0"/>
          </a:p>
          <a:p>
            <a:pPr marL="0" indent="0" algn="ctr">
              <a:buNone/>
            </a:pPr>
            <a:r>
              <a:rPr lang="en-US" sz="1050" b="1" dirty="0">
                <a:solidFill>
                  <a:srgbClr val="FFFFFF"/>
                </a:solidFill>
                <a:latin typeface="Arial" pitchFamily="34" charset="0"/>
                <a:ea typeface="Arial" pitchFamily="34" charset="-122"/>
                <a:cs typeface="Arial" pitchFamily="34" charset="-120"/>
              </a:rPr>
              <a:t>Exam Score</a:t>
            </a:r>
            <a:endParaRPr lang="en-US" sz="1050" dirty="0"/>
          </a:p>
        </p:txBody>
      </p:sp>
      <p:sp>
        <p:nvSpPr>
          <p:cNvPr id="23" name="Shape 17"/>
          <p:cNvSpPr/>
          <p:nvPr/>
        </p:nvSpPr>
        <p:spPr>
          <a:xfrm>
            <a:off x="548640" y="4160520"/>
            <a:ext cx="5349240" cy="1965960"/>
          </a:xfrm>
          <a:prstGeom prst="roundRect">
            <a:avLst>
              <a:gd name="adj" fmla="val 3721"/>
            </a:avLst>
          </a:prstGeom>
          <a:solidFill>
            <a:srgbClr val="111827"/>
          </a:solidFill>
          <a:ln/>
        </p:spPr>
        <p:txBody>
          <a:bodyPr/>
          <a:lstStyle/>
          <a:p>
            <a:endParaRPr lang="en-US"/>
          </a:p>
        </p:txBody>
      </p:sp>
      <p:sp>
        <p:nvSpPr>
          <p:cNvPr id="24" name="Text 18"/>
          <p:cNvSpPr/>
          <p:nvPr/>
        </p:nvSpPr>
        <p:spPr>
          <a:xfrm>
            <a:off x="822960" y="4315968"/>
            <a:ext cx="4572000" cy="256032"/>
          </a:xfrm>
          <a:prstGeom prst="rect">
            <a:avLst/>
          </a:prstGeom>
          <a:noFill/>
          <a:ln/>
        </p:spPr>
        <p:txBody>
          <a:bodyPr wrap="square" rtlCol="0" anchor="ctr"/>
          <a:lstStyle/>
          <a:p>
            <a:pPr marL="0" indent="0">
              <a:buNone/>
            </a:pPr>
            <a:r>
              <a:rPr lang="en-US" sz="1000" b="1" kern="0" spc="150" dirty="0">
                <a:solidFill>
                  <a:srgbClr val="F59E0B"/>
                </a:solidFill>
                <a:latin typeface="Arial" pitchFamily="34" charset="0"/>
                <a:ea typeface="Arial" pitchFamily="34" charset="-122"/>
                <a:cs typeface="Arial" pitchFamily="34" charset="-120"/>
              </a:rPr>
              <a:t>PSEUDOCODE</a:t>
            </a:r>
            <a:endParaRPr lang="en-US" sz="1000" dirty="0"/>
          </a:p>
        </p:txBody>
      </p:sp>
      <p:sp>
        <p:nvSpPr>
          <p:cNvPr id="25" name="Text 19"/>
          <p:cNvSpPr/>
          <p:nvPr/>
        </p:nvSpPr>
        <p:spPr>
          <a:xfrm>
            <a:off x="822960" y="4572000"/>
            <a:ext cx="4892040" cy="1463040"/>
          </a:xfrm>
          <a:prstGeom prst="rect">
            <a:avLst/>
          </a:prstGeom>
          <a:noFill/>
          <a:ln/>
        </p:spPr>
        <p:txBody>
          <a:bodyPr wrap="square" rtlCol="0" anchor="ctr"/>
          <a:lstStyle/>
          <a:p>
            <a:pPr marL="0" indent="0">
              <a:lnSpc>
                <a:spcPct val="125000"/>
              </a:lnSpc>
              <a:buNone/>
            </a:pPr>
            <a:r>
              <a:rPr lang="en-US" sz="1000" dirty="0">
                <a:solidFill>
                  <a:srgbClr val="FFFFFF"/>
                </a:solidFill>
                <a:latin typeface="Courier New" pitchFamily="34" charset="0"/>
                <a:ea typeface="Courier New" pitchFamily="34" charset="-122"/>
                <a:cs typeface="Courier New" pitchFamily="34" charset="-120"/>
              </a:rPr>
              <a:t>for model in [LinReg, XGBoost]:</a:t>
            </a:r>
            <a:endParaRPr lang="en-US" sz="1000" dirty="0"/>
          </a:p>
          <a:p>
            <a:pPr marL="0" indent="0">
              <a:lnSpc>
                <a:spcPct val="125000"/>
              </a:lnSpc>
              <a:buNone/>
            </a:pPr>
            <a:r>
              <a:rPr lang="en-US" sz="1000" dirty="0">
                <a:solidFill>
                  <a:srgbClr val="FFFFFF"/>
                </a:solidFill>
                <a:latin typeface="Courier New" pitchFamily="34" charset="0"/>
                <a:ea typeface="Courier New" pitchFamily="34" charset="-122"/>
                <a:cs typeface="Courier New" pitchFamily="34" charset="-120"/>
              </a:rPr>
              <a:t>    fit model on X_train (5-fold CV)</a:t>
            </a:r>
            <a:endParaRPr lang="en-US" sz="1000" dirty="0"/>
          </a:p>
          <a:p>
            <a:pPr marL="0" indent="0">
              <a:lnSpc>
                <a:spcPct val="125000"/>
              </a:lnSpc>
              <a:buNone/>
            </a:pPr>
            <a:r>
              <a:rPr lang="en-US" sz="1000" dirty="0">
                <a:solidFill>
                  <a:srgbClr val="FFFFFF"/>
                </a:solidFill>
                <a:latin typeface="Courier New" pitchFamily="34" charset="0"/>
                <a:ea typeface="Courier New" pitchFamily="34" charset="-122"/>
                <a:cs typeface="Courier New" pitchFamily="34" charset="-120"/>
              </a:rPr>
              <a:t>    oof_preds = out-of-fold predictions</a:t>
            </a:r>
            <a:endParaRPr lang="en-US" sz="1000" dirty="0"/>
          </a:p>
          <a:p>
            <a:pPr marL="0" indent="0">
              <a:lnSpc>
                <a:spcPct val="125000"/>
              </a:lnSpc>
              <a:buNone/>
            </a:pPr>
            <a:r>
              <a:rPr lang="en-US" sz="1000" dirty="0">
                <a:solidFill>
                  <a:srgbClr val="FFFFFF"/>
                </a:solidFill>
                <a:latin typeface="Courier New" pitchFamily="34" charset="0"/>
                <a:ea typeface="Courier New" pitchFamily="34" charset="-122"/>
                <a:cs typeface="Courier New" pitchFamily="34" charset="-120"/>
              </a:rPr>
              <a:t>meta_X = concat(oof_preds, X_train)   # passthrough</a:t>
            </a:r>
            <a:endParaRPr lang="en-US" sz="1000" dirty="0"/>
          </a:p>
          <a:p>
            <a:pPr marL="0" indent="0">
              <a:lnSpc>
                <a:spcPct val="125000"/>
              </a:lnSpc>
              <a:buNone/>
            </a:pPr>
            <a:r>
              <a:rPr lang="en-US" sz="1000" dirty="0">
                <a:solidFill>
                  <a:srgbClr val="FFFFFF"/>
                </a:solidFill>
                <a:latin typeface="Courier New" pitchFamily="34" charset="0"/>
                <a:ea typeface="Courier New" pitchFamily="34" charset="-122"/>
                <a:cs typeface="Courier New" pitchFamily="34" charset="-120"/>
              </a:rPr>
              <a:t>fit LinReg on meta_X, y_train</a:t>
            </a:r>
            <a:endParaRPr lang="en-US" sz="1000" dirty="0"/>
          </a:p>
          <a:p>
            <a:pPr marL="0" indent="0">
              <a:lnSpc>
                <a:spcPct val="125000"/>
              </a:lnSpc>
              <a:buNone/>
            </a:pPr>
            <a:r>
              <a:rPr lang="en-US" sz="1000" dirty="0">
                <a:solidFill>
                  <a:srgbClr val="FFFFFF"/>
                </a:solidFill>
                <a:latin typeface="Courier New" pitchFamily="34" charset="0"/>
                <a:ea typeface="Courier New" pitchFamily="34" charset="-122"/>
                <a:cs typeface="Courier New" pitchFamily="34" charset="-120"/>
              </a:rPr>
              <a:t>predict(X_test) → combine base preds</a:t>
            </a:r>
            <a:endParaRPr lang="en-US" sz="1000" dirty="0"/>
          </a:p>
          <a:p>
            <a:pPr marL="0" indent="0">
              <a:lnSpc>
                <a:spcPct val="125000"/>
              </a:lnSpc>
              <a:buNone/>
            </a:pPr>
            <a:r>
              <a:rPr lang="en-US" sz="1000" dirty="0">
                <a:solidFill>
                  <a:srgbClr val="FFFFFF"/>
                </a:solidFill>
                <a:latin typeface="Courier New" pitchFamily="34" charset="0"/>
                <a:ea typeface="Courier New" pitchFamily="34" charset="-122"/>
                <a:cs typeface="Courier New" pitchFamily="34" charset="-120"/>
              </a:rPr>
              <a:t>                 → feed into LinReg</a:t>
            </a:r>
            <a:endParaRPr lang="en-US" sz="1000" dirty="0"/>
          </a:p>
        </p:txBody>
      </p:sp>
      <p:sp>
        <p:nvSpPr>
          <p:cNvPr id="26" name="Shape 20"/>
          <p:cNvSpPr/>
          <p:nvPr/>
        </p:nvSpPr>
        <p:spPr>
          <a:xfrm>
            <a:off x="6035040" y="4160520"/>
            <a:ext cx="5577840" cy="1965960"/>
          </a:xfrm>
          <a:prstGeom prst="roundRect">
            <a:avLst>
              <a:gd name="adj" fmla="val 3721"/>
            </a:avLst>
          </a:prstGeom>
          <a:solidFill>
            <a:srgbClr val="EFF6FF"/>
          </a:solidFill>
          <a:ln/>
        </p:spPr>
        <p:txBody>
          <a:bodyPr/>
          <a:lstStyle/>
          <a:p>
            <a:endParaRPr lang="en-US"/>
          </a:p>
        </p:txBody>
      </p:sp>
      <p:sp>
        <p:nvSpPr>
          <p:cNvPr id="27" name="Text 21"/>
          <p:cNvSpPr/>
          <p:nvPr/>
        </p:nvSpPr>
        <p:spPr>
          <a:xfrm>
            <a:off x="6309360" y="4315968"/>
            <a:ext cx="4572000" cy="256032"/>
          </a:xfrm>
          <a:prstGeom prst="rect">
            <a:avLst/>
          </a:prstGeom>
          <a:noFill/>
          <a:ln/>
        </p:spPr>
        <p:txBody>
          <a:bodyPr wrap="square" rtlCol="0" anchor="ctr"/>
          <a:lstStyle/>
          <a:p>
            <a:pPr marL="0" indent="0">
              <a:buNone/>
            </a:pPr>
            <a:r>
              <a:rPr lang="en-US" sz="1000" b="1" kern="0" spc="150" dirty="0">
                <a:solidFill>
                  <a:srgbClr val="1E3A8A"/>
                </a:solidFill>
                <a:latin typeface="Arial" pitchFamily="34" charset="0"/>
                <a:ea typeface="Arial" pitchFamily="34" charset="-122"/>
                <a:cs typeface="Arial" pitchFamily="34" charset="-120"/>
              </a:rPr>
              <a:t>COMPLEXITY</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2143950526"/>
              </p:ext>
            </p:extLst>
          </p:nvPr>
        </p:nvGraphicFramePr>
        <p:xfrm>
          <a:off x="6309360" y="4671030"/>
          <a:ext cx="5029200" cy="941832"/>
        </p:xfrm>
        <a:graphic>
          <a:graphicData uri="http://schemas.openxmlformats.org/drawingml/2006/table">
            <a:tbl>
              <a:tblPr/>
              <a:tblGrid>
                <a:gridCol w="2103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13944">
                <a:tc>
                  <a:txBody>
                    <a:bodyPr/>
                    <a:lstStyle/>
                    <a:p>
                      <a:pPr marL="0" indent="0">
                        <a:buNone/>
                      </a:pPr>
                      <a:r>
                        <a:rPr lang="en-US" sz="1000" b="1" dirty="0">
                          <a:solidFill>
                            <a:srgbClr val="FFFFFF"/>
                          </a:solidFill>
                          <a:latin typeface="Arial" pitchFamily="34" charset="0"/>
                          <a:ea typeface="Arial" pitchFamily="34" charset="-122"/>
                          <a:cs typeface="Arial" pitchFamily="34" charset="-120"/>
                        </a:rPr>
                        <a:t>Model</a:t>
                      </a:r>
                      <a:endParaRPr lang="en-US" sz="10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1E3A8A"/>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Time</a:t>
                      </a:r>
                      <a:endParaRPr lang="en-US" sz="10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1E3A8A"/>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Space</a:t>
                      </a:r>
                      <a:endParaRPr lang="en-US" sz="10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1E3A8A"/>
                    </a:solidFill>
                  </a:tcPr>
                </a:tc>
                <a:extLst>
                  <a:ext uri="{0D108BD9-81ED-4DB2-BD59-A6C34878D82A}">
                    <a16:rowId xmlns:a16="http://schemas.microsoft.com/office/drawing/2014/main" val="10000"/>
                  </a:ext>
                </a:extLst>
              </a:tr>
              <a:tr h="313944">
                <a:tc>
                  <a:txBody>
                    <a:bodyPr/>
                    <a:lstStyle/>
                    <a:p>
                      <a:pPr marL="0" indent="0">
                        <a:buNone/>
                      </a:pPr>
                      <a:r>
                        <a:rPr lang="en-US" sz="1000" dirty="0">
                          <a:solidFill>
                            <a:srgbClr val="111827"/>
                          </a:solidFill>
                          <a:latin typeface="Arial" pitchFamily="34" charset="0"/>
                          <a:ea typeface="Arial" pitchFamily="34" charset="-122"/>
                          <a:cs typeface="Arial" pitchFamily="34" charset="-120"/>
                        </a:rPr>
                        <a:t>Linear Regression</a:t>
                      </a:r>
                      <a:endParaRPr lang="en-US" sz="10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7FAFF"/>
                    </a:solidFill>
                  </a:tcPr>
                </a:tc>
                <a:tc>
                  <a:txBody>
                    <a:bodyPr/>
                    <a:lstStyle/>
                    <a:p>
                      <a:pPr marL="0" indent="0">
                        <a:buNone/>
                      </a:pPr>
                      <a:r>
                        <a:rPr lang="en-US" sz="1000" dirty="0">
                          <a:solidFill>
                            <a:srgbClr val="111827"/>
                          </a:solidFill>
                          <a:latin typeface="Arial" pitchFamily="34" charset="0"/>
                          <a:ea typeface="Arial" pitchFamily="34" charset="-122"/>
                          <a:cs typeface="Arial" pitchFamily="34" charset="-120"/>
                        </a:rPr>
                        <a:t>O(n·f)</a:t>
                      </a:r>
                      <a:endParaRPr lang="en-US" sz="10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7FAFF"/>
                    </a:solidFill>
                  </a:tcPr>
                </a:tc>
                <a:tc>
                  <a:txBody>
                    <a:bodyPr/>
                    <a:lstStyle/>
                    <a:p>
                      <a:pPr marL="0" indent="0">
                        <a:buNone/>
                      </a:pPr>
                      <a:r>
                        <a:rPr lang="en-US" sz="1000" dirty="0">
                          <a:solidFill>
                            <a:srgbClr val="111827"/>
                          </a:solidFill>
                          <a:latin typeface="Arial" pitchFamily="34" charset="0"/>
                          <a:ea typeface="Arial" pitchFamily="34" charset="-122"/>
                          <a:cs typeface="Arial" pitchFamily="34" charset="-120"/>
                        </a:rPr>
                        <a:t>O(f)</a:t>
                      </a:r>
                      <a:endParaRPr lang="en-US" sz="10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7FAFF"/>
                    </a:solidFill>
                  </a:tcPr>
                </a:tc>
                <a:extLst>
                  <a:ext uri="{0D108BD9-81ED-4DB2-BD59-A6C34878D82A}">
                    <a16:rowId xmlns:a16="http://schemas.microsoft.com/office/drawing/2014/main" val="10001"/>
                  </a:ext>
                </a:extLst>
              </a:tr>
              <a:tr h="313944">
                <a:tc>
                  <a:txBody>
                    <a:bodyPr/>
                    <a:lstStyle/>
                    <a:p>
                      <a:pPr marL="0" indent="0">
                        <a:buNone/>
                      </a:pPr>
                      <a:r>
                        <a:rPr lang="en-US" sz="1000" dirty="0">
                          <a:solidFill>
                            <a:srgbClr val="111827"/>
                          </a:solidFill>
                          <a:latin typeface="Arial" pitchFamily="34" charset="0"/>
                          <a:ea typeface="Arial" pitchFamily="34" charset="-122"/>
                          <a:cs typeface="Arial" pitchFamily="34" charset="-120"/>
                        </a:rPr>
                        <a:t>XGBoost (meta)</a:t>
                      </a:r>
                      <a:endParaRPr lang="en-US" sz="10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7FAFF"/>
                    </a:solidFill>
                  </a:tcPr>
                </a:tc>
                <a:tc>
                  <a:txBody>
                    <a:bodyPr/>
                    <a:lstStyle/>
                    <a:p>
                      <a:pPr marL="0" indent="0">
                        <a:buNone/>
                      </a:pPr>
                      <a:r>
                        <a:rPr lang="en-US" sz="1000" dirty="0">
                          <a:solidFill>
                            <a:srgbClr val="111827"/>
                          </a:solidFill>
                          <a:latin typeface="Arial" pitchFamily="34" charset="0"/>
                          <a:ea typeface="Arial" pitchFamily="34" charset="-122"/>
                          <a:cs typeface="Arial" pitchFamily="34" charset="-120"/>
                        </a:rPr>
                        <a:t>O(t·n·f)</a:t>
                      </a:r>
                      <a:endParaRPr lang="en-US" sz="10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7FAFF"/>
                    </a:solidFill>
                  </a:tcPr>
                </a:tc>
                <a:tc>
                  <a:txBody>
                    <a:bodyPr/>
                    <a:lstStyle/>
                    <a:p>
                      <a:pPr marL="0" indent="0">
                        <a:buNone/>
                      </a:pPr>
                      <a:r>
                        <a:rPr lang="en-US" sz="1000" dirty="0">
                          <a:solidFill>
                            <a:srgbClr val="111827"/>
                          </a:solidFill>
                          <a:latin typeface="Arial" pitchFamily="34" charset="0"/>
                          <a:ea typeface="Arial" pitchFamily="34" charset="-122"/>
                          <a:cs typeface="Arial" pitchFamily="34" charset="-120"/>
                        </a:rPr>
                        <a:t>O(t·nodes)</a:t>
                      </a:r>
                      <a:endParaRPr lang="en-US" sz="1000" dirty="0">
                        <a:latin typeface="Arial" charset="0"/>
                        <a:ea typeface="Arial" charset="0"/>
                        <a:cs typeface="Arial" charset="0"/>
                      </a:endParaRPr>
                    </a:p>
                  </a:txBody>
                  <a:tcP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7FAFF"/>
                    </a:solidFill>
                  </a:tcPr>
                </a:tc>
                <a:extLst>
                  <a:ext uri="{0D108BD9-81ED-4DB2-BD59-A6C34878D82A}">
                    <a16:rowId xmlns:a16="http://schemas.microsoft.com/office/drawing/2014/main" val="10003"/>
                  </a:ext>
                </a:extLst>
              </a:tr>
            </a:tbl>
          </a:graphicData>
        </a:graphic>
      </p:graphicFrame>
      <p:sp>
        <p:nvSpPr>
          <p:cNvPr id="29" name="Text 22"/>
          <p:cNvSpPr/>
          <p:nvPr/>
        </p:nvSpPr>
        <p:spPr>
          <a:xfrm>
            <a:off x="6309360" y="5897880"/>
            <a:ext cx="5029200" cy="228600"/>
          </a:xfrm>
          <a:prstGeom prst="rect">
            <a:avLst/>
          </a:prstGeom>
          <a:noFill/>
          <a:ln/>
        </p:spPr>
        <p:txBody>
          <a:bodyPr wrap="square" rtlCol="0" anchor="ctr"/>
          <a:lstStyle/>
          <a:p>
            <a:pPr marL="0" indent="0">
              <a:buNone/>
            </a:pPr>
            <a:r>
              <a:rPr lang="en-US" sz="900" i="1" dirty="0">
                <a:solidFill>
                  <a:srgbClr val="4B5563"/>
                </a:solidFill>
                <a:latin typeface="Arial" pitchFamily="34" charset="0"/>
                <a:ea typeface="Arial" pitchFamily="34" charset="-122"/>
                <a:cs typeface="Arial" pitchFamily="34" charset="-120"/>
              </a:rPr>
              <a:t>n = samples, f = features, t = trees/estimators</a:t>
            </a:r>
            <a:endParaRPr lang="en-US" sz="900" dirty="0"/>
          </a:p>
        </p:txBody>
      </p:sp>
      <p:sp>
        <p:nvSpPr>
          <p:cNvPr id="30" name="Text 23"/>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720770" cy="365760"/>
          </a:xfrm>
          <a:prstGeom prst="roundRect">
            <a:avLst>
              <a:gd name="adj" fmla="val 20000"/>
            </a:avLst>
          </a:prstGeom>
          <a:solidFill>
            <a:srgbClr val="EFF6FF"/>
          </a:solidFill>
          <a:ln/>
        </p:spPr>
        <p:txBody>
          <a:bodyPr/>
          <a:lstStyle/>
          <a:p>
            <a:endParaRPr lang="en-US"/>
          </a:p>
        </p:txBody>
      </p:sp>
      <p:sp>
        <p:nvSpPr>
          <p:cNvPr id="3" name="Text 1"/>
          <p:cNvSpPr/>
          <p:nvPr/>
        </p:nvSpPr>
        <p:spPr>
          <a:xfrm>
            <a:off x="548639" y="457200"/>
            <a:ext cx="2720771" cy="365760"/>
          </a:xfrm>
          <a:prstGeom prst="rect">
            <a:avLst/>
          </a:prstGeom>
          <a:noFill/>
          <a:ln/>
        </p:spPr>
        <p:txBody>
          <a:bodyPr wrap="square" rtlCol="0" anchor="ctr"/>
          <a:lstStyle/>
          <a:p>
            <a:pPr marL="0" indent="0" algn="ctr">
              <a:buNone/>
            </a:pPr>
            <a:r>
              <a:rPr lang="en-US" sz="1100" b="1" kern="0" spc="200" dirty="0">
                <a:solidFill>
                  <a:srgbClr val="1E3A8A"/>
                </a:solidFill>
                <a:latin typeface="Arial" pitchFamily="34" charset="0"/>
                <a:ea typeface="Arial" pitchFamily="34" charset="-122"/>
                <a:cs typeface="Arial" pitchFamily="34" charset="-120"/>
              </a:rPr>
              <a:t>07  ·  CODE ARCHITECTURE</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200" b="1" dirty="0">
                <a:solidFill>
                  <a:srgbClr val="111827"/>
                </a:solidFill>
                <a:latin typeface="Arial" pitchFamily="34" charset="0"/>
                <a:ea typeface="Arial" pitchFamily="34" charset="-122"/>
                <a:cs typeface="Arial" pitchFamily="34" charset="-120"/>
              </a:rPr>
              <a:t>Module-by-Module Breakdown</a:t>
            </a:r>
            <a:endParaRPr lang="en-US" sz="3200" dirty="0"/>
          </a:p>
        </p:txBody>
      </p:sp>
      <p:sp>
        <p:nvSpPr>
          <p:cNvPr id="5" name="Shape 3"/>
          <p:cNvSpPr/>
          <p:nvPr/>
        </p:nvSpPr>
        <p:spPr>
          <a:xfrm>
            <a:off x="548640" y="1783080"/>
            <a:ext cx="2651760" cy="1920240"/>
          </a:xfrm>
          <a:prstGeom prst="roundRect">
            <a:avLst>
              <a:gd name="adj" fmla="val 3810"/>
            </a:avLst>
          </a:prstGeom>
          <a:solidFill>
            <a:srgbClr val="FFFFFF"/>
          </a:solidFill>
          <a:ln w="12700">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6" name="Shape 4"/>
          <p:cNvSpPr/>
          <p:nvPr/>
        </p:nvSpPr>
        <p:spPr>
          <a:xfrm>
            <a:off x="731520" y="1965960"/>
            <a:ext cx="502920" cy="502920"/>
          </a:xfrm>
          <a:prstGeom prst="ellipse">
            <a:avLst/>
          </a:prstGeom>
          <a:solidFill>
            <a:srgbClr val="1E3A8A"/>
          </a:solidFill>
          <a:ln/>
        </p:spPr>
        <p:txBody>
          <a:bodyPr/>
          <a:lstStyle/>
          <a:p>
            <a:endParaRPr lang="en-US"/>
          </a:p>
        </p:txBody>
      </p:sp>
      <p:pic>
        <p:nvPicPr>
          <p:cNvPr id="7" name="Image 0" descr="/home/claude/icons/database_white.png"/>
          <p:cNvPicPr>
            <a:picLocks noChangeAspect="1"/>
          </p:cNvPicPr>
          <p:nvPr/>
        </p:nvPicPr>
        <p:blipFill>
          <a:blip r:embed="rId3"/>
          <a:stretch>
            <a:fillRect/>
          </a:stretch>
        </p:blipFill>
        <p:spPr>
          <a:xfrm>
            <a:off x="845820" y="2080260"/>
            <a:ext cx="274320" cy="274320"/>
          </a:xfrm>
          <a:prstGeom prst="rect">
            <a:avLst/>
          </a:prstGeom>
        </p:spPr>
      </p:pic>
      <p:sp>
        <p:nvSpPr>
          <p:cNvPr id="8" name="Text 5"/>
          <p:cNvSpPr/>
          <p:nvPr/>
        </p:nvSpPr>
        <p:spPr>
          <a:xfrm>
            <a:off x="731520" y="2560320"/>
            <a:ext cx="2286000" cy="411480"/>
          </a:xfrm>
          <a:prstGeom prst="rect">
            <a:avLst/>
          </a:prstGeom>
          <a:noFill/>
          <a:ln/>
        </p:spPr>
        <p:txBody>
          <a:bodyPr wrap="square" rtlCol="0" anchor="ctr"/>
          <a:lstStyle/>
          <a:p>
            <a:pPr marL="0" indent="0">
              <a:buNone/>
            </a:pPr>
            <a:r>
              <a:rPr lang="en-US" sz="1150" b="1" dirty="0">
                <a:solidFill>
                  <a:srgbClr val="111827"/>
                </a:solidFill>
                <a:latin typeface="Arial" pitchFamily="34" charset="0"/>
                <a:ea typeface="Arial" pitchFamily="34" charset="-122"/>
                <a:cs typeface="Arial" pitchFamily="34" charset="-120"/>
              </a:rPr>
              <a:t>1. Setup &amp; Ingestion</a:t>
            </a:r>
            <a:endParaRPr lang="en-US" sz="1150" dirty="0"/>
          </a:p>
        </p:txBody>
      </p:sp>
      <p:sp>
        <p:nvSpPr>
          <p:cNvPr id="9" name="Text 6"/>
          <p:cNvSpPr/>
          <p:nvPr/>
        </p:nvSpPr>
        <p:spPr>
          <a:xfrm>
            <a:off x="731520" y="2953512"/>
            <a:ext cx="2286000" cy="685800"/>
          </a:xfrm>
          <a:prstGeom prst="rect">
            <a:avLst/>
          </a:prstGeom>
          <a:noFill/>
          <a:ln/>
        </p:spPr>
        <p:txBody>
          <a:bodyPr wrap="square" rtlCol="0" anchor="ctr"/>
          <a:lstStyle/>
          <a:p>
            <a:pPr marL="0" indent="0">
              <a:lnSpc>
                <a:spcPct val="115000"/>
              </a:lnSpc>
              <a:buNone/>
            </a:pPr>
            <a:r>
              <a:rPr lang="en-US" sz="950" dirty="0">
                <a:solidFill>
                  <a:srgbClr val="4B5563"/>
                </a:solidFill>
                <a:latin typeface="Arial" pitchFamily="34" charset="0"/>
                <a:ea typeface="Arial" pitchFamily="34" charset="-122"/>
                <a:cs typeface="Arial" pitchFamily="34" charset="-120"/>
              </a:rPr>
              <a:t>Mount Drive, import pandas/numpy/sklearn/</a:t>
            </a:r>
            <a:r>
              <a:rPr lang="en-US" sz="950" dirty="0" err="1">
                <a:solidFill>
                  <a:srgbClr val="4B5563"/>
                </a:solidFill>
                <a:latin typeface="Arial" pitchFamily="34" charset="0"/>
                <a:ea typeface="Arial" pitchFamily="34" charset="-122"/>
                <a:cs typeface="Arial" pitchFamily="34" charset="-120"/>
              </a:rPr>
              <a:t>xgboost</a:t>
            </a:r>
            <a:r>
              <a:rPr lang="en-US" sz="950" dirty="0">
                <a:solidFill>
                  <a:srgbClr val="4B5563"/>
                </a:solidFill>
                <a:latin typeface="Arial" pitchFamily="34" charset="0"/>
                <a:ea typeface="Arial" pitchFamily="34" charset="-122"/>
                <a:cs typeface="Arial" pitchFamily="34" charset="-120"/>
              </a:rPr>
              <a:t>, read CSV into df.</a:t>
            </a:r>
            <a:endParaRPr lang="en-US" sz="950" dirty="0"/>
          </a:p>
        </p:txBody>
      </p:sp>
      <p:sp>
        <p:nvSpPr>
          <p:cNvPr id="10" name="Shape 7"/>
          <p:cNvSpPr/>
          <p:nvPr/>
        </p:nvSpPr>
        <p:spPr>
          <a:xfrm>
            <a:off x="3337560" y="1783080"/>
            <a:ext cx="2651760" cy="1920240"/>
          </a:xfrm>
          <a:prstGeom prst="roundRect">
            <a:avLst>
              <a:gd name="adj" fmla="val 3810"/>
            </a:avLst>
          </a:prstGeom>
          <a:solidFill>
            <a:srgbClr val="FFFFFF"/>
          </a:solidFill>
          <a:ln w="12700">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11" name="Shape 8"/>
          <p:cNvSpPr/>
          <p:nvPr/>
        </p:nvSpPr>
        <p:spPr>
          <a:xfrm>
            <a:off x="3520440" y="1965960"/>
            <a:ext cx="502920" cy="502920"/>
          </a:xfrm>
          <a:prstGeom prst="ellipse">
            <a:avLst/>
          </a:prstGeom>
          <a:solidFill>
            <a:srgbClr val="1E3A8A"/>
          </a:solidFill>
          <a:ln/>
        </p:spPr>
        <p:txBody>
          <a:bodyPr/>
          <a:lstStyle/>
          <a:p>
            <a:endParaRPr lang="en-US"/>
          </a:p>
        </p:txBody>
      </p:sp>
      <p:pic>
        <p:nvPicPr>
          <p:cNvPr id="12" name="Image 1" descr="/home/claude/icons/filter_white.png"/>
          <p:cNvPicPr>
            <a:picLocks noChangeAspect="1"/>
          </p:cNvPicPr>
          <p:nvPr/>
        </p:nvPicPr>
        <p:blipFill>
          <a:blip r:embed="rId4"/>
          <a:stretch>
            <a:fillRect/>
          </a:stretch>
        </p:blipFill>
        <p:spPr>
          <a:xfrm>
            <a:off x="3634740" y="2080260"/>
            <a:ext cx="274320" cy="274320"/>
          </a:xfrm>
          <a:prstGeom prst="rect">
            <a:avLst/>
          </a:prstGeom>
        </p:spPr>
      </p:pic>
      <p:sp>
        <p:nvSpPr>
          <p:cNvPr id="13" name="Text 9"/>
          <p:cNvSpPr/>
          <p:nvPr/>
        </p:nvSpPr>
        <p:spPr>
          <a:xfrm>
            <a:off x="3520440" y="2560320"/>
            <a:ext cx="2286000" cy="411480"/>
          </a:xfrm>
          <a:prstGeom prst="rect">
            <a:avLst/>
          </a:prstGeom>
          <a:noFill/>
          <a:ln/>
        </p:spPr>
        <p:txBody>
          <a:bodyPr wrap="square" rtlCol="0" anchor="ctr"/>
          <a:lstStyle/>
          <a:p>
            <a:pPr marL="0" indent="0">
              <a:buNone/>
            </a:pPr>
            <a:r>
              <a:rPr lang="en-US" sz="1150" b="1" dirty="0">
                <a:solidFill>
                  <a:srgbClr val="111827"/>
                </a:solidFill>
                <a:latin typeface="Arial" pitchFamily="34" charset="0"/>
                <a:ea typeface="Arial" pitchFamily="34" charset="-122"/>
                <a:cs typeface="Arial" pitchFamily="34" charset="-120"/>
              </a:rPr>
              <a:t>2. Data Cleaning</a:t>
            </a:r>
            <a:endParaRPr lang="en-US" sz="1150" dirty="0"/>
          </a:p>
        </p:txBody>
      </p:sp>
      <p:sp>
        <p:nvSpPr>
          <p:cNvPr id="14" name="Text 10"/>
          <p:cNvSpPr/>
          <p:nvPr/>
        </p:nvSpPr>
        <p:spPr>
          <a:xfrm>
            <a:off x="3520440" y="2953512"/>
            <a:ext cx="2286000" cy="685800"/>
          </a:xfrm>
          <a:prstGeom prst="rect">
            <a:avLst/>
          </a:prstGeom>
          <a:noFill/>
          <a:ln/>
        </p:spPr>
        <p:txBody>
          <a:bodyPr wrap="square" rtlCol="0" anchor="ctr"/>
          <a:lstStyle/>
          <a:p>
            <a:pPr marL="0" indent="0">
              <a:lnSpc>
                <a:spcPct val="115000"/>
              </a:lnSpc>
              <a:buNone/>
            </a:pPr>
            <a:r>
              <a:rPr lang="en-US" sz="950" dirty="0">
                <a:solidFill>
                  <a:srgbClr val="4B5563"/>
                </a:solidFill>
                <a:latin typeface="Arial" pitchFamily="34" charset="0"/>
                <a:ea typeface="Arial" pitchFamily="34" charset="-122"/>
                <a:cs typeface="Arial" pitchFamily="34" charset="-120"/>
              </a:rPr>
              <a:t>fillna(mean/mode) per dtype, drop_duplicates(), shape verification.</a:t>
            </a:r>
            <a:endParaRPr lang="en-US" sz="950" dirty="0"/>
          </a:p>
        </p:txBody>
      </p:sp>
      <p:sp>
        <p:nvSpPr>
          <p:cNvPr id="15" name="Shape 11"/>
          <p:cNvSpPr/>
          <p:nvPr/>
        </p:nvSpPr>
        <p:spPr>
          <a:xfrm>
            <a:off x="6126480" y="1783080"/>
            <a:ext cx="2651760" cy="1920240"/>
          </a:xfrm>
          <a:prstGeom prst="roundRect">
            <a:avLst>
              <a:gd name="adj" fmla="val 3810"/>
            </a:avLst>
          </a:prstGeom>
          <a:solidFill>
            <a:srgbClr val="FFFFFF"/>
          </a:solidFill>
          <a:ln w="12700">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16" name="Shape 12"/>
          <p:cNvSpPr/>
          <p:nvPr/>
        </p:nvSpPr>
        <p:spPr>
          <a:xfrm>
            <a:off x="6309360" y="1965960"/>
            <a:ext cx="502920" cy="502920"/>
          </a:xfrm>
          <a:prstGeom prst="ellipse">
            <a:avLst/>
          </a:prstGeom>
          <a:solidFill>
            <a:srgbClr val="1E3A8A"/>
          </a:solidFill>
          <a:ln/>
        </p:spPr>
        <p:txBody>
          <a:bodyPr/>
          <a:lstStyle/>
          <a:p>
            <a:endParaRPr lang="en-US"/>
          </a:p>
        </p:txBody>
      </p:sp>
      <p:pic>
        <p:nvPicPr>
          <p:cNvPr id="17" name="Image 2" descr="/home/claude/icons/chart_bar_white.png"/>
          <p:cNvPicPr>
            <a:picLocks noChangeAspect="1"/>
          </p:cNvPicPr>
          <p:nvPr/>
        </p:nvPicPr>
        <p:blipFill>
          <a:blip r:embed="rId5"/>
          <a:stretch>
            <a:fillRect/>
          </a:stretch>
        </p:blipFill>
        <p:spPr>
          <a:xfrm>
            <a:off x="6423660" y="2080260"/>
            <a:ext cx="274320" cy="274320"/>
          </a:xfrm>
          <a:prstGeom prst="rect">
            <a:avLst/>
          </a:prstGeom>
        </p:spPr>
      </p:pic>
      <p:sp>
        <p:nvSpPr>
          <p:cNvPr id="18" name="Text 13"/>
          <p:cNvSpPr/>
          <p:nvPr/>
        </p:nvSpPr>
        <p:spPr>
          <a:xfrm>
            <a:off x="6309360" y="2560320"/>
            <a:ext cx="2286000" cy="411480"/>
          </a:xfrm>
          <a:prstGeom prst="rect">
            <a:avLst/>
          </a:prstGeom>
          <a:noFill/>
          <a:ln/>
        </p:spPr>
        <p:txBody>
          <a:bodyPr wrap="square" rtlCol="0" anchor="ctr"/>
          <a:lstStyle/>
          <a:p>
            <a:pPr marL="0" indent="0">
              <a:buNone/>
            </a:pPr>
            <a:r>
              <a:rPr lang="en-US" sz="1150" b="1" dirty="0">
                <a:solidFill>
                  <a:srgbClr val="111827"/>
                </a:solidFill>
                <a:latin typeface="Arial" pitchFamily="34" charset="0"/>
                <a:ea typeface="Arial" pitchFamily="34" charset="-122"/>
                <a:cs typeface="Arial" pitchFamily="34" charset="-120"/>
              </a:rPr>
              <a:t>3. EDA</a:t>
            </a:r>
            <a:endParaRPr lang="en-US" sz="1150" dirty="0"/>
          </a:p>
        </p:txBody>
      </p:sp>
      <p:sp>
        <p:nvSpPr>
          <p:cNvPr id="19" name="Text 14"/>
          <p:cNvSpPr/>
          <p:nvPr/>
        </p:nvSpPr>
        <p:spPr>
          <a:xfrm>
            <a:off x="6309360" y="2953512"/>
            <a:ext cx="2286000" cy="685800"/>
          </a:xfrm>
          <a:prstGeom prst="rect">
            <a:avLst/>
          </a:prstGeom>
          <a:noFill/>
          <a:ln/>
        </p:spPr>
        <p:txBody>
          <a:bodyPr wrap="square" rtlCol="0" anchor="ctr"/>
          <a:lstStyle/>
          <a:p>
            <a:pPr marL="0" indent="0">
              <a:lnSpc>
                <a:spcPct val="115000"/>
              </a:lnSpc>
              <a:buNone/>
            </a:pPr>
            <a:r>
              <a:rPr lang="en-US" sz="950" dirty="0">
                <a:solidFill>
                  <a:srgbClr val="4B5563"/>
                </a:solidFill>
                <a:latin typeface="Arial" pitchFamily="34" charset="0"/>
                <a:ea typeface="Arial" pitchFamily="34" charset="-122"/>
                <a:cs typeface="Arial" pitchFamily="34" charset="-120"/>
              </a:rPr>
              <a:t>seaborn histplot, scatterplot, pairplot, and heatmap for correlation.</a:t>
            </a:r>
            <a:endParaRPr lang="en-US" sz="950" dirty="0"/>
          </a:p>
        </p:txBody>
      </p:sp>
      <p:sp>
        <p:nvSpPr>
          <p:cNvPr id="20" name="Shape 15"/>
          <p:cNvSpPr/>
          <p:nvPr/>
        </p:nvSpPr>
        <p:spPr>
          <a:xfrm>
            <a:off x="8915400" y="1783080"/>
            <a:ext cx="2651760" cy="1920240"/>
          </a:xfrm>
          <a:prstGeom prst="roundRect">
            <a:avLst>
              <a:gd name="adj" fmla="val 3810"/>
            </a:avLst>
          </a:prstGeom>
          <a:solidFill>
            <a:srgbClr val="FFFFFF"/>
          </a:solidFill>
          <a:ln w="12700">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21" name="Shape 16"/>
          <p:cNvSpPr/>
          <p:nvPr/>
        </p:nvSpPr>
        <p:spPr>
          <a:xfrm>
            <a:off x="9098280" y="1965960"/>
            <a:ext cx="502920" cy="502920"/>
          </a:xfrm>
          <a:prstGeom prst="ellipse">
            <a:avLst/>
          </a:prstGeom>
          <a:solidFill>
            <a:srgbClr val="1E3A8A"/>
          </a:solidFill>
          <a:ln/>
        </p:spPr>
        <p:txBody>
          <a:bodyPr/>
          <a:lstStyle/>
          <a:p>
            <a:endParaRPr lang="en-US"/>
          </a:p>
        </p:txBody>
      </p:sp>
      <p:pic>
        <p:nvPicPr>
          <p:cNvPr id="22" name="Image 3" descr="/home/claude/icons/cogs_white.png"/>
          <p:cNvPicPr>
            <a:picLocks noChangeAspect="1"/>
          </p:cNvPicPr>
          <p:nvPr/>
        </p:nvPicPr>
        <p:blipFill>
          <a:blip r:embed="rId6"/>
          <a:stretch>
            <a:fillRect/>
          </a:stretch>
        </p:blipFill>
        <p:spPr>
          <a:xfrm>
            <a:off x="9212580" y="2080260"/>
            <a:ext cx="274320" cy="274320"/>
          </a:xfrm>
          <a:prstGeom prst="rect">
            <a:avLst/>
          </a:prstGeom>
        </p:spPr>
      </p:pic>
      <p:sp>
        <p:nvSpPr>
          <p:cNvPr id="23" name="Text 17"/>
          <p:cNvSpPr/>
          <p:nvPr/>
        </p:nvSpPr>
        <p:spPr>
          <a:xfrm>
            <a:off x="9098280" y="2560320"/>
            <a:ext cx="2286000" cy="411480"/>
          </a:xfrm>
          <a:prstGeom prst="rect">
            <a:avLst/>
          </a:prstGeom>
          <a:noFill/>
          <a:ln/>
        </p:spPr>
        <p:txBody>
          <a:bodyPr wrap="square" rtlCol="0" anchor="ctr"/>
          <a:lstStyle/>
          <a:p>
            <a:pPr marL="0" indent="0">
              <a:buNone/>
            </a:pPr>
            <a:r>
              <a:rPr lang="en-US" sz="1150" b="1" dirty="0">
                <a:solidFill>
                  <a:srgbClr val="111827"/>
                </a:solidFill>
                <a:latin typeface="Arial" pitchFamily="34" charset="0"/>
                <a:ea typeface="Arial" pitchFamily="34" charset="-122"/>
                <a:cs typeface="Arial" pitchFamily="34" charset="-120"/>
              </a:rPr>
              <a:t>4. Feature Prep</a:t>
            </a:r>
            <a:endParaRPr lang="en-US" sz="1150" dirty="0"/>
          </a:p>
        </p:txBody>
      </p:sp>
      <p:sp>
        <p:nvSpPr>
          <p:cNvPr id="24" name="Text 18"/>
          <p:cNvSpPr/>
          <p:nvPr/>
        </p:nvSpPr>
        <p:spPr>
          <a:xfrm>
            <a:off x="9098280" y="2953512"/>
            <a:ext cx="2286000" cy="685800"/>
          </a:xfrm>
          <a:prstGeom prst="rect">
            <a:avLst/>
          </a:prstGeom>
          <a:noFill/>
          <a:ln/>
        </p:spPr>
        <p:txBody>
          <a:bodyPr wrap="square" rtlCol="0" anchor="ctr"/>
          <a:lstStyle/>
          <a:p>
            <a:pPr marL="0" indent="0">
              <a:lnSpc>
                <a:spcPct val="115000"/>
              </a:lnSpc>
              <a:buNone/>
            </a:pPr>
            <a:r>
              <a:rPr lang="en-US" sz="950" dirty="0">
                <a:solidFill>
                  <a:srgbClr val="4B5563"/>
                </a:solidFill>
                <a:latin typeface="Arial" pitchFamily="34" charset="0"/>
                <a:ea typeface="Arial" pitchFamily="34" charset="-122"/>
                <a:cs typeface="Arial" pitchFamily="34" charset="-120"/>
              </a:rPr>
              <a:t>Select 5 features, StandardScaler.fit_transform, train_test_split.</a:t>
            </a:r>
            <a:endParaRPr lang="en-US" sz="950" dirty="0"/>
          </a:p>
        </p:txBody>
      </p:sp>
      <p:sp>
        <p:nvSpPr>
          <p:cNvPr id="25" name="Shape 19"/>
          <p:cNvSpPr/>
          <p:nvPr/>
        </p:nvSpPr>
        <p:spPr>
          <a:xfrm>
            <a:off x="548640" y="3977640"/>
            <a:ext cx="2651760" cy="1920240"/>
          </a:xfrm>
          <a:prstGeom prst="roundRect">
            <a:avLst>
              <a:gd name="adj" fmla="val 3810"/>
            </a:avLst>
          </a:prstGeom>
          <a:solidFill>
            <a:srgbClr val="FFFFFF"/>
          </a:solidFill>
          <a:ln w="12700">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26" name="Shape 20"/>
          <p:cNvSpPr/>
          <p:nvPr/>
        </p:nvSpPr>
        <p:spPr>
          <a:xfrm>
            <a:off x="731520" y="4160520"/>
            <a:ext cx="502920" cy="502920"/>
          </a:xfrm>
          <a:prstGeom prst="ellipse">
            <a:avLst/>
          </a:prstGeom>
          <a:solidFill>
            <a:srgbClr val="1E3A8A"/>
          </a:solidFill>
          <a:ln/>
        </p:spPr>
        <p:txBody>
          <a:bodyPr/>
          <a:lstStyle/>
          <a:p>
            <a:endParaRPr lang="en-US"/>
          </a:p>
        </p:txBody>
      </p:sp>
      <p:pic>
        <p:nvPicPr>
          <p:cNvPr id="27" name="Image 4" descr="/home/claude/icons/layers_white.png"/>
          <p:cNvPicPr>
            <a:picLocks noChangeAspect="1"/>
          </p:cNvPicPr>
          <p:nvPr/>
        </p:nvPicPr>
        <p:blipFill>
          <a:blip r:embed="rId7"/>
          <a:stretch>
            <a:fillRect/>
          </a:stretch>
        </p:blipFill>
        <p:spPr>
          <a:xfrm>
            <a:off x="845820" y="4274820"/>
            <a:ext cx="274320" cy="274320"/>
          </a:xfrm>
          <a:prstGeom prst="rect">
            <a:avLst/>
          </a:prstGeom>
        </p:spPr>
      </p:pic>
      <p:sp>
        <p:nvSpPr>
          <p:cNvPr id="28" name="Text 21"/>
          <p:cNvSpPr/>
          <p:nvPr/>
        </p:nvSpPr>
        <p:spPr>
          <a:xfrm>
            <a:off x="731520" y="4754880"/>
            <a:ext cx="2286000" cy="411480"/>
          </a:xfrm>
          <a:prstGeom prst="rect">
            <a:avLst/>
          </a:prstGeom>
          <a:noFill/>
          <a:ln/>
        </p:spPr>
        <p:txBody>
          <a:bodyPr wrap="square" rtlCol="0" anchor="ctr"/>
          <a:lstStyle/>
          <a:p>
            <a:pPr marL="0" indent="0">
              <a:buNone/>
            </a:pPr>
            <a:r>
              <a:rPr lang="en-US" sz="1150" b="1" dirty="0">
                <a:solidFill>
                  <a:srgbClr val="111827"/>
                </a:solidFill>
                <a:latin typeface="Arial" pitchFamily="34" charset="0"/>
                <a:ea typeface="Arial" pitchFamily="34" charset="-122"/>
                <a:cs typeface="Arial" pitchFamily="34" charset="-120"/>
              </a:rPr>
              <a:t>5. Model Building</a:t>
            </a:r>
            <a:endParaRPr lang="en-US" sz="1150" dirty="0"/>
          </a:p>
        </p:txBody>
      </p:sp>
      <p:sp>
        <p:nvSpPr>
          <p:cNvPr id="29" name="Text 22"/>
          <p:cNvSpPr/>
          <p:nvPr/>
        </p:nvSpPr>
        <p:spPr>
          <a:xfrm>
            <a:off x="731520" y="5148072"/>
            <a:ext cx="2286000" cy="685800"/>
          </a:xfrm>
          <a:prstGeom prst="rect">
            <a:avLst/>
          </a:prstGeom>
          <a:noFill/>
          <a:ln/>
        </p:spPr>
        <p:txBody>
          <a:bodyPr wrap="square" rtlCol="0" anchor="ctr"/>
          <a:lstStyle/>
          <a:p>
            <a:pPr marL="0" indent="0">
              <a:lnSpc>
                <a:spcPct val="115000"/>
              </a:lnSpc>
              <a:buNone/>
            </a:pPr>
            <a:r>
              <a:rPr lang="en-US" sz="950" dirty="0">
                <a:solidFill>
                  <a:srgbClr val="4B5563"/>
                </a:solidFill>
                <a:latin typeface="Arial" pitchFamily="34" charset="0"/>
                <a:ea typeface="Arial" pitchFamily="34" charset="-122"/>
                <a:cs typeface="Arial" pitchFamily="34" charset="-120"/>
              </a:rPr>
              <a:t>StackingRegressor(estimators=[LR, RF], final_estimator=XGB, cv=5).</a:t>
            </a:r>
            <a:endParaRPr lang="en-US" sz="950" dirty="0"/>
          </a:p>
        </p:txBody>
      </p:sp>
      <p:sp>
        <p:nvSpPr>
          <p:cNvPr id="30" name="Shape 23"/>
          <p:cNvSpPr/>
          <p:nvPr/>
        </p:nvSpPr>
        <p:spPr>
          <a:xfrm>
            <a:off x="3337560" y="3977640"/>
            <a:ext cx="2651760" cy="1920240"/>
          </a:xfrm>
          <a:prstGeom prst="roundRect">
            <a:avLst>
              <a:gd name="adj" fmla="val 3810"/>
            </a:avLst>
          </a:prstGeom>
          <a:solidFill>
            <a:srgbClr val="FFFFFF"/>
          </a:solidFill>
          <a:ln w="12700">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31" name="Shape 24"/>
          <p:cNvSpPr/>
          <p:nvPr/>
        </p:nvSpPr>
        <p:spPr>
          <a:xfrm>
            <a:off x="3520440" y="4160520"/>
            <a:ext cx="502920" cy="502920"/>
          </a:xfrm>
          <a:prstGeom prst="ellipse">
            <a:avLst/>
          </a:prstGeom>
          <a:solidFill>
            <a:srgbClr val="1E3A8A"/>
          </a:solidFill>
          <a:ln/>
        </p:spPr>
        <p:txBody>
          <a:bodyPr/>
          <a:lstStyle/>
          <a:p>
            <a:endParaRPr lang="en-US"/>
          </a:p>
        </p:txBody>
      </p:sp>
      <p:pic>
        <p:nvPicPr>
          <p:cNvPr id="32" name="Image 5" descr="/home/claude/icons/check_circle_white.png"/>
          <p:cNvPicPr>
            <a:picLocks noChangeAspect="1"/>
          </p:cNvPicPr>
          <p:nvPr/>
        </p:nvPicPr>
        <p:blipFill>
          <a:blip r:embed="rId8"/>
          <a:stretch>
            <a:fillRect/>
          </a:stretch>
        </p:blipFill>
        <p:spPr>
          <a:xfrm>
            <a:off x="3634740" y="4274820"/>
            <a:ext cx="274320" cy="274320"/>
          </a:xfrm>
          <a:prstGeom prst="rect">
            <a:avLst/>
          </a:prstGeom>
        </p:spPr>
      </p:pic>
      <p:sp>
        <p:nvSpPr>
          <p:cNvPr id="33" name="Text 25"/>
          <p:cNvSpPr/>
          <p:nvPr/>
        </p:nvSpPr>
        <p:spPr>
          <a:xfrm>
            <a:off x="3520440" y="4754880"/>
            <a:ext cx="2286000" cy="411480"/>
          </a:xfrm>
          <a:prstGeom prst="rect">
            <a:avLst/>
          </a:prstGeom>
          <a:noFill/>
          <a:ln/>
        </p:spPr>
        <p:txBody>
          <a:bodyPr wrap="square" rtlCol="0" anchor="ctr"/>
          <a:lstStyle/>
          <a:p>
            <a:pPr marL="0" indent="0">
              <a:buNone/>
            </a:pPr>
            <a:r>
              <a:rPr lang="en-US" sz="1150" b="1" dirty="0">
                <a:solidFill>
                  <a:srgbClr val="111827"/>
                </a:solidFill>
                <a:latin typeface="Arial" pitchFamily="34" charset="0"/>
                <a:ea typeface="Arial" pitchFamily="34" charset="-122"/>
                <a:cs typeface="Arial" pitchFamily="34" charset="-120"/>
              </a:rPr>
              <a:t>6. Evaluation</a:t>
            </a:r>
            <a:endParaRPr lang="en-US" sz="1150" dirty="0"/>
          </a:p>
        </p:txBody>
      </p:sp>
      <p:sp>
        <p:nvSpPr>
          <p:cNvPr id="34" name="Text 26"/>
          <p:cNvSpPr/>
          <p:nvPr/>
        </p:nvSpPr>
        <p:spPr>
          <a:xfrm>
            <a:off x="3520440" y="5148072"/>
            <a:ext cx="2286000" cy="685800"/>
          </a:xfrm>
          <a:prstGeom prst="rect">
            <a:avLst/>
          </a:prstGeom>
          <a:noFill/>
          <a:ln/>
        </p:spPr>
        <p:txBody>
          <a:bodyPr wrap="square" rtlCol="0" anchor="ctr"/>
          <a:lstStyle/>
          <a:p>
            <a:pPr marL="0" indent="0">
              <a:lnSpc>
                <a:spcPct val="115000"/>
              </a:lnSpc>
              <a:buNone/>
            </a:pPr>
            <a:r>
              <a:rPr lang="en-US" sz="950" dirty="0">
                <a:solidFill>
                  <a:srgbClr val="4B5563"/>
                </a:solidFill>
                <a:latin typeface="Arial" pitchFamily="34" charset="0"/>
                <a:ea typeface="Arial" pitchFamily="34" charset="-122"/>
                <a:cs typeface="Arial" pitchFamily="34" charset="-120"/>
              </a:rPr>
              <a:t>model.fit / predict, MAE, MSE, RMSE, R², actual-vs-predicted plot.</a:t>
            </a:r>
            <a:endParaRPr lang="en-US" sz="950" dirty="0"/>
          </a:p>
        </p:txBody>
      </p:sp>
      <p:sp>
        <p:nvSpPr>
          <p:cNvPr id="35" name="Shape 27"/>
          <p:cNvSpPr/>
          <p:nvPr/>
        </p:nvSpPr>
        <p:spPr>
          <a:xfrm>
            <a:off x="6126480" y="3977640"/>
            <a:ext cx="2651760" cy="1920240"/>
          </a:xfrm>
          <a:prstGeom prst="roundRect">
            <a:avLst>
              <a:gd name="adj" fmla="val 3810"/>
            </a:avLst>
          </a:prstGeom>
          <a:solidFill>
            <a:srgbClr val="FFFFFF"/>
          </a:solidFill>
          <a:ln w="12700">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36" name="Shape 28"/>
          <p:cNvSpPr/>
          <p:nvPr/>
        </p:nvSpPr>
        <p:spPr>
          <a:xfrm>
            <a:off x="6309360" y="4160520"/>
            <a:ext cx="502920" cy="502920"/>
          </a:xfrm>
          <a:prstGeom prst="ellipse">
            <a:avLst/>
          </a:prstGeom>
          <a:solidFill>
            <a:srgbClr val="1E3A8A"/>
          </a:solidFill>
          <a:ln/>
        </p:spPr>
        <p:txBody>
          <a:bodyPr/>
          <a:lstStyle/>
          <a:p>
            <a:endParaRPr lang="en-US"/>
          </a:p>
        </p:txBody>
      </p:sp>
      <p:pic>
        <p:nvPicPr>
          <p:cNvPr id="37" name="Image 6" descr="/home/claude/icons/chart_line_white.png"/>
          <p:cNvPicPr>
            <a:picLocks noChangeAspect="1"/>
          </p:cNvPicPr>
          <p:nvPr/>
        </p:nvPicPr>
        <p:blipFill>
          <a:blip r:embed="rId9"/>
          <a:stretch>
            <a:fillRect/>
          </a:stretch>
        </p:blipFill>
        <p:spPr>
          <a:xfrm>
            <a:off x="6423660" y="4274820"/>
            <a:ext cx="274320" cy="274320"/>
          </a:xfrm>
          <a:prstGeom prst="rect">
            <a:avLst/>
          </a:prstGeom>
        </p:spPr>
      </p:pic>
      <p:sp>
        <p:nvSpPr>
          <p:cNvPr id="38" name="Text 29"/>
          <p:cNvSpPr/>
          <p:nvPr/>
        </p:nvSpPr>
        <p:spPr>
          <a:xfrm>
            <a:off x="6309360" y="4754880"/>
            <a:ext cx="2286000" cy="411480"/>
          </a:xfrm>
          <a:prstGeom prst="rect">
            <a:avLst/>
          </a:prstGeom>
          <a:noFill/>
          <a:ln/>
        </p:spPr>
        <p:txBody>
          <a:bodyPr wrap="square" rtlCol="0" anchor="ctr"/>
          <a:lstStyle/>
          <a:p>
            <a:pPr marL="0" indent="0">
              <a:buNone/>
            </a:pPr>
            <a:r>
              <a:rPr lang="en-US" sz="1150" b="1" dirty="0">
                <a:solidFill>
                  <a:srgbClr val="111827"/>
                </a:solidFill>
                <a:latin typeface="Arial" pitchFamily="34" charset="0"/>
                <a:ea typeface="Arial" pitchFamily="34" charset="-122"/>
                <a:cs typeface="Arial" pitchFamily="34" charset="-120"/>
              </a:rPr>
              <a:t>7. Feature Importance</a:t>
            </a:r>
            <a:endParaRPr lang="en-US" sz="1150" dirty="0"/>
          </a:p>
        </p:txBody>
      </p:sp>
      <p:sp>
        <p:nvSpPr>
          <p:cNvPr id="39" name="Text 30"/>
          <p:cNvSpPr/>
          <p:nvPr/>
        </p:nvSpPr>
        <p:spPr>
          <a:xfrm>
            <a:off x="6309360" y="5148072"/>
            <a:ext cx="2286000" cy="685800"/>
          </a:xfrm>
          <a:prstGeom prst="rect">
            <a:avLst/>
          </a:prstGeom>
          <a:noFill/>
          <a:ln/>
        </p:spPr>
        <p:txBody>
          <a:bodyPr wrap="square" rtlCol="0" anchor="ctr"/>
          <a:lstStyle/>
          <a:p>
            <a:pPr marL="0" indent="0">
              <a:lnSpc>
                <a:spcPct val="115000"/>
              </a:lnSpc>
              <a:buNone/>
            </a:pPr>
            <a:r>
              <a:rPr lang="en-US" sz="950" dirty="0">
                <a:solidFill>
                  <a:srgbClr val="4B5563"/>
                </a:solidFill>
                <a:latin typeface="Arial" pitchFamily="34" charset="0"/>
                <a:ea typeface="Arial" pitchFamily="34" charset="-122"/>
                <a:cs typeface="Arial" pitchFamily="34" charset="-120"/>
              </a:rPr>
              <a:t>Separate RandomForestRegressor, feature_importances_, bar chart.</a:t>
            </a:r>
            <a:endParaRPr lang="en-US" sz="950" dirty="0"/>
          </a:p>
        </p:txBody>
      </p:sp>
      <p:sp>
        <p:nvSpPr>
          <p:cNvPr id="40" name="Shape 31"/>
          <p:cNvSpPr/>
          <p:nvPr/>
        </p:nvSpPr>
        <p:spPr>
          <a:xfrm>
            <a:off x="8915400" y="3977640"/>
            <a:ext cx="2651760" cy="1920240"/>
          </a:xfrm>
          <a:prstGeom prst="roundRect">
            <a:avLst>
              <a:gd name="adj" fmla="val 3810"/>
            </a:avLst>
          </a:prstGeom>
          <a:solidFill>
            <a:srgbClr val="FFFFFF"/>
          </a:solidFill>
          <a:ln w="12700">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41" name="Shape 32"/>
          <p:cNvSpPr/>
          <p:nvPr/>
        </p:nvSpPr>
        <p:spPr>
          <a:xfrm>
            <a:off x="9098280" y="4160520"/>
            <a:ext cx="502920" cy="502920"/>
          </a:xfrm>
          <a:prstGeom prst="ellipse">
            <a:avLst/>
          </a:prstGeom>
          <a:solidFill>
            <a:srgbClr val="1E3A8A"/>
          </a:solidFill>
          <a:ln/>
        </p:spPr>
        <p:txBody>
          <a:bodyPr/>
          <a:lstStyle/>
          <a:p>
            <a:endParaRPr lang="en-US"/>
          </a:p>
        </p:txBody>
      </p:sp>
      <p:pic>
        <p:nvPicPr>
          <p:cNvPr id="42" name="Image 7" descr="/home/claude/icons/file_alt_white.png"/>
          <p:cNvPicPr>
            <a:picLocks noChangeAspect="1"/>
          </p:cNvPicPr>
          <p:nvPr/>
        </p:nvPicPr>
        <p:blipFill>
          <a:blip r:embed="rId10"/>
          <a:stretch>
            <a:fillRect/>
          </a:stretch>
        </p:blipFill>
        <p:spPr>
          <a:xfrm>
            <a:off x="9212580" y="4274820"/>
            <a:ext cx="274320" cy="274320"/>
          </a:xfrm>
          <a:prstGeom prst="rect">
            <a:avLst/>
          </a:prstGeom>
        </p:spPr>
      </p:pic>
      <p:sp>
        <p:nvSpPr>
          <p:cNvPr id="43" name="Text 33"/>
          <p:cNvSpPr/>
          <p:nvPr/>
        </p:nvSpPr>
        <p:spPr>
          <a:xfrm>
            <a:off x="9098280" y="4754880"/>
            <a:ext cx="2286000" cy="411480"/>
          </a:xfrm>
          <a:prstGeom prst="rect">
            <a:avLst/>
          </a:prstGeom>
          <a:noFill/>
          <a:ln/>
        </p:spPr>
        <p:txBody>
          <a:bodyPr wrap="square" rtlCol="0" anchor="ctr"/>
          <a:lstStyle/>
          <a:p>
            <a:pPr marL="0" indent="0">
              <a:buNone/>
            </a:pPr>
            <a:r>
              <a:rPr lang="en-US" sz="1150" b="1" dirty="0">
                <a:solidFill>
                  <a:srgbClr val="111827"/>
                </a:solidFill>
                <a:latin typeface="Arial" pitchFamily="34" charset="0"/>
                <a:ea typeface="Arial" pitchFamily="34" charset="-122"/>
                <a:cs typeface="Arial" pitchFamily="34" charset="-120"/>
              </a:rPr>
              <a:t>8. Persistence</a:t>
            </a:r>
            <a:endParaRPr lang="en-US" sz="1150" dirty="0"/>
          </a:p>
        </p:txBody>
      </p:sp>
      <p:sp>
        <p:nvSpPr>
          <p:cNvPr id="44" name="Text 34"/>
          <p:cNvSpPr/>
          <p:nvPr/>
        </p:nvSpPr>
        <p:spPr>
          <a:xfrm>
            <a:off x="9098280" y="5148072"/>
            <a:ext cx="2286000" cy="685800"/>
          </a:xfrm>
          <a:prstGeom prst="rect">
            <a:avLst/>
          </a:prstGeom>
          <a:noFill/>
          <a:ln/>
        </p:spPr>
        <p:txBody>
          <a:bodyPr wrap="square" rtlCol="0" anchor="ctr"/>
          <a:lstStyle/>
          <a:p>
            <a:pPr marL="0" indent="0">
              <a:lnSpc>
                <a:spcPct val="115000"/>
              </a:lnSpc>
              <a:buNone/>
            </a:pPr>
            <a:r>
              <a:rPr lang="en-US" sz="950" dirty="0">
                <a:solidFill>
                  <a:srgbClr val="4B5563"/>
                </a:solidFill>
                <a:latin typeface="Arial" pitchFamily="34" charset="0"/>
                <a:ea typeface="Arial" pitchFamily="34" charset="-122"/>
                <a:cs typeface="Arial" pitchFamily="34" charset="-120"/>
              </a:rPr>
              <a:t>pickle.dump model/scaler/features, files.download() for deployment.</a:t>
            </a:r>
            <a:endParaRPr lang="en-US" sz="950" dirty="0"/>
          </a:p>
        </p:txBody>
      </p:sp>
      <p:sp>
        <p:nvSpPr>
          <p:cNvPr id="45" name="Text 35"/>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65760"/>
          </a:xfrm>
          <a:prstGeom prst="roundRect">
            <a:avLst>
              <a:gd name="adj" fmla="val 20000"/>
            </a:avLst>
          </a:prstGeom>
          <a:solidFill>
            <a:srgbClr val="EFF6FF"/>
          </a:solidFill>
          <a:ln/>
        </p:spPr>
        <p:txBody>
          <a:bodyPr/>
          <a:lstStyle/>
          <a:p>
            <a:endParaRPr lang="en-US"/>
          </a:p>
        </p:txBody>
      </p:sp>
      <p:sp>
        <p:nvSpPr>
          <p:cNvPr id="3" name="Text 1"/>
          <p:cNvSpPr/>
          <p:nvPr/>
        </p:nvSpPr>
        <p:spPr>
          <a:xfrm>
            <a:off x="548640" y="457200"/>
            <a:ext cx="2377440" cy="365760"/>
          </a:xfrm>
          <a:prstGeom prst="rect">
            <a:avLst/>
          </a:prstGeom>
          <a:noFill/>
          <a:ln/>
        </p:spPr>
        <p:txBody>
          <a:bodyPr wrap="square" rtlCol="0" anchor="ctr"/>
          <a:lstStyle/>
          <a:p>
            <a:pPr marL="0" indent="0" algn="ctr">
              <a:buNone/>
            </a:pPr>
            <a:r>
              <a:rPr lang="en-US" sz="1100" b="1" kern="0" spc="200" dirty="0">
                <a:solidFill>
                  <a:srgbClr val="1E3A8A"/>
                </a:solidFill>
                <a:latin typeface="Arial" pitchFamily="34" charset="0"/>
                <a:ea typeface="Arial" pitchFamily="34" charset="-122"/>
                <a:cs typeface="Arial" pitchFamily="34" charset="-120"/>
              </a:rPr>
              <a:t>08  ·  RESULTS</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200" b="1" dirty="0">
                <a:solidFill>
                  <a:srgbClr val="111827"/>
                </a:solidFill>
                <a:latin typeface="Arial" pitchFamily="34" charset="0"/>
                <a:ea typeface="Arial" pitchFamily="34" charset="-122"/>
                <a:cs typeface="Arial" pitchFamily="34" charset="-120"/>
              </a:rPr>
              <a:t>Model Performance &amp; Outputs</a:t>
            </a:r>
            <a:endParaRPr lang="en-US" sz="3200" dirty="0"/>
          </a:p>
        </p:txBody>
      </p:sp>
      <p:grpSp>
        <p:nvGrpSpPr>
          <p:cNvPr id="57" name="Group 56">
            <a:extLst>
              <a:ext uri="{FF2B5EF4-FFF2-40B4-BE49-F238E27FC236}">
                <a16:creationId xmlns:a16="http://schemas.microsoft.com/office/drawing/2014/main" id="{109E2D49-8AF9-4390-8AE2-EBB036A64FA3}"/>
              </a:ext>
            </a:extLst>
          </p:cNvPr>
          <p:cNvGrpSpPr/>
          <p:nvPr/>
        </p:nvGrpSpPr>
        <p:grpSpPr>
          <a:xfrm>
            <a:off x="548640" y="1737360"/>
            <a:ext cx="2574517" cy="1371600"/>
            <a:chOff x="548640" y="1737360"/>
            <a:chExt cx="2784348" cy="1371600"/>
          </a:xfrm>
        </p:grpSpPr>
        <p:sp>
          <p:nvSpPr>
            <p:cNvPr id="5" name="Shape 3"/>
            <p:cNvSpPr/>
            <p:nvPr/>
          </p:nvSpPr>
          <p:spPr>
            <a:xfrm>
              <a:off x="548640" y="1737360"/>
              <a:ext cx="2784348" cy="1371600"/>
            </a:xfrm>
            <a:prstGeom prst="roundRect">
              <a:avLst>
                <a:gd name="adj" fmla="val 5333"/>
              </a:avLst>
            </a:prstGeom>
            <a:solidFill>
              <a:srgbClr val="1E3A8A"/>
            </a:solidFill>
            <a:ln/>
          </p:spPr>
          <p:txBody>
            <a:bodyPr/>
            <a:lstStyle/>
            <a:p>
              <a:endParaRPr lang="en-US"/>
            </a:p>
          </p:txBody>
        </p:sp>
        <p:sp>
          <p:nvSpPr>
            <p:cNvPr id="6" name="Text 4"/>
            <p:cNvSpPr/>
            <p:nvPr/>
          </p:nvSpPr>
          <p:spPr>
            <a:xfrm>
              <a:off x="548640" y="1828800"/>
              <a:ext cx="2784348" cy="68580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1.2761</a:t>
              </a:r>
              <a:endParaRPr lang="en-US" sz="3000" dirty="0"/>
            </a:p>
          </p:txBody>
        </p:sp>
        <p:sp>
          <p:nvSpPr>
            <p:cNvPr id="7" name="Text 5"/>
            <p:cNvSpPr/>
            <p:nvPr/>
          </p:nvSpPr>
          <p:spPr>
            <a:xfrm>
              <a:off x="548640" y="2505456"/>
              <a:ext cx="2784348" cy="219456"/>
            </a:xfrm>
            <a:prstGeom prst="rect">
              <a:avLst/>
            </a:prstGeom>
            <a:noFill/>
            <a:ln/>
          </p:spPr>
          <p:txBody>
            <a:bodyPr wrap="square" rtlCol="0" anchor="ctr"/>
            <a:lstStyle/>
            <a:p>
              <a:pPr marL="0" indent="0" algn="ctr">
                <a:buNone/>
              </a:pPr>
              <a:r>
                <a:rPr lang="en-US" sz="1300" b="1" dirty="0">
                  <a:solidFill>
                    <a:srgbClr val="F59E0B"/>
                  </a:solidFill>
                  <a:latin typeface="Arial" pitchFamily="34" charset="0"/>
                  <a:ea typeface="Arial" pitchFamily="34" charset="-122"/>
                  <a:cs typeface="Arial" pitchFamily="34" charset="-120"/>
                </a:rPr>
                <a:t>MAE</a:t>
              </a:r>
              <a:endParaRPr lang="en-US" sz="1300" dirty="0"/>
            </a:p>
          </p:txBody>
        </p:sp>
        <p:sp>
          <p:nvSpPr>
            <p:cNvPr id="8" name="Text 6"/>
            <p:cNvSpPr/>
            <p:nvPr/>
          </p:nvSpPr>
          <p:spPr>
            <a:xfrm>
              <a:off x="548640" y="2779776"/>
              <a:ext cx="2784348" cy="219456"/>
            </a:xfrm>
            <a:prstGeom prst="rect">
              <a:avLst/>
            </a:prstGeom>
            <a:noFill/>
            <a:ln/>
          </p:spPr>
          <p:txBody>
            <a:bodyPr wrap="square" rtlCol="0" anchor="ctr"/>
            <a:lstStyle/>
            <a:p>
              <a:pPr marL="0" indent="0" algn="ctr">
                <a:buNone/>
              </a:pPr>
              <a:r>
                <a:rPr lang="en-US" sz="950" dirty="0">
                  <a:solidFill>
                    <a:srgbClr val="E0EAFF"/>
                  </a:solidFill>
                  <a:latin typeface="Arial" pitchFamily="34" charset="0"/>
                  <a:ea typeface="Arial" pitchFamily="34" charset="-122"/>
                  <a:cs typeface="Arial" pitchFamily="34" charset="-120"/>
                </a:rPr>
                <a:t>Mean Absolute Error</a:t>
              </a:r>
              <a:endParaRPr lang="en-US" sz="950" dirty="0"/>
            </a:p>
          </p:txBody>
        </p:sp>
      </p:grpSp>
      <p:sp>
        <p:nvSpPr>
          <p:cNvPr id="19" name="Text 17"/>
          <p:cNvSpPr/>
          <p:nvPr/>
        </p:nvSpPr>
        <p:spPr>
          <a:xfrm>
            <a:off x="773582" y="3534821"/>
            <a:ext cx="4892040" cy="274320"/>
          </a:xfrm>
          <a:prstGeom prst="rect">
            <a:avLst/>
          </a:prstGeom>
          <a:noFill/>
          <a:ln/>
        </p:spPr>
        <p:txBody>
          <a:bodyPr wrap="square" rtlCol="0" anchor="ctr"/>
          <a:lstStyle/>
          <a:p>
            <a:pPr marL="0" indent="0">
              <a:buNone/>
            </a:pPr>
            <a:r>
              <a:rPr lang="en-US" sz="1150" b="1" dirty="0">
                <a:solidFill>
                  <a:srgbClr val="1E3A8A"/>
                </a:solidFill>
                <a:latin typeface="Arial" pitchFamily="34" charset="0"/>
                <a:ea typeface="Arial" pitchFamily="34" charset="-122"/>
                <a:cs typeface="Arial" pitchFamily="34" charset="-120"/>
              </a:rPr>
              <a:t>Actual vs. Predicted Exam Score</a:t>
            </a:r>
            <a:endParaRPr lang="en-US" sz="1150" dirty="0"/>
          </a:p>
        </p:txBody>
      </p:sp>
      <p:sp>
        <p:nvSpPr>
          <p:cNvPr id="56" name="Text 54"/>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09</a:t>
            </a:r>
            <a:endParaRPr lang="en-US" sz="1000" dirty="0"/>
          </a:p>
        </p:txBody>
      </p:sp>
      <p:grpSp>
        <p:nvGrpSpPr>
          <p:cNvPr id="58" name="Group 57">
            <a:extLst>
              <a:ext uri="{FF2B5EF4-FFF2-40B4-BE49-F238E27FC236}">
                <a16:creationId xmlns:a16="http://schemas.microsoft.com/office/drawing/2014/main" id="{66DFE27F-8928-4475-9E32-E3B4CA9EC019}"/>
              </a:ext>
            </a:extLst>
          </p:cNvPr>
          <p:cNvGrpSpPr/>
          <p:nvPr/>
        </p:nvGrpSpPr>
        <p:grpSpPr>
          <a:xfrm>
            <a:off x="3438525" y="1760220"/>
            <a:ext cx="2574517" cy="1371600"/>
            <a:chOff x="548640" y="1737360"/>
            <a:chExt cx="2784348" cy="1371600"/>
          </a:xfrm>
        </p:grpSpPr>
        <p:sp>
          <p:nvSpPr>
            <p:cNvPr id="59" name="Shape 3">
              <a:extLst>
                <a:ext uri="{FF2B5EF4-FFF2-40B4-BE49-F238E27FC236}">
                  <a16:creationId xmlns:a16="http://schemas.microsoft.com/office/drawing/2014/main" id="{0A2ABC82-11E8-4803-BAD0-82E92EAB5D2B}"/>
                </a:ext>
              </a:extLst>
            </p:cNvPr>
            <p:cNvSpPr/>
            <p:nvPr/>
          </p:nvSpPr>
          <p:spPr>
            <a:xfrm>
              <a:off x="548640" y="1737360"/>
              <a:ext cx="2784348" cy="1371600"/>
            </a:xfrm>
            <a:prstGeom prst="roundRect">
              <a:avLst>
                <a:gd name="adj" fmla="val 5333"/>
              </a:avLst>
            </a:prstGeom>
            <a:solidFill>
              <a:srgbClr val="1E3A8A"/>
            </a:solidFill>
            <a:ln/>
          </p:spPr>
          <p:txBody>
            <a:bodyPr/>
            <a:lstStyle/>
            <a:p>
              <a:endParaRPr lang="en-US"/>
            </a:p>
          </p:txBody>
        </p:sp>
        <p:sp>
          <p:nvSpPr>
            <p:cNvPr id="60" name="Text 4">
              <a:extLst>
                <a:ext uri="{FF2B5EF4-FFF2-40B4-BE49-F238E27FC236}">
                  <a16:creationId xmlns:a16="http://schemas.microsoft.com/office/drawing/2014/main" id="{64682E9C-7951-483D-96F4-76B9FC061D30}"/>
                </a:ext>
              </a:extLst>
            </p:cNvPr>
            <p:cNvSpPr/>
            <p:nvPr/>
          </p:nvSpPr>
          <p:spPr>
            <a:xfrm>
              <a:off x="548640" y="1828800"/>
              <a:ext cx="2784348" cy="68580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5.0817</a:t>
              </a:r>
              <a:endParaRPr lang="en-US" sz="3000" dirty="0"/>
            </a:p>
          </p:txBody>
        </p:sp>
        <p:sp>
          <p:nvSpPr>
            <p:cNvPr id="61" name="Text 5">
              <a:extLst>
                <a:ext uri="{FF2B5EF4-FFF2-40B4-BE49-F238E27FC236}">
                  <a16:creationId xmlns:a16="http://schemas.microsoft.com/office/drawing/2014/main" id="{51D051AA-B12E-455A-97FC-F5796E293D10}"/>
                </a:ext>
              </a:extLst>
            </p:cNvPr>
            <p:cNvSpPr/>
            <p:nvPr/>
          </p:nvSpPr>
          <p:spPr>
            <a:xfrm>
              <a:off x="548640" y="2505456"/>
              <a:ext cx="2784348" cy="219456"/>
            </a:xfrm>
            <a:prstGeom prst="rect">
              <a:avLst/>
            </a:prstGeom>
            <a:noFill/>
            <a:ln/>
          </p:spPr>
          <p:txBody>
            <a:bodyPr wrap="square" rtlCol="0" anchor="ctr"/>
            <a:lstStyle/>
            <a:p>
              <a:pPr marL="0" indent="0" algn="ctr">
                <a:buNone/>
              </a:pPr>
              <a:r>
                <a:rPr lang="en-US" sz="1300" b="1" dirty="0">
                  <a:solidFill>
                    <a:srgbClr val="F59E0B"/>
                  </a:solidFill>
                  <a:latin typeface="Arial" pitchFamily="34" charset="0"/>
                  <a:ea typeface="Arial" pitchFamily="34" charset="-122"/>
                  <a:cs typeface="Arial" pitchFamily="34" charset="-120"/>
                </a:rPr>
                <a:t>MSE</a:t>
              </a:r>
              <a:endParaRPr lang="en-US" sz="1300" dirty="0"/>
            </a:p>
          </p:txBody>
        </p:sp>
        <p:sp>
          <p:nvSpPr>
            <p:cNvPr id="62" name="Text 6">
              <a:extLst>
                <a:ext uri="{FF2B5EF4-FFF2-40B4-BE49-F238E27FC236}">
                  <a16:creationId xmlns:a16="http://schemas.microsoft.com/office/drawing/2014/main" id="{5243A978-69D3-4AC3-9FA4-47229F32E8C8}"/>
                </a:ext>
              </a:extLst>
            </p:cNvPr>
            <p:cNvSpPr/>
            <p:nvPr/>
          </p:nvSpPr>
          <p:spPr>
            <a:xfrm>
              <a:off x="548640" y="2779776"/>
              <a:ext cx="2784348" cy="219456"/>
            </a:xfrm>
            <a:prstGeom prst="rect">
              <a:avLst/>
            </a:prstGeom>
            <a:noFill/>
            <a:ln/>
          </p:spPr>
          <p:txBody>
            <a:bodyPr wrap="square" rtlCol="0" anchor="ctr"/>
            <a:lstStyle/>
            <a:p>
              <a:pPr marL="0" indent="0" algn="ctr">
                <a:buNone/>
              </a:pPr>
              <a:r>
                <a:rPr lang="en-US" sz="950" dirty="0">
                  <a:solidFill>
                    <a:srgbClr val="E0EAFF"/>
                  </a:solidFill>
                  <a:latin typeface="Arial" pitchFamily="34" charset="0"/>
                  <a:ea typeface="Arial" pitchFamily="34" charset="-122"/>
                  <a:cs typeface="Arial" pitchFamily="34" charset="-120"/>
                </a:rPr>
                <a:t>Mean Squared Error</a:t>
              </a:r>
              <a:endParaRPr lang="en-US" sz="950" dirty="0"/>
            </a:p>
          </p:txBody>
        </p:sp>
      </p:grpSp>
      <p:grpSp>
        <p:nvGrpSpPr>
          <p:cNvPr id="63" name="Group 62">
            <a:extLst>
              <a:ext uri="{FF2B5EF4-FFF2-40B4-BE49-F238E27FC236}">
                <a16:creationId xmlns:a16="http://schemas.microsoft.com/office/drawing/2014/main" id="{A384CB5E-26C6-4953-86E2-99D2221DF351}"/>
              </a:ext>
            </a:extLst>
          </p:cNvPr>
          <p:cNvGrpSpPr/>
          <p:nvPr/>
        </p:nvGrpSpPr>
        <p:grpSpPr>
          <a:xfrm>
            <a:off x="6328411" y="1734254"/>
            <a:ext cx="2574517" cy="1392994"/>
            <a:chOff x="548640" y="1737360"/>
            <a:chExt cx="2784348" cy="1371600"/>
          </a:xfrm>
        </p:grpSpPr>
        <p:sp>
          <p:nvSpPr>
            <p:cNvPr id="64" name="Shape 3">
              <a:extLst>
                <a:ext uri="{FF2B5EF4-FFF2-40B4-BE49-F238E27FC236}">
                  <a16:creationId xmlns:a16="http://schemas.microsoft.com/office/drawing/2014/main" id="{0635432F-D370-45FC-93AA-D654D9AA5CD1}"/>
                </a:ext>
              </a:extLst>
            </p:cNvPr>
            <p:cNvSpPr/>
            <p:nvPr/>
          </p:nvSpPr>
          <p:spPr>
            <a:xfrm>
              <a:off x="548640" y="1737360"/>
              <a:ext cx="2784348" cy="1371600"/>
            </a:xfrm>
            <a:prstGeom prst="roundRect">
              <a:avLst>
                <a:gd name="adj" fmla="val 5333"/>
              </a:avLst>
            </a:prstGeom>
            <a:solidFill>
              <a:srgbClr val="1E3A8A"/>
            </a:solidFill>
            <a:ln/>
          </p:spPr>
          <p:txBody>
            <a:bodyPr/>
            <a:lstStyle/>
            <a:p>
              <a:endParaRPr lang="en-US"/>
            </a:p>
          </p:txBody>
        </p:sp>
        <p:sp>
          <p:nvSpPr>
            <p:cNvPr id="65" name="Text 4">
              <a:extLst>
                <a:ext uri="{FF2B5EF4-FFF2-40B4-BE49-F238E27FC236}">
                  <a16:creationId xmlns:a16="http://schemas.microsoft.com/office/drawing/2014/main" id="{4A0EDF71-FBE7-4E75-96BC-43FA9C7F1FD5}"/>
                </a:ext>
              </a:extLst>
            </p:cNvPr>
            <p:cNvSpPr/>
            <p:nvPr/>
          </p:nvSpPr>
          <p:spPr>
            <a:xfrm>
              <a:off x="548640" y="1828800"/>
              <a:ext cx="2784348" cy="68580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2.2543</a:t>
              </a:r>
              <a:endParaRPr lang="en-US" sz="3000" dirty="0"/>
            </a:p>
          </p:txBody>
        </p:sp>
        <p:sp>
          <p:nvSpPr>
            <p:cNvPr id="66" name="Text 5">
              <a:extLst>
                <a:ext uri="{FF2B5EF4-FFF2-40B4-BE49-F238E27FC236}">
                  <a16:creationId xmlns:a16="http://schemas.microsoft.com/office/drawing/2014/main" id="{C956FC7D-8AC1-4BF3-84EF-686DCAF6A017}"/>
                </a:ext>
              </a:extLst>
            </p:cNvPr>
            <p:cNvSpPr/>
            <p:nvPr/>
          </p:nvSpPr>
          <p:spPr>
            <a:xfrm>
              <a:off x="548640" y="2505456"/>
              <a:ext cx="2784348" cy="219456"/>
            </a:xfrm>
            <a:prstGeom prst="rect">
              <a:avLst/>
            </a:prstGeom>
            <a:noFill/>
            <a:ln/>
          </p:spPr>
          <p:txBody>
            <a:bodyPr wrap="square" rtlCol="0" anchor="ctr"/>
            <a:lstStyle/>
            <a:p>
              <a:pPr marL="0" indent="0" algn="ctr">
                <a:buNone/>
              </a:pPr>
              <a:r>
                <a:rPr lang="en-US" sz="1300" b="1" dirty="0">
                  <a:solidFill>
                    <a:srgbClr val="F59E0B"/>
                  </a:solidFill>
                  <a:latin typeface="Arial" pitchFamily="34" charset="0"/>
                  <a:ea typeface="Arial" pitchFamily="34" charset="-122"/>
                  <a:cs typeface="Arial" pitchFamily="34" charset="-120"/>
                </a:rPr>
                <a:t>RMSE</a:t>
              </a:r>
              <a:endParaRPr lang="en-US" sz="1300" dirty="0"/>
            </a:p>
          </p:txBody>
        </p:sp>
        <p:sp>
          <p:nvSpPr>
            <p:cNvPr id="67" name="Text 6">
              <a:extLst>
                <a:ext uri="{FF2B5EF4-FFF2-40B4-BE49-F238E27FC236}">
                  <a16:creationId xmlns:a16="http://schemas.microsoft.com/office/drawing/2014/main" id="{ABD10394-00E1-43F4-A018-35373514D66B}"/>
                </a:ext>
              </a:extLst>
            </p:cNvPr>
            <p:cNvSpPr/>
            <p:nvPr/>
          </p:nvSpPr>
          <p:spPr>
            <a:xfrm>
              <a:off x="548640" y="2779776"/>
              <a:ext cx="2784348" cy="219456"/>
            </a:xfrm>
            <a:prstGeom prst="rect">
              <a:avLst/>
            </a:prstGeom>
            <a:noFill/>
            <a:ln/>
          </p:spPr>
          <p:txBody>
            <a:bodyPr wrap="square" rtlCol="0" anchor="ctr"/>
            <a:lstStyle/>
            <a:p>
              <a:pPr marL="0" indent="0" algn="ctr">
                <a:buNone/>
              </a:pPr>
              <a:r>
                <a:rPr lang="en-US" sz="950" dirty="0">
                  <a:solidFill>
                    <a:srgbClr val="E0EAFF"/>
                  </a:solidFill>
                  <a:latin typeface="Arial" pitchFamily="34" charset="0"/>
                  <a:ea typeface="Arial" pitchFamily="34" charset="-122"/>
                  <a:cs typeface="Arial" pitchFamily="34" charset="-120"/>
                </a:rPr>
                <a:t>Root Mean Squared Error</a:t>
              </a:r>
              <a:endParaRPr lang="en-US" sz="950" dirty="0"/>
            </a:p>
          </p:txBody>
        </p:sp>
      </p:grpSp>
      <p:grpSp>
        <p:nvGrpSpPr>
          <p:cNvPr id="68" name="Group 67">
            <a:extLst>
              <a:ext uri="{FF2B5EF4-FFF2-40B4-BE49-F238E27FC236}">
                <a16:creationId xmlns:a16="http://schemas.microsoft.com/office/drawing/2014/main" id="{BFCC4DEE-B36C-4DC7-AB19-0D5472B2138A}"/>
              </a:ext>
            </a:extLst>
          </p:cNvPr>
          <p:cNvGrpSpPr/>
          <p:nvPr/>
        </p:nvGrpSpPr>
        <p:grpSpPr>
          <a:xfrm>
            <a:off x="9218296" y="1734254"/>
            <a:ext cx="2574517" cy="1371600"/>
            <a:chOff x="548640" y="1737360"/>
            <a:chExt cx="2784348" cy="1371600"/>
          </a:xfrm>
        </p:grpSpPr>
        <p:sp>
          <p:nvSpPr>
            <p:cNvPr id="69" name="Shape 3">
              <a:extLst>
                <a:ext uri="{FF2B5EF4-FFF2-40B4-BE49-F238E27FC236}">
                  <a16:creationId xmlns:a16="http://schemas.microsoft.com/office/drawing/2014/main" id="{A7DAB633-BE37-4290-9D34-6EA253267CAC}"/>
                </a:ext>
              </a:extLst>
            </p:cNvPr>
            <p:cNvSpPr/>
            <p:nvPr/>
          </p:nvSpPr>
          <p:spPr>
            <a:xfrm>
              <a:off x="548640" y="1737360"/>
              <a:ext cx="2784348" cy="1371600"/>
            </a:xfrm>
            <a:prstGeom prst="roundRect">
              <a:avLst>
                <a:gd name="adj" fmla="val 5333"/>
              </a:avLst>
            </a:prstGeom>
            <a:solidFill>
              <a:srgbClr val="1E3A8A"/>
            </a:solidFill>
            <a:ln/>
          </p:spPr>
          <p:txBody>
            <a:bodyPr/>
            <a:lstStyle/>
            <a:p>
              <a:endParaRPr lang="en-US"/>
            </a:p>
          </p:txBody>
        </p:sp>
        <p:sp>
          <p:nvSpPr>
            <p:cNvPr id="70" name="Text 4">
              <a:extLst>
                <a:ext uri="{FF2B5EF4-FFF2-40B4-BE49-F238E27FC236}">
                  <a16:creationId xmlns:a16="http://schemas.microsoft.com/office/drawing/2014/main" id="{970266E7-2075-4DD5-853E-F6351C29934E}"/>
                </a:ext>
              </a:extLst>
            </p:cNvPr>
            <p:cNvSpPr/>
            <p:nvPr/>
          </p:nvSpPr>
          <p:spPr>
            <a:xfrm>
              <a:off x="548640" y="1828800"/>
              <a:ext cx="2784348" cy="68580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0.6405</a:t>
              </a:r>
              <a:endParaRPr lang="en-US" sz="3000" dirty="0"/>
            </a:p>
          </p:txBody>
        </p:sp>
        <p:sp>
          <p:nvSpPr>
            <p:cNvPr id="71" name="Text 5">
              <a:extLst>
                <a:ext uri="{FF2B5EF4-FFF2-40B4-BE49-F238E27FC236}">
                  <a16:creationId xmlns:a16="http://schemas.microsoft.com/office/drawing/2014/main" id="{C2DFB363-D560-46CF-BAF8-C50F2BF38C36}"/>
                </a:ext>
              </a:extLst>
            </p:cNvPr>
            <p:cNvSpPr/>
            <p:nvPr/>
          </p:nvSpPr>
          <p:spPr>
            <a:xfrm>
              <a:off x="548640" y="2505456"/>
              <a:ext cx="2784348" cy="219456"/>
            </a:xfrm>
            <a:prstGeom prst="rect">
              <a:avLst/>
            </a:prstGeom>
            <a:noFill/>
            <a:ln/>
          </p:spPr>
          <p:txBody>
            <a:bodyPr wrap="square" rtlCol="0" anchor="ctr"/>
            <a:lstStyle/>
            <a:p>
              <a:pPr algn="ctr"/>
              <a:r>
                <a:rPr lang="en-US" sz="1300" b="1" dirty="0">
                  <a:solidFill>
                    <a:srgbClr val="F59E0B"/>
                  </a:solidFill>
                  <a:latin typeface="Arial" pitchFamily="34" charset="0"/>
                  <a:ea typeface="Arial" pitchFamily="34" charset="-122"/>
                  <a:cs typeface="Arial" pitchFamily="34" charset="-120"/>
                </a:rPr>
                <a:t>R²</a:t>
              </a:r>
              <a:endParaRPr lang="en-US" sz="1300" dirty="0"/>
            </a:p>
          </p:txBody>
        </p:sp>
        <p:sp>
          <p:nvSpPr>
            <p:cNvPr id="72" name="Text 6">
              <a:extLst>
                <a:ext uri="{FF2B5EF4-FFF2-40B4-BE49-F238E27FC236}">
                  <a16:creationId xmlns:a16="http://schemas.microsoft.com/office/drawing/2014/main" id="{C730A800-25BC-4C45-BED6-585E745548C0}"/>
                </a:ext>
              </a:extLst>
            </p:cNvPr>
            <p:cNvSpPr/>
            <p:nvPr/>
          </p:nvSpPr>
          <p:spPr>
            <a:xfrm>
              <a:off x="548640" y="2779776"/>
              <a:ext cx="2784348" cy="219456"/>
            </a:xfrm>
            <a:prstGeom prst="rect">
              <a:avLst/>
            </a:prstGeom>
            <a:noFill/>
            <a:ln/>
          </p:spPr>
          <p:txBody>
            <a:bodyPr wrap="square" rtlCol="0" anchor="ctr"/>
            <a:lstStyle/>
            <a:p>
              <a:pPr marL="0" indent="0" algn="ctr">
                <a:buNone/>
              </a:pPr>
              <a:r>
                <a:rPr lang="en-US" sz="950" dirty="0">
                  <a:solidFill>
                    <a:srgbClr val="E0EAFF"/>
                  </a:solidFill>
                  <a:latin typeface="Arial" pitchFamily="34" charset="0"/>
                  <a:ea typeface="Arial" pitchFamily="34" charset="-122"/>
                  <a:cs typeface="Arial" pitchFamily="34" charset="-120"/>
                </a:rPr>
                <a:t>Variance Explained</a:t>
              </a:r>
              <a:endParaRPr lang="en-US" sz="950" dirty="0"/>
            </a:p>
          </p:txBody>
        </p:sp>
      </p:grpSp>
      <p:pic>
        <p:nvPicPr>
          <p:cNvPr id="76" name="Picture 75">
            <a:extLst>
              <a:ext uri="{FF2B5EF4-FFF2-40B4-BE49-F238E27FC236}">
                <a16:creationId xmlns:a16="http://schemas.microsoft.com/office/drawing/2014/main" id="{2C4D444D-323F-4C32-819A-4D4E86FE3307}"/>
              </a:ext>
            </a:extLst>
          </p:cNvPr>
          <p:cNvPicPr>
            <a:picLocks noChangeAspect="1"/>
          </p:cNvPicPr>
          <p:nvPr/>
        </p:nvPicPr>
        <p:blipFill rotWithShape="1">
          <a:blip r:embed="rId3"/>
          <a:srcRect t="5048"/>
          <a:stretch/>
        </p:blipFill>
        <p:spPr>
          <a:xfrm>
            <a:off x="542926" y="3858034"/>
            <a:ext cx="5122696" cy="2451325"/>
          </a:xfrm>
          <a:prstGeom prst="rect">
            <a:avLst/>
          </a:prstGeom>
        </p:spPr>
      </p:pic>
      <p:pic>
        <p:nvPicPr>
          <p:cNvPr id="78" name="Picture 77">
            <a:extLst>
              <a:ext uri="{FF2B5EF4-FFF2-40B4-BE49-F238E27FC236}">
                <a16:creationId xmlns:a16="http://schemas.microsoft.com/office/drawing/2014/main" id="{149E5A30-17BE-49F6-9DAC-E196E934DBE5}"/>
              </a:ext>
            </a:extLst>
          </p:cNvPr>
          <p:cNvPicPr>
            <a:picLocks noChangeAspect="1"/>
          </p:cNvPicPr>
          <p:nvPr/>
        </p:nvPicPr>
        <p:blipFill rotWithShape="1">
          <a:blip r:embed="rId4"/>
          <a:srcRect t="3249"/>
          <a:stretch/>
        </p:blipFill>
        <p:spPr>
          <a:xfrm>
            <a:off x="6237136" y="3858034"/>
            <a:ext cx="5408992" cy="2615918"/>
          </a:xfrm>
          <a:prstGeom prst="rect">
            <a:avLst/>
          </a:prstGeom>
        </p:spPr>
      </p:pic>
      <p:sp>
        <p:nvSpPr>
          <p:cNvPr id="79" name="Text 17">
            <a:extLst>
              <a:ext uri="{FF2B5EF4-FFF2-40B4-BE49-F238E27FC236}">
                <a16:creationId xmlns:a16="http://schemas.microsoft.com/office/drawing/2014/main" id="{1BFA1BC8-6406-44D5-B8D7-E6FC8C9F435C}"/>
              </a:ext>
            </a:extLst>
          </p:cNvPr>
          <p:cNvSpPr/>
          <p:nvPr/>
        </p:nvSpPr>
        <p:spPr>
          <a:xfrm>
            <a:off x="6237136" y="3540139"/>
            <a:ext cx="4892040" cy="274320"/>
          </a:xfrm>
          <a:prstGeom prst="rect">
            <a:avLst/>
          </a:prstGeom>
          <a:noFill/>
          <a:ln/>
        </p:spPr>
        <p:txBody>
          <a:bodyPr wrap="square" rtlCol="0" anchor="ctr"/>
          <a:lstStyle/>
          <a:p>
            <a:pPr marL="0" indent="0">
              <a:buNone/>
            </a:pPr>
            <a:r>
              <a:rPr lang="en-US" sz="1150" b="1" dirty="0">
                <a:solidFill>
                  <a:srgbClr val="1E3A8A"/>
                </a:solidFill>
                <a:latin typeface="Arial" pitchFamily="34" charset="0"/>
                <a:ea typeface="Arial" pitchFamily="34" charset="-122"/>
                <a:cs typeface="Arial" pitchFamily="34" charset="-120"/>
              </a:rPr>
              <a:t>Feature Correlation Heatmap</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65760"/>
          </a:xfrm>
          <a:prstGeom prst="roundRect">
            <a:avLst>
              <a:gd name="adj" fmla="val 20000"/>
            </a:avLst>
          </a:prstGeom>
          <a:solidFill>
            <a:srgbClr val="EFF6FF"/>
          </a:solidFill>
          <a:ln/>
        </p:spPr>
        <p:txBody>
          <a:bodyPr/>
          <a:lstStyle/>
          <a:p>
            <a:endParaRPr lang="en-US"/>
          </a:p>
        </p:txBody>
      </p:sp>
      <p:sp>
        <p:nvSpPr>
          <p:cNvPr id="3" name="Text 1"/>
          <p:cNvSpPr/>
          <p:nvPr/>
        </p:nvSpPr>
        <p:spPr>
          <a:xfrm>
            <a:off x="548640" y="457200"/>
            <a:ext cx="2377440" cy="365760"/>
          </a:xfrm>
          <a:prstGeom prst="rect">
            <a:avLst/>
          </a:prstGeom>
          <a:noFill/>
          <a:ln/>
        </p:spPr>
        <p:txBody>
          <a:bodyPr wrap="square" rtlCol="0" anchor="ctr"/>
          <a:lstStyle/>
          <a:p>
            <a:pPr marL="0" indent="0" algn="ctr">
              <a:buNone/>
            </a:pPr>
            <a:r>
              <a:rPr lang="en-US" sz="1100" b="1" kern="0" spc="200" dirty="0">
                <a:solidFill>
                  <a:srgbClr val="1E3A8A"/>
                </a:solidFill>
                <a:latin typeface="Arial" pitchFamily="34" charset="0"/>
                <a:ea typeface="Arial" pitchFamily="34" charset="-122"/>
                <a:cs typeface="Arial" pitchFamily="34" charset="-120"/>
              </a:rPr>
              <a:t>09  ·  DEMONSTRATION</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200" b="1" dirty="0">
                <a:solidFill>
                  <a:srgbClr val="111827"/>
                </a:solidFill>
                <a:latin typeface="Arial" pitchFamily="34" charset="0"/>
                <a:ea typeface="Arial" pitchFamily="34" charset="-122"/>
                <a:cs typeface="Arial" pitchFamily="34" charset="-120"/>
              </a:rPr>
              <a:t>Project Demonstration</a:t>
            </a:r>
            <a:endParaRPr lang="en-US" sz="3200" dirty="0"/>
          </a:p>
        </p:txBody>
      </p:sp>
      <p:sp>
        <p:nvSpPr>
          <p:cNvPr id="5" name="Shape 3"/>
          <p:cNvSpPr/>
          <p:nvPr/>
        </p:nvSpPr>
        <p:spPr>
          <a:xfrm>
            <a:off x="548640" y="1920240"/>
            <a:ext cx="2606040" cy="2651760"/>
          </a:xfrm>
          <a:prstGeom prst="roundRect">
            <a:avLst>
              <a:gd name="adj" fmla="val 2807"/>
            </a:avLst>
          </a:prstGeom>
          <a:solidFill>
            <a:srgbClr val="EFF6FF"/>
          </a:solidFill>
          <a:ln w="12700">
            <a:solidFill>
              <a:srgbClr val="DBEAFE"/>
            </a:solidFill>
            <a:prstDash val="solid"/>
          </a:ln>
        </p:spPr>
        <p:txBody>
          <a:bodyPr/>
          <a:lstStyle/>
          <a:p>
            <a:endParaRPr lang="en-US"/>
          </a:p>
        </p:txBody>
      </p:sp>
      <p:sp>
        <p:nvSpPr>
          <p:cNvPr id="6" name="Shape 4"/>
          <p:cNvSpPr/>
          <p:nvPr/>
        </p:nvSpPr>
        <p:spPr>
          <a:xfrm>
            <a:off x="1531620" y="2194560"/>
            <a:ext cx="640080" cy="640080"/>
          </a:xfrm>
          <a:prstGeom prst="ellipse">
            <a:avLst/>
          </a:prstGeom>
          <a:solidFill>
            <a:srgbClr val="1E3A8A"/>
          </a:solidFill>
          <a:ln/>
        </p:spPr>
        <p:txBody>
          <a:bodyPr/>
          <a:lstStyle/>
          <a:p>
            <a:endParaRPr lang="en-US"/>
          </a:p>
        </p:txBody>
      </p:sp>
      <p:pic>
        <p:nvPicPr>
          <p:cNvPr id="7" name="Image 0" descr="/home/claude/icons/desktop_white.png"/>
          <p:cNvPicPr>
            <a:picLocks noChangeAspect="1"/>
          </p:cNvPicPr>
          <p:nvPr/>
        </p:nvPicPr>
        <p:blipFill>
          <a:blip r:embed="rId3"/>
          <a:stretch>
            <a:fillRect/>
          </a:stretch>
        </p:blipFill>
        <p:spPr>
          <a:xfrm>
            <a:off x="1677924" y="2340864"/>
            <a:ext cx="347472" cy="347472"/>
          </a:xfrm>
          <a:prstGeom prst="rect">
            <a:avLst/>
          </a:prstGeom>
        </p:spPr>
      </p:pic>
      <p:sp>
        <p:nvSpPr>
          <p:cNvPr id="8" name="Text 5"/>
          <p:cNvSpPr/>
          <p:nvPr/>
        </p:nvSpPr>
        <p:spPr>
          <a:xfrm>
            <a:off x="548640" y="2971800"/>
            <a:ext cx="2606040" cy="228600"/>
          </a:xfrm>
          <a:prstGeom prst="rect">
            <a:avLst/>
          </a:prstGeom>
          <a:noFill/>
          <a:ln/>
        </p:spPr>
        <p:txBody>
          <a:bodyPr wrap="square" rtlCol="0" anchor="ctr"/>
          <a:lstStyle/>
          <a:p>
            <a:pPr marL="0" indent="0" algn="ctr">
              <a:buNone/>
            </a:pPr>
            <a:r>
              <a:rPr lang="en-US" sz="900" b="1" kern="0" spc="100" dirty="0">
                <a:solidFill>
                  <a:srgbClr val="2563EB"/>
                </a:solidFill>
                <a:latin typeface="Arial" pitchFamily="34" charset="0"/>
                <a:ea typeface="Arial" pitchFamily="34" charset="-122"/>
                <a:cs typeface="Arial" pitchFamily="34" charset="-120"/>
              </a:rPr>
              <a:t>STAGE 1</a:t>
            </a:r>
            <a:endParaRPr lang="en-US" sz="900" dirty="0"/>
          </a:p>
        </p:txBody>
      </p:sp>
      <p:sp>
        <p:nvSpPr>
          <p:cNvPr id="9" name="Text 6"/>
          <p:cNvSpPr/>
          <p:nvPr/>
        </p:nvSpPr>
        <p:spPr>
          <a:xfrm>
            <a:off x="548640" y="3182112"/>
            <a:ext cx="2606040" cy="320040"/>
          </a:xfrm>
          <a:prstGeom prst="rect">
            <a:avLst/>
          </a:prstGeom>
          <a:noFill/>
          <a:ln/>
        </p:spPr>
        <p:txBody>
          <a:bodyPr wrap="square"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Input</a:t>
            </a:r>
            <a:endParaRPr lang="en-US" sz="1400" dirty="0"/>
          </a:p>
        </p:txBody>
      </p:sp>
      <p:sp>
        <p:nvSpPr>
          <p:cNvPr id="10" name="Text 7"/>
          <p:cNvSpPr/>
          <p:nvPr/>
        </p:nvSpPr>
        <p:spPr>
          <a:xfrm>
            <a:off x="731520" y="3547872"/>
            <a:ext cx="2240280" cy="914400"/>
          </a:xfrm>
          <a:prstGeom prst="rect">
            <a:avLst/>
          </a:prstGeom>
          <a:noFill/>
          <a:ln/>
        </p:spPr>
        <p:txBody>
          <a:bodyPr wrap="square" rtlCol="0" anchor="ctr"/>
          <a:lstStyle/>
          <a:p>
            <a:pPr marL="0" indent="0" algn="ctr">
              <a:lnSpc>
                <a:spcPct val="120000"/>
              </a:lnSpc>
              <a:buNone/>
            </a:pPr>
            <a:r>
              <a:rPr lang="en-US" sz="1000" dirty="0">
                <a:solidFill>
                  <a:srgbClr val="4B5563"/>
                </a:solidFill>
                <a:latin typeface="Arial" pitchFamily="34" charset="0"/>
                <a:ea typeface="Arial" pitchFamily="34" charset="-122"/>
                <a:cs typeface="Arial" pitchFamily="34" charset="-120"/>
              </a:rPr>
              <a:t>Enter a student's Attendance, Hours Studied, Previous Score, Sleep Hours, Tutoring Sessions.</a:t>
            </a:r>
            <a:endParaRPr lang="en-US" sz="1000" dirty="0"/>
          </a:p>
        </p:txBody>
      </p:sp>
      <p:pic>
        <p:nvPicPr>
          <p:cNvPr id="11" name="Image 1" descr="/home/claude/icons/arrow_right_blue.png"/>
          <p:cNvPicPr>
            <a:picLocks noChangeAspect="1"/>
          </p:cNvPicPr>
          <p:nvPr/>
        </p:nvPicPr>
        <p:blipFill>
          <a:blip r:embed="rId4"/>
          <a:stretch>
            <a:fillRect/>
          </a:stretch>
        </p:blipFill>
        <p:spPr>
          <a:xfrm>
            <a:off x="3150108" y="3127248"/>
            <a:ext cx="237744" cy="237744"/>
          </a:xfrm>
          <a:prstGeom prst="rect">
            <a:avLst/>
          </a:prstGeom>
        </p:spPr>
      </p:pic>
      <p:sp>
        <p:nvSpPr>
          <p:cNvPr id="12" name="Shape 8"/>
          <p:cNvSpPr/>
          <p:nvPr/>
        </p:nvSpPr>
        <p:spPr>
          <a:xfrm>
            <a:off x="3383280" y="1920240"/>
            <a:ext cx="2606040" cy="2651760"/>
          </a:xfrm>
          <a:prstGeom prst="roundRect">
            <a:avLst>
              <a:gd name="adj" fmla="val 2807"/>
            </a:avLst>
          </a:prstGeom>
          <a:solidFill>
            <a:srgbClr val="FFFFFF"/>
          </a:solidFill>
          <a:ln w="12700">
            <a:solidFill>
              <a:srgbClr val="DBEAFE"/>
            </a:solidFill>
            <a:prstDash val="solid"/>
          </a:ln>
        </p:spPr>
        <p:txBody>
          <a:bodyPr/>
          <a:lstStyle/>
          <a:p>
            <a:endParaRPr lang="en-US"/>
          </a:p>
        </p:txBody>
      </p:sp>
      <p:sp>
        <p:nvSpPr>
          <p:cNvPr id="13" name="Shape 9"/>
          <p:cNvSpPr/>
          <p:nvPr/>
        </p:nvSpPr>
        <p:spPr>
          <a:xfrm>
            <a:off x="4366260" y="2194560"/>
            <a:ext cx="640080" cy="640080"/>
          </a:xfrm>
          <a:prstGeom prst="ellipse">
            <a:avLst/>
          </a:prstGeom>
          <a:solidFill>
            <a:srgbClr val="1E3A8A"/>
          </a:solidFill>
          <a:ln/>
        </p:spPr>
        <p:txBody>
          <a:bodyPr/>
          <a:lstStyle/>
          <a:p>
            <a:endParaRPr lang="en-US"/>
          </a:p>
        </p:txBody>
      </p:sp>
      <p:pic>
        <p:nvPicPr>
          <p:cNvPr id="14" name="Image 2" descr="/home/claude/icons/cogs_white.png"/>
          <p:cNvPicPr>
            <a:picLocks noChangeAspect="1"/>
          </p:cNvPicPr>
          <p:nvPr/>
        </p:nvPicPr>
        <p:blipFill>
          <a:blip r:embed="rId5"/>
          <a:stretch>
            <a:fillRect/>
          </a:stretch>
        </p:blipFill>
        <p:spPr>
          <a:xfrm>
            <a:off x="4512564" y="2340864"/>
            <a:ext cx="347472" cy="347472"/>
          </a:xfrm>
          <a:prstGeom prst="rect">
            <a:avLst/>
          </a:prstGeom>
        </p:spPr>
      </p:pic>
      <p:sp>
        <p:nvSpPr>
          <p:cNvPr id="15" name="Text 10"/>
          <p:cNvSpPr/>
          <p:nvPr/>
        </p:nvSpPr>
        <p:spPr>
          <a:xfrm>
            <a:off x="3383280" y="2971800"/>
            <a:ext cx="2606040" cy="228600"/>
          </a:xfrm>
          <a:prstGeom prst="rect">
            <a:avLst/>
          </a:prstGeom>
          <a:noFill/>
          <a:ln/>
        </p:spPr>
        <p:txBody>
          <a:bodyPr wrap="square" rtlCol="0" anchor="ctr"/>
          <a:lstStyle/>
          <a:p>
            <a:pPr marL="0" indent="0" algn="ctr">
              <a:buNone/>
            </a:pPr>
            <a:r>
              <a:rPr lang="en-US" sz="900" b="1" kern="0" spc="100" dirty="0">
                <a:solidFill>
                  <a:srgbClr val="2563EB"/>
                </a:solidFill>
                <a:latin typeface="Arial" pitchFamily="34" charset="0"/>
                <a:ea typeface="Arial" pitchFamily="34" charset="-122"/>
                <a:cs typeface="Arial" pitchFamily="34" charset="-120"/>
              </a:rPr>
              <a:t>STAGE 2</a:t>
            </a:r>
            <a:endParaRPr lang="en-US" sz="900" dirty="0"/>
          </a:p>
        </p:txBody>
      </p:sp>
      <p:sp>
        <p:nvSpPr>
          <p:cNvPr id="16" name="Text 11"/>
          <p:cNvSpPr/>
          <p:nvPr/>
        </p:nvSpPr>
        <p:spPr>
          <a:xfrm>
            <a:off x="3383280" y="3182112"/>
            <a:ext cx="2606040" cy="320040"/>
          </a:xfrm>
          <a:prstGeom prst="rect">
            <a:avLst/>
          </a:prstGeom>
          <a:noFill/>
          <a:ln/>
        </p:spPr>
        <p:txBody>
          <a:bodyPr wrap="square"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Processing</a:t>
            </a:r>
            <a:endParaRPr lang="en-US" sz="1400" dirty="0"/>
          </a:p>
        </p:txBody>
      </p:sp>
      <p:sp>
        <p:nvSpPr>
          <p:cNvPr id="17" name="Text 12"/>
          <p:cNvSpPr/>
          <p:nvPr/>
        </p:nvSpPr>
        <p:spPr>
          <a:xfrm>
            <a:off x="3566160" y="3547872"/>
            <a:ext cx="2240280" cy="914400"/>
          </a:xfrm>
          <a:prstGeom prst="rect">
            <a:avLst/>
          </a:prstGeom>
          <a:noFill/>
          <a:ln/>
        </p:spPr>
        <p:txBody>
          <a:bodyPr wrap="square" rtlCol="0" anchor="ctr"/>
          <a:lstStyle/>
          <a:p>
            <a:pPr marL="0" indent="0" algn="ctr">
              <a:lnSpc>
                <a:spcPct val="120000"/>
              </a:lnSpc>
              <a:buNone/>
            </a:pPr>
            <a:r>
              <a:rPr lang="en-US" sz="1000" dirty="0">
                <a:solidFill>
                  <a:srgbClr val="4B5563"/>
                </a:solidFill>
                <a:latin typeface="Arial" pitchFamily="34" charset="0"/>
                <a:ea typeface="Arial" pitchFamily="34" charset="-122"/>
                <a:cs typeface="Arial" pitchFamily="34" charset="-120"/>
              </a:rPr>
              <a:t>scaler.transform() standardizes the input, then the saved stacking model runs inference.</a:t>
            </a:r>
            <a:endParaRPr lang="en-US" sz="1000" dirty="0"/>
          </a:p>
        </p:txBody>
      </p:sp>
      <p:pic>
        <p:nvPicPr>
          <p:cNvPr id="18" name="Image 3" descr="/home/claude/icons/arrow_right_blue.png"/>
          <p:cNvPicPr>
            <a:picLocks noChangeAspect="1"/>
          </p:cNvPicPr>
          <p:nvPr/>
        </p:nvPicPr>
        <p:blipFill>
          <a:blip r:embed="rId4"/>
          <a:stretch>
            <a:fillRect/>
          </a:stretch>
        </p:blipFill>
        <p:spPr>
          <a:xfrm>
            <a:off x="5984748" y="3127248"/>
            <a:ext cx="237744" cy="237744"/>
          </a:xfrm>
          <a:prstGeom prst="rect">
            <a:avLst/>
          </a:prstGeom>
        </p:spPr>
      </p:pic>
      <p:sp>
        <p:nvSpPr>
          <p:cNvPr id="19" name="Shape 13"/>
          <p:cNvSpPr/>
          <p:nvPr/>
        </p:nvSpPr>
        <p:spPr>
          <a:xfrm>
            <a:off x="6217920" y="1920240"/>
            <a:ext cx="2606040" cy="2651760"/>
          </a:xfrm>
          <a:prstGeom prst="roundRect">
            <a:avLst>
              <a:gd name="adj" fmla="val 2807"/>
            </a:avLst>
          </a:prstGeom>
          <a:solidFill>
            <a:srgbClr val="EFF6FF"/>
          </a:solidFill>
          <a:ln w="12700">
            <a:solidFill>
              <a:srgbClr val="DBEAFE"/>
            </a:solidFill>
            <a:prstDash val="solid"/>
          </a:ln>
        </p:spPr>
        <p:txBody>
          <a:bodyPr/>
          <a:lstStyle/>
          <a:p>
            <a:endParaRPr lang="en-US"/>
          </a:p>
        </p:txBody>
      </p:sp>
      <p:sp>
        <p:nvSpPr>
          <p:cNvPr id="20" name="Shape 14"/>
          <p:cNvSpPr/>
          <p:nvPr/>
        </p:nvSpPr>
        <p:spPr>
          <a:xfrm>
            <a:off x="7200900" y="2194560"/>
            <a:ext cx="640080" cy="640080"/>
          </a:xfrm>
          <a:prstGeom prst="ellipse">
            <a:avLst/>
          </a:prstGeom>
          <a:solidFill>
            <a:srgbClr val="1E3A8A"/>
          </a:solidFill>
          <a:ln/>
        </p:spPr>
        <p:txBody>
          <a:bodyPr/>
          <a:lstStyle/>
          <a:p>
            <a:endParaRPr lang="en-US"/>
          </a:p>
        </p:txBody>
      </p:sp>
      <p:pic>
        <p:nvPicPr>
          <p:cNvPr id="21" name="Image 4" descr="/home/claude/icons/chart_bar_white.png"/>
          <p:cNvPicPr>
            <a:picLocks noChangeAspect="1"/>
          </p:cNvPicPr>
          <p:nvPr/>
        </p:nvPicPr>
        <p:blipFill>
          <a:blip r:embed="rId6"/>
          <a:stretch>
            <a:fillRect/>
          </a:stretch>
        </p:blipFill>
        <p:spPr>
          <a:xfrm>
            <a:off x="7347204" y="2340864"/>
            <a:ext cx="347472" cy="347472"/>
          </a:xfrm>
          <a:prstGeom prst="rect">
            <a:avLst/>
          </a:prstGeom>
        </p:spPr>
      </p:pic>
      <p:sp>
        <p:nvSpPr>
          <p:cNvPr id="22" name="Text 15"/>
          <p:cNvSpPr/>
          <p:nvPr/>
        </p:nvSpPr>
        <p:spPr>
          <a:xfrm>
            <a:off x="6217920" y="2971800"/>
            <a:ext cx="2606040" cy="228600"/>
          </a:xfrm>
          <a:prstGeom prst="rect">
            <a:avLst/>
          </a:prstGeom>
          <a:noFill/>
          <a:ln/>
        </p:spPr>
        <p:txBody>
          <a:bodyPr wrap="square" rtlCol="0" anchor="ctr"/>
          <a:lstStyle/>
          <a:p>
            <a:pPr marL="0" indent="0" algn="ctr">
              <a:buNone/>
            </a:pPr>
            <a:r>
              <a:rPr lang="en-US" sz="900" b="1" kern="0" spc="100" dirty="0">
                <a:solidFill>
                  <a:srgbClr val="2563EB"/>
                </a:solidFill>
                <a:latin typeface="Arial" pitchFamily="34" charset="0"/>
                <a:ea typeface="Arial" pitchFamily="34" charset="-122"/>
                <a:cs typeface="Arial" pitchFamily="34" charset="-120"/>
              </a:rPr>
              <a:t>STAGE 3</a:t>
            </a:r>
            <a:endParaRPr lang="en-US" sz="900" dirty="0"/>
          </a:p>
        </p:txBody>
      </p:sp>
      <p:sp>
        <p:nvSpPr>
          <p:cNvPr id="23" name="Text 16"/>
          <p:cNvSpPr/>
          <p:nvPr/>
        </p:nvSpPr>
        <p:spPr>
          <a:xfrm>
            <a:off x="6217920" y="3182112"/>
            <a:ext cx="2606040" cy="320040"/>
          </a:xfrm>
          <a:prstGeom prst="rect">
            <a:avLst/>
          </a:prstGeom>
          <a:noFill/>
          <a:ln/>
        </p:spPr>
        <p:txBody>
          <a:bodyPr wrap="square"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Intermediate</a:t>
            </a:r>
            <a:endParaRPr lang="en-US" sz="1400" dirty="0"/>
          </a:p>
        </p:txBody>
      </p:sp>
      <p:sp>
        <p:nvSpPr>
          <p:cNvPr id="24" name="Text 17"/>
          <p:cNvSpPr/>
          <p:nvPr/>
        </p:nvSpPr>
        <p:spPr>
          <a:xfrm>
            <a:off x="6400800" y="3547872"/>
            <a:ext cx="2240280" cy="914400"/>
          </a:xfrm>
          <a:prstGeom prst="rect">
            <a:avLst/>
          </a:prstGeom>
          <a:noFill/>
          <a:ln/>
        </p:spPr>
        <p:txBody>
          <a:bodyPr wrap="square" rtlCol="0" anchor="ctr"/>
          <a:lstStyle/>
          <a:p>
            <a:pPr marL="0" indent="0" algn="ctr">
              <a:lnSpc>
                <a:spcPct val="120000"/>
              </a:lnSpc>
              <a:buNone/>
            </a:pPr>
            <a:r>
              <a:rPr lang="en-US" sz="1000" dirty="0">
                <a:solidFill>
                  <a:srgbClr val="4B5563"/>
                </a:solidFill>
                <a:latin typeface="Arial" pitchFamily="34" charset="0"/>
                <a:ea typeface="Arial" pitchFamily="34" charset="-122"/>
                <a:cs typeface="Arial" pitchFamily="34" charset="-120"/>
              </a:rPr>
              <a:t>Linear Regression &amp; each produce a base prediction, passed to XGBoost.</a:t>
            </a:r>
            <a:endParaRPr lang="en-US" sz="1000" dirty="0"/>
          </a:p>
        </p:txBody>
      </p:sp>
      <p:pic>
        <p:nvPicPr>
          <p:cNvPr id="25" name="Image 5" descr="/home/claude/icons/arrow_right_blue.png"/>
          <p:cNvPicPr>
            <a:picLocks noChangeAspect="1"/>
          </p:cNvPicPr>
          <p:nvPr/>
        </p:nvPicPr>
        <p:blipFill>
          <a:blip r:embed="rId4"/>
          <a:stretch>
            <a:fillRect/>
          </a:stretch>
        </p:blipFill>
        <p:spPr>
          <a:xfrm>
            <a:off x="8819388" y="3127248"/>
            <a:ext cx="237744" cy="237744"/>
          </a:xfrm>
          <a:prstGeom prst="rect">
            <a:avLst/>
          </a:prstGeom>
        </p:spPr>
      </p:pic>
      <p:sp>
        <p:nvSpPr>
          <p:cNvPr id="26" name="Shape 18"/>
          <p:cNvSpPr/>
          <p:nvPr/>
        </p:nvSpPr>
        <p:spPr>
          <a:xfrm>
            <a:off x="9052560" y="1920240"/>
            <a:ext cx="2606040" cy="2651760"/>
          </a:xfrm>
          <a:prstGeom prst="roundRect">
            <a:avLst>
              <a:gd name="adj" fmla="val 2807"/>
            </a:avLst>
          </a:prstGeom>
          <a:solidFill>
            <a:srgbClr val="FFFFFF"/>
          </a:solidFill>
          <a:ln w="12700">
            <a:solidFill>
              <a:srgbClr val="DBEAFE"/>
            </a:solidFill>
            <a:prstDash val="solid"/>
          </a:ln>
        </p:spPr>
        <p:txBody>
          <a:bodyPr/>
          <a:lstStyle/>
          <a:p>
            <a:endParaRPr lang="en-US"/>
          </a:p>
        </p:txBody>
      </p:sp>
      <p:sp>
        <p:nvSpPr>
          <p:cNvPr id="27" name="Shape 19"/>
          <p:cNvSpPr/>
          <p:nvPr/>
        </p:nvSpPr>
        <p:spPr>
          <a:xfrm>
            <a:off x="10035540" y="2194560"/>
            <a:ext cx="640080" cy="640080"/>
          </a:xfrm>
          <a:prstGeom prst="ellipse">
            <a:avLst/>
          </a:prstGeom>
          <a:solidFill>
            <a:srgbClr val="1E3A8A"/>
          </a:solidFill>
          <a:ln/>
        </p:spPr>
        <p:txBody>
          <a:bodyPr/>
          <a:lstStyle/>
          <a:p>
            <a:endParaRPr lang="en-US"/>
          </a:p>
        </p:txBody>
      </p:sp>
      <p:pic>
        <p:nvPicPr>
          <p:cNvPr id="28" name="Image 6" descr="/home/claude/icons/check_circle_white.png"/>
          <p:cNvPicPr>
            <a:picLocks noChangeAspect="1"/>
          </p:cNvPicPr>
          <p:nvPr/>
        </p:nvPicPr>
        <p:blipFill>
          <a:blip r:embed="rId7"/>
          <a:stretch>
            <a:fillRect/>
          </a:stretch>
        </p:blipFill>
        <p:spPr>
          <a:xfrm>
            <a:off x="10181844" y="2340864"/>
            <a:ext cx="347472" cy="347472"/>
          </a:xfrm>
          <a:prstGeom prst="rect">
            <a:avLst/>
          </a:prstGeom>
        </p:spPr>
      </p:pic>
      <p:sp>
        <p:nvSpPr>
          <p:cNvPr id="29" name="Text 20"/>
          <p:cNvSpPr/>
          <p:nvPr/>
        </p:nvSpPr>
        <p:spPr>
          <a:xfrm>
            <a:off x="9052560" y="2971800"/>
            <a:ext cx="2606040" cy="228600"/>
          </a:xfrm>
          <a:prstGeom prst="rect">
            <a:avLst/>
          </a:prstGeom>
          <a:noFill/>
          <a:ln/>
        </p:spPr>
        <p:txBody>
          <a:bodyPr wrap="square" rtlCol="0" anchor="ctr"/>
          <a:lstStyle/>
          <a:p>
            <a:pPr marL="0" indent="0" algn="ctr">
              <a:buNone/>
            </a:pPr>
            <a:r>
              <a:rPr lang="en-US" sz="900" b="1" kern="0" spc="100" dirty="0">
                <a:solidFill>
                  <a:srgbClr val="2563EB"/>
                </a:solidFill>
                <a:latin typeface="Arial" pitchFamily="34" charset="0"/>
                <a:ea typeface="Arial" pitchFamily="34" charset="-122"/>
                <a:cs typeface="Arial" pitchFamily="34" charset="-120"/>
              </a:rPr>
              <a:t>STAGE 4</a:t>
            </a:r>
            <a:endParaRPr lang="en-US" sz="900" dirty="0"/>
          </a:p>
        </p:txBody>
      </p:sp>
      <p:sp>
        <p:nvSpPr>
          <p:cNvPr id="30" name="Text 21"/>
          <p:cNvSpPr/>
          <p:nvPr/>
        </p:nvSpPr>
        <p:spPr>
          <a:xfrm>
            <a:off x="9052560" y="3182112"/>
            <a:ext cx="2606040" cy="320040"/>
          </a:xfrm>
          <a:prstGeom prst="rect">
            <a:avLst/>
          </a:prstGeom>
          <a:noFill/>
          <a:ln/>
        </p:spPr>
        <p:txBody>
          <a:bodyPr wrap="square"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Output</a:t>
            </a:r>
            <a:endParaRPr lang="en-US" sz="1400" dirty="0"/>
          </a:p>
        </p:txBody>
      </p:sp>
      <p:sp>
        <p:nvSpPr>
          <p:cNvPr id="31" name="Text 22"/>
          <p:cNvSpPr/>
          <p:nvPr/>
        </p:nvSpPr>
        <p:spPr>
          <a:xfrm>
            <a:off x="9235440" y="3547872"/>
            <a:ext cx="2240280" cy="914400"/>
          </a:xfrm>
          <a:prstGeom prst="rect">
            <a:avLst/>
          </a:prstGeom>
          <a:noFill/>
          <a:ln/>
        </p:spPr>
        <p:txBody>
          <a:bodyPr wrap="square" rtlCol="0" anchor="ctr"/>
          <a:lstStyle/>
          <a:p>
            <a:pPr marL="0" indent="0" algn="ctr">
              <a:lnSpc>
                <a:spcPct val="120000"/>
              </a:lnSpc>
              <a:buNone/>
            </a:pPr>
            <a:r>
              <a:rPr lang="en-US" sz="1000" dirty="0">
                <a:solidFill>
                  <a:srgbClr val="4B5563"/>
                </a:solidFill>
                <a:latin typeface="Arial" pitchFamily="34" charset="0"/>
                <a:ea typeface="Arial" pitchFamily="34" charset="-122"/>
                <a:cs typeface="Arial" pitchFamily="34" charset="-120"/>
              </a:rPr>
              <a:t>The model returns a single predicted Exam Score for the student.</a:t>
            </a:r>
            <a:endParaRPr lang="en-US" sz="1000" dirty="0"/>
          </a:p>
        </p:txBody>
      </p:sp>
      <p:sp>
        <p:nvSpPr>
          <p:cNvPr id="32" name="Shape 23"/>
          <p:cNvSpPr/>
          <p:nvPr/>
        </p:nvSpPr>
        <p:spPr>
          <a:xfrm>
            <a:off x="548640" y="4892040"/>
            <a:ext cx="11064240" cy="1234440"/>
          </a:xfrm>
          <a:prstGeom prst="roundRect">
            <a:avLst>
              <a:gd name="adj" fmla="val 5926"/>
            </a:avLst>
          </a:prstGeom>
          <a:solidFill>
            <a:srgbClr val="111827"/>
          </a:solidFill>
          <a:ln/>
        </p:spPr>
        <p:txBody>
          <a:bodyPr/>
          <a:lstStyle/>
          <a:p>
            <a:endParaRPr lang="en-US"/>
          </a:p>
        </p:txBody>
      </p:sp>
      <p:sp>
        <p:nvSpPr>
          <p:cNvPr id="33" name="Text 24"/>
          <p:cNvSpPr/>
          <p:nvPr/>
        </p:nvSpPr>
        <p:spPr>
          <a:xfrm>
            <a:off x="822960" y="5029200"/>
            <a:ext cx="4572000" cy="256032"/>
          </a:xfrm>
          <a:prstGeom prst="rect">
            <a:avLst/>
          </a:prstGeom>
          <a:noFill/>
          <a:ln/>
        </p:spPr>
        <p:txBody>
          <a:bodyPr wrap="square" rtlCol="0" anchor="ctr"/>
          <a:lstStyle/>
          <a:p>
            <a:pPr marL="0" indent="0">
              <a:buNone/>
            </a:pPr>
            <a:r>
              <a:rPr lang="en-US" sz="1000" b="1" kern="0" spc="150" dirty="0">
                <a:solidFill>
                  <a:srgbClr val="F59E0B"/>
                </a:solidFill>
                <a:latin typeface="Arial" pitchFamily="34" charset="0"/>
                <a:ea typeface="Arial" pitchFamily="34" charset="-122"/>
                <a:cs typeface="Arial" pitchFamily="34" charset="-120"/>
              </a:rPr>
              <a:t>SAMPLE DEMO SCENARIO</a:t>
            </a:r>
            <a:endParaRPr lang="en-US" sz="1000" dirty="0"/>
          </a:p>
        </p:txBody>
      </p:sp>
      <p:sp>
        <p:nvSpPr>
          <p:cNvPr id="34" name="Text 25"/>
          <p:cNvSpPr/>
          <p:nvPr/>
        </p:nvSpPr>
        <p:spPr>
          <a:xfrm>
            <a:off x="822960" y="5321808"/>
            <a:ext cx="10515600" cy="640080"/>
          </a:xfrm>
          <a:prstGeom prst="rect">
            <a:avLst/>
          </a:prstGeom>
          <a:noFill/>
          <a:ln/>
        </p:spPr>
        <p:txBody>
          <a:bodyPr wrap="square" rtlCol="0" anchor="ctr"/>
          <a:lstStyle/>
          <a:p>
            <a:pPr marL="0" indent="0">
              <a:lnSpc>
                <a:spcPct val="120000"/>
              </a:lnSpc>
              <a:buNone/>
            </a:pPr>
            <a:r>
              <a:rPr lang="en-US" sz="1200" dirty="0">
                <a:solidFill>
                  <a:srgbClr val="FFFFFF"/>
                </a:solidFill>
                <a:latin typeface="Arial" pitchFamily="34" charset="0"/>
                <a:ea typeface="Arial" pitchFamily="34" charset="-122"/>
                <a:cs typeface="Arial" pitchFamily="34" charset="-120"/>
              </a:rPr>
              <a:t>Attendance: 85%   ·   Hours Studied: 6   ·   Previous Score: 78   ·   Sleep Hours: 7   ·   Tutoring Sessions: 3   →   Predicted Exam Score: [live demo output]</a:t>
            </a:r>
            <a:endParaRPr lang="en-US" sz="1200" dirty="0"/>
          </a:p>
        </p:txBody>
      </p:sp>
      <p:sp>
        <p:nvSpPr>
          <p:cNvPr id="35" name="Text 26"/>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65760"/>
          </a:xfrm>
          <a:prstGeom prst="roundRect">
            <a:avLst>
              <a:gd name="adj" fmla="val 20000"/>
            </a:avLst>
          </a:prstGeom>
          <a:solidFill>
            <a:srgbClr val="EFF6FF"/>
          </a:solidFill>
          <a:ln/>
        </p:spPr>
        <p:txBody>
          <a:bodyPr/>
          <a:lstStyle/>
          <a:p>
            <a:endParaRPr lang="en-US"/>
          </a:p>
        </p:txBody>
      </p:sp>
      <p:sp>
        <p:nvSpPr>
          <p:cNvPr id="3" name="Text 1"/>
          <p:cNvSpPr/>
          <p:nvPr/>
        </p:nvSpPr>
        <p:spPr>
          <a:xfrm>
            <a:off x="548640" y="457200"/>
            <a:ext cx="2377440" cy="365760"/>
          </a:xfrm>
          <a:prstGeom prst="rect">
            <a:avLst/>
          </a:prstGeom>
          <a:noFill/>
          <a:ln/>
        </p:spPr>
        <p:txBody>
          <a:bodyPr wrap="square" rtlCol="0" anchor="ctr"/>
          <a:lstStyle/>
          <a:p>
            <a:pPr marL="0" indent="0" algn="ctr">
              <a:buNone/>
            </a:pPr>
            <a:r>
              <a:rPr lang="en-US" sz="1100" b="1" kern="0" spc="200" dirty="0">
                <a:solidFill>
                  <a:srgbClr val="1E3A8A"/>
                </a:solidFill>
                <a:latin typeface="Arial" pitchFamily="34" charset="0"/>
                <a:ea typeface="Arial" pitchFamily="34" charset="-122"/>
                <a:cs typeface="Arial" pitchFamily="34" charset="-120"/>
              </a:rPr>
              <a:t>10  ·  CONCLUSION</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200" b="1" dirty="0">
                <a:solidFill>
                  <a:srgbClr val="111827"/>
                </a:solidFill>
                <a:latin typeface="Arial" pitchFamily="34" charset="0"/>
                <a:ea typeface="Arial" pitchFamily="34" charset="-122"/>
                <a:cs typeface="Arial" pitchFamily="34" charset="-120"/>
              </a:rPr>
              <a:t>Conclusion</a:t>
            </a:r>
            <a:endParaRPr lang="en-US" sz="3200" dirty="0"/>
          </a:p>
        </p:txBody>
      </p:sp>
      <p:sp>
        <p:nvSpPr>
          <p:cNvPr id="5" name="Shape 3"/>
          <p:cNvSpPr/>
          <p:nvPr/>
        </p:nvSpPr>
        <p:spPr>
          <a:xfrm>
            <a:off x="548640" y="1737360"/>
            <a:ext cx="5349240" cy="2148840"/>
          </a:xfrm>
          <a:prstGeom prst="roundRect">
            <a:avLst>
              <a:gd name="adj" fmla="val 3404"/>
            </a:avLst>
          </a:prstGeom>
          <a:solidFill>
            <a:srgbClr val="EFF6FF"/>
          </a:solidFill>
          <a:ln/>
        </p:spPr>
        <p:txBody>
          <a:bodyPr/>
          <a:lstStyle/>
          <a:p>
            <a:endParaRPr lang="en-US"/>
          </a:p>
        </p:txBody>
      </p:sp>
      <p:sp>
        <p:nvSpPr>
          <p:cNvPr id="6" name="Shape 4"/>
          <p:cNvSpPr/>
          <p:nvPr/>
        </p:nvSpPr>
        <p:spPr>
          <a:xfrm>
            <a:off x="777240" y="1965960"/>
            <a:ext cx="502920" cy="502920"/>
          </a:xfrm>
          <a:prstGeom prst="ellipse">
            <a:avLst/>
          </a:prstGeom>
          <a:solidFill>
            <a:srgbClr val="1E3A8A"/>
          </a:solidFill>
          <a:ln/>
        </p:spPr>
        <p:txBody>
          <a:bodyPr/>
          <a:lstStyle/>
          <a:p>
            <a:endParaRPr lang="en-US"/>
          </a:p>
        </p:txBody>
      </p:sp>
      <p:pic>
        <p:nvPicPr>
          <p:cNvPr id="7" name="Image 0" descr="/home/claude/icons/check_circle_white.png"/>
          <p:cNvPicPr>
            <a:picLocks noChangeAspect="1"/>
          </p:cNvPicPr>
          <p:nvPr/>
        </p:nvPicPr>
        <p:blipFill>
          <a:blip r:embed="rId3"/>
          <a:stretch>
            <a:fillRect/>
          </a:stretch>
        </p:blipFill>
        <p:spPr>
          <a:xfrm>
            <a:off x="882396" y="2071116"/>
            <a:ext cx="292608" cy="292608"/>
          </a:xfrm>
          <a:prstGeom prst="rect">
            <a:avLst/>
          </a:prstGeom>
        </p:spPr>
      </p:pic>
      <p:sp>
        <p:nvSpPr>
          <p:cNvPr id="8" name="Text 5"/>
          <p:cNvSpPr/>
          <p:nvPr/>
        </p:nvSpPr>
        <p:spPr>
          <a:xfrm>
            <a:off x="1417320" y="2011680"/>
            <a:ext cx="4251960" cy="411480"/>
          </a:xfrm>
          <a:prstGeom prst="rect">
            <a:avLst/>
          </a:prstGeom>
          <a:noFill/>
          <a:ln/>
        </p:spPr>
        <p:txBody>
          <a:bodyPr wrap="square" rtlCol="0" anchor="ctr"/>
          <a:lstStyle/>
          <a:p>
            <a:pPr marL="0" indent="0">
              <a:buNone/>
            </a:pPr>
            <a:r>
              <a:rPr lang="en-US" sz="1400" b="1" dirty="0">
                <a:solidFill>
                  <a:srgbClr val="111827"/>
                </a:solidFill>
                <a:latin typeface="Arial" pitchFamily="34" charset="0"/>
                <a:ea typeface="Arial" pitchFamily="34" charset="-122"/>
                <a:cs typeface="Arial" pitchFamily="34" charset="-120"/>
              </a:rPr>
              <a:t>What We Achieved</a:t>
            </a:r>
            <a:endParaRPr lang="en-US" sz="1400" dirty="0"/>
          </a:p>
        </p:txBody>
      </p:sp>
      <p:sp>
        <p:nvSpPr>
          <p:cNvPr id="9" name="Shape 6"/>
          <p:cNvSpPr/>
          <p:nvPr/>
        </p:nvSpPr>
        <p:spPr>
          <a:xfrm>
            <a:off x="822960" y="2670048"/>
            <a:ext cx="64008" cy="64008"/>
          </a:xfrm>
          <a:prstGeom prst="ellipse">
            <a:avLst/>
          </a:prstGeom>
          <a:solidFill>
            <a:srgbClr val="2563EB"/>
          </a:solidFill>
          <a:ln/>
        </p:spPr>
        <p:txBody>
          <a:bodyPr/>
          <a:lstStyle/>
          <a:p>
            <a:endParaRPr lang="en-US"/>
          </a:p>
        </p:txBody>
      </p:sp>
      <p:sp>
        <p:nvSpPr>
          <p:cNvPr id="10" name="Text 7"/>
          <p:cNvSpPr/>
          <p:nvPr/>
        </p:nvSpPr>
        <p:spPr>
          <a:xfrm>
            <a:off x="1005840" y="2560320"/>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Cleaned &amp; explored the Student Performance dataset</a:t>
            </a:r>
            <a:endParaRPr lang="en-US" sz="1050" dirty="0"/>
          </a:p>
        </p:txBody>
      </p:sp>
      <p:sp>
        <p:nvSpPr>
          <p:cNvPr id="11" name="Shape 8"/>
          <p:cNvSpPr/>
          <p:nvPr/>
        </p:nvSpPr>
        <p:spPr>
          <a:xfrm>
            <a:off x="822960" y="2980944"/>
            <a:ext cx="64008" cy="64008"/>
          </a:xfrm>
          <a:prstGeom prst="ellipse">
            <a:avLst/>
          </a:prstGeom>
          <a:solidFill>
            <a:srgbClr val="2563EB"/>
          </a:solidFill>
          <a:ln/>
        </p:spPr>
        <p:txBody>
          <a:bodyPr/>
          <a:lstStyle/>
          <a:p>
            <a:endParaRPr lang="en-US"/>
          </a:p>
        </p:txBody>
      </p:sp>
      <p:sp>
        <p:nvSpPr>
          <p:cNvPr id="12" name="Text 9"/>
          <p:cNvSpPr/>
          <p:nvPr/>
        </p:nvSpPr>
        <p:spPr>
          <a:xfrm>
            <a:off x="1005840" y="2871216"/>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Built a hybrid Stacking Regressor (LR + XGBoost → LR)</a:t>
            </a:r>
            <a:endParaRPr lang="en-US" sz="1050" dirty="0"/>
          </a:p>
        </p:txBody>
      </p:sp>
      <p:sp>
        <p:nvSpPr>
          <p:cNvPr id="13" name="Shape 10"/>
          <p:cNvSpPr/>
          <p:nvPr/>
        </p:nvSpPr>
        <p:spPr>
          <a:xfrm>
            <a:off x="822960" y="3291840"/>
            <a:ext cx="64008" cy="64008"/>
          </a:xfrm>
          <a:prstGeom prst="ellipse">
            <a:avLst/>
          </a:prstGeom>
          <a:solidFill>
            <a:srgbClr val="2563EB"/>
          </a:solidFill>
          <a:ln/>
        </p:spPr>
        <p:txBody>
          <a:bodyPr/>
          <a:lstStyle/>
          <a:p>
            <a:endParaRPr lang="en-US"/>
          </a:p>
        </p:txBody>
      </p:sp>
      <p:sp>
        <p:nvSpPr>
          <p:cNvPr id="14" name="Text 11"/>
          <p:cNvSpPr/>
          <p:nvPr/>
        </p:nvSpPr>
        <p:spPr>
          <a:xfrm>
            <a:off x="1005840" y="3182112"/>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Evaluated with MAE, MSE, RMSE, and R²</a:t>
            </a:r>
            <a:endParaRPr lang="en-US" sz="1050" dirty="0"/>
          </a:p>
        </p:txBody>
      </p:sp>
      <p:sp>
        <p:nvSpPr>
          <p:cNvPr id="15" name="Shape 12"/>
          <p:cNvSpPr/>
          <p:nvPr/>
        </p:nvSpPr>
        <p:spPr>
          <a:xfrm>
            <a:off x="822960" y="3602736"/>
            <a:ext cx="64008" cy="64008"/>
          </a:xfrm>
          <a:prstGeom prst="ellipse">
            <a:avLst/>
          </a:prstGeom>
          <a:solidFill>
            <a:srgbClr val="2563EB"/>
          </a:solidFill>
          <a:ln/>
        </p:spPr>
        <p:txBody>
          <a:bodyPr/>
          <a:lstStyle/>
          <a:p>
            <a:endParaRPr lang="en-US"/>
          </a:p>
        </p:txBody>
      </p:sp>
      <p:sp>
        <p:nvSpPr>
          <p:cNvPr id="16" name="Text 13"/>
          <p:cNvSpPr/>
          <p:nvPr/>
        </p:nvSpPr>
        <p:spPr>
          <a:xfrm>
            <a:off x="1005840" y="3493008"/>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Persisted the model for reuse via pickle</a:t>
            </a:r>
            <a:endParaRPr lang="en-US" sz="1050" dirty="0"/>
          </a:p>
        </p:txBody>
      </p:sp>
      <p:sp>
        <p:nvSpPr>
          <p:cNvPr id="17" name="Shape 14"/>
          <p:cNvSpPr/>
          <p:nvPr/>
        </p:nvSpPr>
        <p:spPr>
          <a:xfrm>
            <a:off x="6263640" y="1737360"/>
            <a:ext cx="5349240" cy="2148840"/>
          </a:xfrm>
          <a:prstGeom prst="roundRect">
            <a:avLst>
              <a:gd name="adj" fmla="val 3404"/>
            </a:avLst>
          </a:prstGeom>
          <a:solidFill>
            <a:srgbClr val="EFF6FF"/>
          </a:solidFill>
          <a:ln/>
        </p:spPr>
        <p:txBody>
          <a:bodyPr/>
          <a:lstStyle/>
          <a:p>
            <a:endParaRPr lang="en-US"/>
          </a:p>
        </p:txBody>
      </p:sp>
      <p:sp>
        <p:nvSpPr>
          <p:cNvPr id="18" name="Shape 15"/>
          <p:cNvSpPr/>
          <p:nvPr/>
        </p:nvSpPr>
        <p:spPr>
          <a:xfrm>
            <a:off x="6492240" y="1965960"/>
            <a:ext cx="502920" cy="502920"/>
          </a:xfrm>
          <a:prstGeom prst="ellipse">
            <a:avLst/>
          </a:prstGeom>
          <a:solidFill>
            <a:srgbClr val="1E3A8A"/>
          </a:solidFill>
          <a:ln/>
        </p:spPr>
        <p:txBody>
          <a:bodyPr/>
          <a:lstStyle/>
          <a:p>
            <a:endParaRPr lang="en-US"/>
          </a:p>
        </p:txBody>
      </p:sp>
      <p:pic>
        <p:nvPicPr>
          <p:cNvPr id="19" name="Image 1" descr="/home/claude/icons/bulb_white.png"/>
          <p:cNvPicPr>
            <a:picLocks noChangeAspect="1"/>
          </p:cNvPicPr>
          <p:nvPr/>
        </p:nvPicPr>
        <p:blipFill>
          <a:blip r:embed="rId4"/>
          <a:stretch>
            <a:fillRect/>
          </a:stretch>
        </p:blipFill>
        <p:spPr>
          <a:xfrm>
            <a:off x="6597396" y="2071116"/>
            <a:ext cx="292608" cy="292608"/>
          </a:xfrm>
          <a:prstGeom prst="rect">
            <a:avLst/>
          </a:prstGeom>
        </p:spPr>
      </p:pic>
      <p:sp>
        <p:nvSpPr>
          <p:cNvPr id="20" name="Text 16"/>
          <p:cNvSpPr/>
          <p:nvPr/>
        </p:nvSpPr>
        <p:spPr>
          <a:xfrm>
            <a:off x="7132320" y="2011680"/>
            <a:ext cx="4251960" cy="411480"/>
          </a:xfrm>
          <a:prstGeom prst="rect">
            <a:avLst/>
          </a:prstGeom>
          <a:noFill/>
          <a:ln/>
        </p:spPr>
        <p:txBody>
          <a:bodyPr wrap="square" rtlCol="0" anchor="ctr"/>
          <a:lstStyle/>
          <a:p>
            <a:pPr marL="0" indent="0">
              <a:buNone/>
            </a:pPr>
            <a:r>
              <a:rPr lang="en-US" sz="1400" b="1" dirty="0">
                <a:solidFill>
                  <a:srgbClr val="111827"/>
                </a:solidFill>
                <a:latin typeface="Arial" pitchFamily="34" charset="0"/>
                <a:ea typeface="Arial" pitchFamily="34" charset="-122"/>
                <a:cs typeface="Arial" pitchFamily="34" charset="-120"/>
              </a:rPr>
              <a:t>Key Learnings</a:t>
            </a:r>
            <a:endParaRPr lang="en-US" sz="1400" dirty="0"/>
          </a:p>
        </p:txBody>
      </p:sp>
      <p:sp>
        <p:nvSpPr>
          <p:cNvPr id="21" name="Shape 17"/>
          <p:cNvSpPr/>
          <p:nvPr/>
        </p:nvSpPr>
        <p:spPr>
          <a:xfrm>
            <a:off x="6537960" y="2670048"/>
            <a:ext cx="64008" cy="64008"/>
          </a:xfrm>
          <a:prstGeom prst="ellipse">
            <a:avLst/>
          </a:prstGeom>
          <a:solidFill>
            <a:srgbClr val="2563EB"/>
          </a:solidFill>
          <a:ln/>
        </p:spPr>
        <p:txBody>
          <a:bodyPr/>
          <a:lstStyle/>
          <a:p>
            <a:endParaRPr lang="en-US"/>
          </a:p>
        </p:txBody>
      </p:sp>
      <p:sp>
        <p:nvSpPr>
          <p:cNvPr id="22" name="Text 18"/>
          <p:cNvSpPr/>
          <p:nvPr/>
        </p:nvSpPr>
        <p:spPr>
          <a:xfrm>
            <a:off x="6720840" y="2560320"/>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Ensembling diverse models improves robustness</a:t>
            </a:r>
            <a:endParaRPr lang="en-US" sz="1050" dirty="0"/>
          </a:p>
        </p:txBody>
      </p:sp>
      <p:sp>
        <p:nvSpPr>
          <p:cNvPr id="23" name="Shape 19"/>
          <p:cNvSpPr/>
          <p:nvPr/>
        </p:nvSpPr>
        <p:spPr>
          <a:xfrm>
            <a:off x="6537960" y="2980944"/>
            <a:ext cx="64008" cy="64008"/>
          </a:xfrm>
          <a:prstGeom prst="ellipse">
            <a:avLst/>
          </a:prstGeom>
          <a:solidFill>
            <a:srgbClr val="2563EB"/>
          </a:solidFill>
          <a:ln/>
        </p:spPr>
        <p:txBody>
          <a:bodyPr/>
          <a:lstStyle/>
          <a:p>
            <a:endParaRPr lang="en-US"/>
          </a:p>
        </p:txBody>
      </p:sp>
      <p:sp>
        <p:nvSpPr>
          <p:cNvPr id="24" name="Text 20"/>
          <p:cNvSpPr/>
          <p:nvPr/>
        </p:nvSpPr>
        <p:spPr>
          <a:xfrm>
            <a:off x="6720840" y="2871216"/>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Feature scaling is critical for linear learners</a:t>
            </a:r>
            <a:endParaRPr lang="en-US" sz="1050" dirty="0"/>
          </a:p>
        </p:txBody>
      </p:sp>
      <p:sp>
        <p:nvSpPr>
          <p:cNvPr id="25" name="Shape 21"/>
          <p:cNvSpPr/>
          <p:nvPr/>
        </p:nvSpPr>
        <p:spPr>
          <a:xfrm>
            <a:off x="6537960" y="3291840"/>
            <a:ext cx="64008" cy="64008"/>
          </a:xfrm>
          <a:prstGeom prst="ellipse">
            <a:avLst/>
          </a:prstGeom>
          <a:solidFill>
            <a:srgbClr val="2563EB"/>
          </a:solidFill>
          <a:ln/>
        </p:spPr>
        <p:txBody>
          <a:bodyPr/>
          <a:lstStyle/>
          <a:p>
            <a:endParaRPr lang="en-US"/>
          </a:p>
        </p:txBody>
      </p:sp>
      <p:sp>
        <p:nvSpPr>
          <p:cNvPr id="26" name="Text 22"/>
          <p:cNvSpPr/>
          <p:nvPr/>
        </p:nvSpPr>
        <p:spPr>
          <a:xfrm>
            <a:off x="6720840" y="3182112"/>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Cross-validated stacking avoids information leakage</a:t>
            </a:r>
            <a:endParaRPr lang="en-US" sz="1050" dirty="0"/>
          </a:p>
        </p:txBody>
      </p:sp>
      <p:sp>
        <p:nvSpPr>
          <p:cNvPr id="27" name="Shape 23"/>
          <p:cNvSpPr/>
          <p:nvPr/>
        </p:nvSpPr>
        <p:spPr>
          <a:xfrm>
            <a:off x="6537960" y="3602736"/>
            <a:ext cx="64008" cy="64008"/>
          </a:xfrm>
          <a:prstGeom prst="ellipse">
            <a:avLst/>
          </a:prstGeom>
          <a:solidFill>
            <a:srgbClr val="2563EB"/>
          </a:solidFill>
          <a:ln/>
        </p:spPr>
        <p:txBody>
          <a:bodyPr/>
          <a:lstStyle/>
          <a:p>
            <a:endParaRPr lang="en-US"/>
          </a:p>
        </p:txBody>
      </p:sp>
      <p:sp>
        <p:nvSpPr>
          <p:cNvPr id="28" name="Text 24"/>
          <p:cNvSpPr/>
          <p:nvPr/>
        </p:nvSpPr>
        <p:spPr>
          <a:xfrm>
            <a:off x="6720840" y="3493008"/>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Feature importance builds model interpretability</a:t>
            </a:r>
            <a:endParaRPr lang="en-US" sz="1050" dirty="0"/>
          </a:p>
        </p:txBody>
      </p:sp>
      <p:sp>
        <p:nvSpPr>
          <p:cNvPr id="29" name="Shape 25"/>
          <p:cNvSpPr/>
          <p:nvPr/>
        </p:nvSpPr>
        <p:spPr>
          <a:xfrm>
            <a:off x="548640" y="4160520"/>
            <a:ext cx="5349240" cy="2148840"/>
          </a:xfrm>
          <a:prstGeom prst="roundRect">
            <a:avLst>
              <a:gd name="adj" fmla="val 3404"/>
            </a:avLst>
          </a:prstGeom>
          <a:solidFill>
            <a:srgbClr val="EFF6FF"/>
          </a:solidFill>
          <a:ln/>
        </p:spPr>
        <p:txBody>
          <a:bodyPr/>
          <a:lstStyle/>
          <a:p>
            <a:endParaRPr lang="en-US"/>
          </a:p>
        </p:txBody>
      </p:sp>
      <p:sp>
        <p:nvSpPr>
          <p:cNvPr id="30" name="Shape 26"/>
          <p:cNvSpPr/>
          <p:nvPr/>
        </p:nvSpPr>
        <p:spPr>
          <a:xfrm>
            <a:off x="777240" y="4389120"/>
            <a:ext cx="502920" cy="502920"/>
          </a:xfrm>
          <a:prstGeom prst="ellipse">
            <a:avLst/>
          </a:prstGeom>
          <a:solidFill>
            <a:srgbClr val="1E3A8A"/>
          </a:solidFill>
          <a:ln/>
        </p:spPr>
        <p:txBody>
          <a:bodyPr/>
          <a:lstStyle/>
          <a:p>
            <a:endParaRPr lang="en-US"/>
          </a:p>
        </p:txBody>
      </p:sp>
      <p:pic>
        <p:nvPicPr>
          <p:cNvPr id="31" name="Image 2" descr="/home/claude/icons/thumbs_up_white.png"/>
          <p:cNvPicPr>
            <a:picLocks noChangeAspect="1"/>
          </p:cNvPicPr>
          <p:nvPr/>
        </p:nvPicPr>
        <p:blipFill>
          <a:blip r:embed="rId5"/>
          <a:stretch>
            <a:fillRect/>
          </a:stretch>
        </p:blipFill>
        <p:spPr>
          <a:xfrm>
            <a:off x="882396" y="4494276"/>
            <a:ext cx="292608" cy="292608"/>
          </a:xfrm>
          <a:prstGeom prst="rect">
            <a:avLst/>
          </a:prstGeom>
        </p:spPr>
      </p:pic>
      <p:sp>
        <p:nvSpPr>
          <p:cNvPr id="32" name="Text 27"/>
          <p:cNvSpPr/>
          <p:nvPr/>
        </p:nvSpPr>
        <p:spPr>
          <a:xfrm>
            <a:off x="1417320" y="4434840"/>
            <a:ext cx="4251960" cy="411480"/>
          </a:xfrm>
          <a:prstGeom prst="rect">
            <a:avLst/>
          </a:prstGeom>
          <a:noFill/>
          <a:ln/>
        </p:spPr>
        <p:txBody>
          <a:bodyPr wrap="square" rtlCol="0" anchor="ctr"/>
          <a:lstStyle/>
          <a:p>
            <a:pPr marL="0" indent="0">
              <a:buNone/>
            </a:pPr>
            <a:r>
              <a:rPr lang="en-US" sz="1400" b="1" dirty="0">
                <a:solidFill>
                  <a:srgbClr val="111827"/>
                </a:solidFill>
                <a:latin typeface="Arial" pitchFamily="34" charset="0"/>
                <a:ea typeface="Arial" pitchFamily="34" charset="-122"/>
                <a:cs typeface="Arial" pitchFamily="34" charset="-120"/>
              </a:rPr>
              <a:t>Advantages</a:t>
            </a:r>
            <a:endParaRPr lang="en-US" sz="1400" dirty="0"/>
          </a:p>
        </p:txBody>
      </p:sp>
      <p:sp>
        <p:nvSpPr>
          <p:cNvPr id="33" name="Shape 28"/>
          <p:cNvSpPr/>
          <p:nvPr/>
        </p:nvSpPr>
        <p:spPr>
          <a:xfrm>
            <a:off x="822960" y="5093208"/>
            <a:ext cx="64008" cy="64008"/>
          </a:xfrm>
          <a:prstGeom prst="ellipse">
            <a:avLst/>
          </a:prstGeom>
          <a:solidFill>
            <a:srgbClr val="2563EB"/>
          </a:solidFill>
          <a:ln/>
        </p:spPr>
        <p:txBody>
          <a:bodyPr/>
          <a:lstStyle/>
          <a:p>
            <a:endParaRPr lang="en-US"/>
          </a:p>
        </p:txBody>
      </p:sp>
      <p:sp>
        <p:nvSpPr>
          <p:cNvPr id="34" name="Text 29"/>
          <p:cNvSpPr/>
          <p:nvPr/>
        </p:nvSpPr>
        <p:spPr>
          <a:xfrm>
            <a:off x="1005840" y="4983480"/>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Combines linear &amp; non-linear pattern capture</a:t>
            </a:r>
            <a:endParaRPr lang="en-US" sz="1050" dirty="0"/>
          </a:p>
        </p:txBody>
      </p:sp>
      <p:sp>
        <p:nvSpPr>
          <p:cNvPr id="35" name="Shape 30"/>
          <p:cNvSpPr/>
          <p:nvPr/>
        </p:nvSpPr>
        <p:spPr>
          <a:xfrm>
            <a:off x="822960" y="5404104"/>
            <a:ext cx="64008" cy="64008"/>
          </a:xfrm>
          <a:prstGeom prst="ellipse">
            <a:avLst/>
          </a:prstGeom>
          <a:solidFill>
            <a:srgbClr val="2563EB"/>
          </a:solidFill>
          <a:ln/>
        </p:spPr>
        <p:txBody>
          <a:bodyPr/>
          <a:lstStyle/>
          <a:p>
            <a:endParaRPr lang="en-US"/>
          </a:p>
        </p:txBody>
      </p:sp>
      <p:sp>
        <p:nvSpPr>
          <p:cNvPr id="36" name="Text 31"/>
          <p:cNvSpPr/>
          <p:nvPr/>
        </p:nvSpPr>
        <p:spPr>
          <a:xfrm>
            <a:off x="1005840" y="5294376"/>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More stable predictions than any single model</a:t>
            </a:r>
            <a:endParaRPr lang="en-US" sz="1050" dirty="0"/>
          </a:p>
        </p:txBody>
      </p:sp>
      <p:sp>
        <p:nvSpPr>
          <p:cNvPr id="37" name="Shape 32"/>
          <p:cNvSpPr/>
          <p:nvPr/>
        </p:nvSpPr>
        <p:spPr>
          <a:xfrm>
            <a:off x="822960" y="5715000"/>
            <a:ext cx="64008" cy="64008"/>
          </a:xfrm>
          <a:prstGeom prst="ellipse">
            <a:avLst/>
          </a:prstGeom>
          <a:solidFill>
            <a:srgbClr val="2563EB"/>
          </a:solidFill>
          <a:ln/>
        </p:spPr>
        <p:txBody>
          <a:bodyPr/>
          <a:lstStyle/>
          <a:p>
            <a:endParaRPr lang="en-US"/>
          </a:p>
        </p:txBody>
      </p:sp>
      <p:sp>
        <p:nvSpPr>
          <p:cNvPr id="38" name="Text 33"/>
          <p:cNvSpPr/>
          <p:nvPr/>
        </p:nvSpPr>
        <p:spPr>
          <a:xfrm>
            <a:off x="1005840" y="5605272"/>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Passthrough retains original feature signal</a:t>
            </a:r>
            <a:endParaRPr lang="en-US" sz="1050" dirty="0"/>
          </a:p>
        </p:txBody>
      </p:sp>
      <p:sp>
        <p:nvSpPr>
          <p:cNvPr id="39" name="Shape 34"/>
          <p:cNvSpPr/>
          <p:nvPr/>
        </p:nvSpPr>
        <p:spPr>
          <a:xfrm>
            <a:off x="822960" y="6025896"/>
            <a:ext cx="64008" cy="64008"/>
          </a:xfrm>
          <a:prstGeom prst="ellipse">
            <a:avLst/>
          </a:prstGeom>
          <a:solidFill>
            <a:srgbClr val="2563EB"/>
          </a:solidFill>
          <a:ln/>
        </p:spPr>
        <p:txBody>
          <a:bodyPr/>
          <a:lstStyle/>
          <a:p>
            <a:endParaRPr lang="en-US"/>
          </a:p>
        </p:txBody>
      </p:sp>
      <p:sp>
        <p:nvSpPr>
          <p:cNvPr id="40" name="Text 35"/>
          <p:cNvSpPr/>
          <p:nvPr/>
        </p:nvSpPr>
        <p:spPr>
          <a:xfrm>
            <a:off x="1005840" y="5916168"/>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Reusable, deployable saved artifacts</a:t>
            </a:r>
            <a:endParaRPr lang="en-US" sz="1050" dirty="0"/>
          </a:p>
        </p:txBody>
      </p:sp>
      <p:sp>
        <p:nvSpPr>
          <p:cNvPr id="41" name="Shape 36"/>
          <p:cNvSpPr/>
          <p:nvPr/>
        </p:nvSpPr>
        <p:spPr>
          <a:xfrm>
            <a:off x="6263640" y="4160520"/>
            <a:ext cx="5349240" cy="2148840"/>
          </a:xfrm>
          <a:prstGeom prst="roundRect">
            <a:avLst>
              <a:gd name="adj" fmla="val 3404"/>
            </a:avLst>
          </a:prstGeom>
          <a:solidFill>
            <a:srgbClr val="EFF6FF"/>
          </a:solidFill>
          <a:ln/>
        </p:spPr>
        <p:txBody>
          <a:bodyPr/>
          <a:lstStyle/>
          <a:p>
            <a:endParaRPr lang="en-US"/>
          </a:p>
        </p:txBody>
      </p:sp>
      <p:sp>
        <p:nvSpPr>
          <p:cNvPr id="42" name="Shape 37"/>
          <p:cNvSpPr/>
          <p:nvPr/>
        </p:nvSpPr>
        <p:spPr>
          <a:xfrm>
            <a:off x="6492240" y="4389120"/>
            <a:ext cx="502920" cy="502920"/>
          </a:xfrm>
          <a:prstGeom prst="ellipse">
            <a:avLst/>
          </a:prstGeom>
          <a:solidFill>
            <a:srgbClr val="1E3A8A"/>
          </a:solidFill>
          <a:ln/>
        </p:spPr>
        <p:txBody>
          <a:bodyPr/>
          <a:lstStyle/>
          <a:p>
            <a:endParaRPr lang="en-US"/>
          </a:p>
        </p:txBody>
      </p:sp>
      <p:pic>
        <p:nvPicPr>
          <p:cNvPr id="43" name="Image 3" descr="/home/claude/icons/warning_white.png"/>
          <p:cNvPicPr>
            <a:picLocks noChangeAspect="1"/>
          </p:cNvPicPr>
          <p:nvPr/>
        </p:nvPicPr>
        <p:blipFill>
          <a:blip r:embed="rId6"/>
          <a:stretch>
            <a:fillRect/>
          </a:stretch>
        </p:blipFill>
        <p:spPr>
          <a:xfrm>
            <a:off x="6597396" y="4494276"/>
            <a:ext cx="292608" cy="292608"/>
          </a:xfrm>
          <a:prstGeom prst="rect">
            <a:avLst/>
          </a:prstGeom>
        </p:spPr>
      </p:pic>
      <p:sp>
        <p:nvSpPr>
          <p:cNvPr id="44" name="Text 38"/>
          <p:cNvSpPr/>
          <p:nvPr/>
        </p:nvSpPr>
        <p:spPr>
          <a:xfrm>
            <a:off x="7132320" y="4434840"/>
            <a:ext cx="4251960" cy="411480"/>
          </a:xfrm>
          <a:prstGeom prst="rect">
            <a:avLst/>
          </a:prstGeom>
          <a:noFill/>
          <a:ln/>
        </p:spPr>
        <p:txBody>
          <a:bodyPr wrap="square" rtlCol="0" anchor="ctr"/>
          <a:lstStyle/>
          <a:p>
            <a:pPr marL="0" indent="0">
              <a:buNone/>
            </a:pPr>
            <a:r>
              <a:rPr lang="en-US" sz="1400" b="1" dirty="0">
                <a:solidFill>
                  <a:srgbClr val="111827"/>
                </a:solidFill>
                <a:latin typeface="Arial" pitchFamily="34" charset="0"/>
                <a:ea typeface="Arial" pitchFamily="34" charset="-122"/>
                <a:cs typeface="Arial" pitchFamily="34" charset="-120"/>
              </a:rPr>
              <a:t>Limitations</a:t>
            </a:r>
            <a:endParaRPr lang="en-US" sz="1400" dirty="0"/>
          </a:p>
        </p:txBody>
      </p:sp>
      <p:sp>
        <p:nvSpPr>
          <p:cNvPr id="45" name="Shape 39"/>
          <p:cNvSpPr/>
          <p:nvPr/>
        </p:nvSpPr>
        <p:spPr>
          <a:xfrm>
            <a:off x="6537960" y="5093208"/>
            <a:ext cx="64008" cy="64008"/>
          </a:xfrm>
          <a:prstGeom prst="ellipse">
            <a:avLst/>
          </a:prstGeom>
          <a:solidFill>
            <a:srgbClr val="2563EB"/>
          </a:solidFill>
          <a:ln/>
        </p:spPr>
        <p:txBody>
          <a:bodyPr/>
          <a:lstStyle/>
          <a:p>
            <a:endParaRPr lang="en-US"/>
          </a:p>
        </p:txBody>
      </p:sp>
      <p:sp>
        <p:nvSpPr>
          <p:cNvPr id="46" name="Text 40"/>
          <p:cNvSpPr/>
          <p:nvPr/>
        </p:nvSpPr>
        <p:spPr>
          <a:xfrm>
            <a:off x="6720840" y="4983480"/>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Performance depends on dataset size &amp; quality</a:t>
            </a:r>
            <a:endParaRPr lang="en-US" sz="1050" dirty="0"/>
          </a:p>
        </p:txBody>
      </p:sp>
      <p:sp>
        <p:nvSpPr>
          <p:cNvPr id="47" name="Shape 41"/>
          <p:cNvSpPr/>
          <p:nvPr/>
        </p:nvSpPr>
        <p:spPr>
          <a:xfrm>
            <a:off x="6537960" y="5404104"/>
            <a:ext cx="64008" cy="64008"/>
          </a:xfrm>
          <a:prstGeom prst="ellipse">
            <a:avLst/>
          </a:prstGeom>
          <a:solidFill>
            <a:srgbClr val="2563EB"/>
          </a:solidFill>
          <a:ln/>
        </p:spPr>
        <p:txBody>
          <a:bodyPr/>
          <a:lstStyle/>
          <a:p>
            <a:endParaRPr lang="en-US"/>
          </a:p>
        </p:txBody>
      </p:sp>
      <p:sp>
        <p:nvSpPr>
          <p:cNvPr id="48" name="Text 42"/>
          <p:cNvSpPr/>
          <p:nvPr/>
        </p:nvSpPr>
        <p:spPr>
          <a:xfrm>
            <a:off x="6720840" y="5294376"/>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Stacking adds training time &amp; complexity</a:t>
            </a:r>
            <a:endParaRPr lang="en-US" sz="1050" dirty="0"/>
          </a:p>
        </p:txBody>
      </p:sp>
      <p:sp>
        <p:nvSpPr>
          <p:cNvPr id="49" name="Shape 43"/>
          <p:cNvSpPr/>
          <p:nvPr/>
        </p:nvSpPr>
        <p:spPr>
          <a:xfrm>
            <a:off x="6537960" y="5715000"/>
            <a:ext cx="64008" cy="64008"/>
          </a:xfrm>
          <a:prstGeom prst="ellipse">
            <a:avLst/>
          </a:prstGeom>
          <a:solidFill>
            <a:srgbClr val="2563EB"/>
          </a:solidFill>
          <a:ln/>
        </p:spPr>
        <p:txBody>
          <a:bodyPr/>
          <a:lstStyle/>
          <a:p>
            <a:endParaRPr lang="en-US"/>
          </a:p>
        </p:txBody>
      </p:sp>
      <p:sp>
        <p:nvSpPr>
          <p:cNvPr id="50" name="Text 44"/>
          <p:cNvSpPr/>
          <p:nvPr/>
        </p:nvSpPr>
        <p:spPr>
          <a:xfrm>
            <a:off x="6720840" y="5605272"/>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Assumes input features stay in a similar range</a:t>
            </a:r>
            <a:endParaRPr lang="en-US" sz="1050" dirty="0"/>
          </a:p>
        </p:txBody>
      </p:sp>
      <p:sp>
        <p:nvSpPr>
          <p:cNvPr id="51" name="Shape 45"/>
          <p:cNvSpPr/>
          <p:nvPr/>
        </p:nvSpPr>
        <p:spPr>
          <a:xfrm>
            <a:off x="6537960" y="6025896"/>
            <a:ext cx="64008" cy="64008"/>
          </a:xfrm>
          <a:prstGeom prst="ellipse">
            <a:avLst/>
          </a:prstGeom>
          <a:solidFill>
            <a:srgbClr val="2563EB"/>
          </a:solidFill>
          <a:ln/>
        </p:spPr>
        <p:txBody>
          <a:bodyPr/>
          <a:lstStyle/>
          <a:p>
            <a:endParaRPr lang="en-US"/>
          </a:p>
        </p:txBody>
      </p:sp>
      <p:sp>
        <p:nvSpPr>
          <p:cNvPr id="52" name="Text 46"/>
          <p:cNvSpPr/>
          <p:nvPr/>
        </p:nvSpPr>
        <p:spPr>
          <a:xfrm>
            <a:off x="6720840" y="5916168"/>
            <a:ext cx="4663440" cy="292608"/>
          </a:xfrm>
          <a:prstGeom prst="rect">
            <a:avLst/>
          </a:prstGeom>
          <a:noFill/>
          <a:ln/>
        </p:spPr>
        <p:txBody>
          <a:bodyPr wrap="square" rtlCol="0" anchor="ctr"/>
          <a:lstStyle/>
          <a:p>
            <a:pPr marL="0" indent="0">
              <a:buNone/>
            </a:pPr>
            <a:r>
              <a:rPr lang="en-US" sz="1050" dirty="0">
                <a:solidFill>
                  <a:srgbClr val="4B5563"/>
                </a:solidFill>
                <a:latin typeface="Arial" pitchFamily="34" charset="0"/>
                <a:ea typeface="Arial" pitchFamily="34" charset="-122"/>
                <a:cs typeface="Arial" pitchFamily="34" charset="-120"/>
              </a:rPr>
              <a:t>Limited to the 5 features currently used</a:t>
            </a:r>
            <a:endParaRPr lang="en-US" sz="1050" dirty="0"/>
          </a:p>
        </p:txBody>
      </p:sp>
      <p:sp>
        <p:nvSpPr>
          <p:cNvPr id="53" name="Text 47"/>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377440" cy="365760"/>
          </a:xfrm>
          <a:prstGeom prst="roundRect">
            <a:avLst>
              <a:gd name="adj" fmla="val 20000"/>
            </a:avLst>
          </a:prstGeom>
          <a:solidFill>
            <a:srgbClr val="EFF6FF"/>
          </a:solidFill>
          <a:ln/>
        </p:spPr>
        <p:txBody>
          <a:bodyPr/>
          <a:lstStyle/>
          <a:p>
            <a:endParaRPr lang="en-US"/>
          </a:p>
        </p:txBody>
      </p:sp>
      <p:sp>
        <p:nvSpPr>
          <p:cNvPr id="3" name="Text 1"/>
          <p:cNvSpPr/>
          <p:nvPr/>
        </p:nvSpPr>
        <p:spPr>
          <a:xfrm>
            <a:off x="548640" y="457200"/>
            <a:ext cx="2377440" cy="365760"/>
          </a:xfrm>
          <a:prstGeom prst="rect">
            <a:avLst/>
          </a:prstGeom>
          <a:noFill/>
          <a:ln/>
        </p:spPr>
        <p:txBody>
          <a:bodyPr wrap="square" rtlCol="0" anchor="ctr"/>
          <a:lstStyle/>
          <a:p>
            <a:pPr marL="0" indent="0" algn="ctr">
              <a:buNone/>
            </a:pPr>
            <a:r>
              <a:rPr lang="en-US" sz="1100" b="1" kern="0" spc="200" dirty="0">
                <a:solidFill>
                  <a:srgbClr val="1E3A8A"/>
                </a:solidFill>
                <a:latin typeface="Arial" pitchFamily="34" charset="0"/>
                <a:ea typeface="Arial" pitchFamily="34" charset="-122"/>
                <a:cs typeface="Arial" pitchFamily="34" charset="-120"/>
              </a:rPr>
              <a:t>11  ·  FUTURE SCOPE</a:t>
            </a:r>
            <a:endParaRPr lang="en-US" sz="1100" dirty="0"/>
          </a:p>
        </p:txBody>
      </p:sp>
      <p:sp>
        <p:nvSpPr>
          <p:cNvPr id="4" name="Text 2"/>
          <p:cNvSpPr/>
          <p:nvPr/>
        </p:nvSpPr>
        <p:spPr>
          <a:xfrm>
            <a:off x="548640" y="914400"/>
            <a:ext cx="11064240" cy="822960"/>
          </a:xfrm>
          <a:prstGeom prst="rect">
            <a:avLst/>
          </a:prstGeom>
          <a:noFill/>
          <a:ln/>
        </p:spPr>
        <p:txBody>
          <a:bodyPr wrap="square" rtlCol="0" anchor="ctr"/>
          <a:lstStyle/>
          <a:p>
            <a:pPr marL="0" indent="0" algn="l">
              <a:buNone/>
            </a:pPr>
            <a:r>
              <a:rPr lang="en-US" sz="3200" b="1" dirty="0">
                <a:solidFill>
                  <a:srgbClr val="111827"/>
                </a:solidFill>
                <a:latin typeface="Arial" pitchFamily="34" charset="0"/>
                <a:ea typeface="Arial" pitchFamily="34" charset="-122"/>
                <a:cs typeface="Arial" pitchFamily="34" charset="-120"/>
              </a:rPr>
              <a:t>Future Enhancements</a:t>
            </a:r>
            <a:endParaRPr lang="en-US" sz="3200" dirty="0"/>
          </a:p>
        </p:txBody>
      </p:sp>
      <p:sp>
        <p:nvSpPr>
          <p:cNvPr id="5" name="Shape 3"/>
          <p:cNvSpPr/>
          <p:nvPr/>
        </p:nvSpPr>
        <p:spPr>
          <a:xfrm>
            <a:off x="548640" y="1783080"/>
            <a:ext cx="3520440" cy="1965960"/>
          </a:xfrm>
          <a:prstGeom prst="roundRect">
            <a:avLst>
              <a:gd name="adj" fmla="val 3721"/>
            </a:avLst>
          </a:prstGeom>
          <a:solidFill>
            <a:srgbClr val="FFFFFF"/>
          </a:solidFill>
          <a:ln w="15875">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6" name="Shape 4"/>
          <p:cNvSpPr/>
          <p:nvPr/>
        </p:nvSpPr>
        <p:spPr>
          <a:xfrm>
            <a:off x="777240" y="2011680"/>
            <a:ext cx="594360" cy="594360"/>
          </a:xfrm>
          <a:prstGeom prst="roundRect">
            <a:avLst>
              <a:gd name="adj" fmla="val 20000"/>
            </a:avLst>
          </a:prstGeom>
          <a:solidFill>
            <a:srgbClr val="EFF6FF"/>
          </a:solidFill>
          <a:ln/>
        </p:spPr>
        <p:txBody>
          <a:bodyPr/>
          <a:lstStyle/>
          <a:p>
            <a:endParaRPr lang="en-US"/>
          </a:p>
        </p:txBody>
      </p:sp>
      <p:pic>
        <p:nvPicPr>
          <p:cNvPr id="7" name="Image 0" descr="/home/claude/icons/database_blue.png"/>
          <p:cNvPicPr>
            <a:picLocks noChangeAspect="1"/>
          </p:cNvPicPr>
          <p:nvPr/>
        </p:nvPicPr>
        <p:blipFill>
          <a:blip r:embed="rId3"/>
          <a:stretch>
            <a:fillRect/>
          </a:stretch>
        </p:blipFill>
        <p:spPr>
          <a:xfrm>
            <a:off x="896112" y="2130552"/>
            <a:ext cx="356616" cy="356616"/>
          </a:xfrm>
          <a:prstGeom prst="rect">
            <a:avLst/>
          </a:prstGeom>
        </p:spPr>
      </p:pic>
      <p:sp>
        <p:nvSpPr>
          <p:cNvPr id="8" name="Text 5"/>
          <p:cNvSpPr/>
          <p:nvPr/>
        </p:nvSpPr>
        <p:spPr>
          <a:xfrm>
            <a:off x="777240" y="2697480"/>
            <a:ext cx="3063240" cy="365760"/>
          </a:xfrm>
          <a:prstGeom prst="rect">
            <a:avLst/>
          </a:prstGeom>
          <a:noFill/>
          <a:ln/>
        </p:spPr>
        <p:txBody>
          <a:bodyPr wrap="square" rtlCol="0" anchor="ctr"/>
          <a:lstStyle/>
          <a:p>
            <a:pPr marL="0" indent="0">
              <a:buNone/>
            </a:pPr>
            <a:r>
              <a:rPr lang="en-US" sz="1250" b="1" dirty="0">
                <a:solidFill>
                  <a:srgbClr val="111827"/>
                </a:solidFill>
                <a:latin typeface="Arial" pitchFamily="34" charset="0"/>
                <a:ea typeface="Arial" pitchFamily="34" charset="-122"/>
                <a:cs typeface="Arial" pitchFamily="34" charset="-120"/>
              </a:rPr>
              <a:t>Expand the feature set</a:t>
            </a:r>
            <a:endParaRPr lang="en-US" sz="1250" dirty="0"/>
          </a:p>
        </p:txBody>
      </p:sp>
      <p:sp>
        <p:nvSpPr>
          <p:cNvPr id="9" name="Text 6"/>
          <p:cNvSpPr/>
          <p:nvPr/>
        </p:nvSpPr>
        <p:spPr>
          <a:xfrm>
            <a:off x="777240" y="3044952"/>
            <a:ext cx="3063240" cy="621792"/>
          </a:xfrm>
          <a:prstGeom prst="rect">
            <a:avLst/>
          </a:prstGeom>
          <a:noFill/>
          <a:ln/>
        </p:spPr>
        <p:txBody>
          <a:bodyPr wrap="square" rtlCol="0" anchor="ctr"/>
          <a:lstStyle/>
          <a:p>
            <a:pPr marL="0" indent="0">
              <a:lnSpc>
                <a:spcPct val="115000"/>
              </a:lnSpc>
              <a:buNone/>
            </a:pPr>
            <a:r>
              <a:rPr lang="en-US" sz="1000" dirty="0">
                <a:solidFill>
                  <a:srgbClr val="4B5563"/>
                </a:solidFill>
                <a:latin typeface="Arial" pitchFamily="34" charset="0"/>
                <a:ea typeface="Arial" pitchFamily="34" charset="-122"/>
                <a:cs typeface="Arial" pitchFamily="34" charset="-120"/>
              </a:rPr>
              <a:t>Incorporate more factors -- parental involvement, extracurriculars, socio-economic context -- for richer predictions.</a:t>
            </a:r>
            <a:endParaRPr lang="en-US" sz="1000" dirty="0"/>
          </a:p>
        </p:txBody>
      </p:sp>
      <p:sp>
        <p:nvSpPr>
          <p:cNvPr id="10" name="Shape 7"/>
          <p:cNvSpPr/>
          <p:nvPr/>
        </p:nvSpPr>
        <p:spPr>
          <a:xfrm>
            <a:off x="4343400" y="1783080"/>
            <a:ext cx="3520440" cy="1965960"/>
          </a:xfrm>
          <a:prstGeom prst="roundRect">
            <a:avLst>
              <a:gd name="adj" fmla="val 3721"/>
            </a:avLst>
          </a:prstGeom>
          <a:solidFill>
            <a:srgbClr val="FFFFFF"/>
          </a:solidFill>
          <a:ln w="15875">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11" name="Shape 8"/>
          <p:cNvSpPr/>
          <p:nvPr/>
        </p:nvSpPr>
        <p:spPr>
          <a:xfrm>
            <a:off x="4572000" y="2011680"/>
            <a:ext cx="594360" cy="594360"/>
          </a:xfrm>
          <a:prstGeom prst="roundRect">
            <a:avLst>
              <a:gd name="adj" fmla="val 20000"/>
            </a:avLst>
          </a:prstGeom>
          <a:solidFill>
            <a:srgbClr val="EFF6FF"/>
          </a:solidFill>
          <a:ln/>
        </p:spPr>
        <p:txBody>
          <a:bodyPr/>
          <a:lstStyle/>
          <a:p>
            <a:endParaRPr lang="en-US"/>
          </a:p>
        </p:txBody>
      </p:sp>
      <p:pic>
        <p:nvPicPr>
          <p:cNvPr id="12" name="Image 1" descr="/home/claude/icons/brain_blue.png"/>
          <p:cNvPicPr>
            <a:picLocks noChangeAspect="1"/>
          </p:cNvPicPr>
          <p:nvPr/>
        </p:nvPicPr>
        <p:blipFill>
          <a:blip r:embed="rId4"/>
          <a:stretch>
            <a:fillRect/>
          </a:stretch>
        </p:blipFill>
        <p:spPr>
          <a:xfrm>
            <a:off x="4690872" y="2130552"/>
            <a:ext cx="356616" cy="356616"/>
          </a:xfrm>
          <a:prstGeom prst="rect">
            <a:avLst/>
          </a:prstGeom>
        </p:spPr>
      </p:pic>
      <p:sp>
        <p:nvSpPr>
          <p:cNvPr id="13" name="Text 9"/>
          <p:cNvSpPr/>
          <p:nvPr/>
        </p:nvSpPr>
        <p:spPr>
          <a:xfrm>
            <a:off x="4572000" y="2697480"/>
            <a:ext cx="3063240" cy="365760"/>
          </a:xfrm>
          <a:prstGeom prst="rect">
            <a:avLst/>
          </a:prstGeom>
          <a:noFill/>
          <a:ln/>
        </p:spPr>
        <p:txBody>
          <a:bodyPr wrap="square" rtlCol="0" anchor="ctr"/>
          <a:lstStyle/>
          <a:p>
            <a:pPr marL="0" indent="0">
              <a:buNone/>
            </a:pPr>
            <a:r>
              <a:rPr lang="en-US" sz="1250" b="1" dirty="0">
                <a:solidFill>
                  <a:srgbClr val="111827"/>
                </a:solidFill>
                <a:latin typeface="Arial" pitchFamily="34" charset="0"/>
                <a:ea typeface="Arial" pitchFamily="34" charset="-122"/>
                <a:cs typeface="Arial" pitchFamily="34" charset="-120"/>
              </a:rPr>
              <a:t>Try deeper architectures</a:t>
            </a:r>
            <a:endParaRPr lang="en-US" sz="1250" dirty="0"/>
          </a:p>
        </p:txBody>
      </p:sp>
      <p:sp>
        <p:nvSpPr>
          <p:cNvPr id="14" name="Text 10"/>
          <p:cNvSpPr/>
          <p:nvPr/>
        </p:nvSpPr>
        <p:spPr>
          <a:xfrm>
            <a:off x="4572000" y="3044952"/>
            <a:ext cx="3063240" cy="621792"/>
          </a:xfrm>
          <a:prstGeom prst="rect">
            <a:avLst/>
          </a:prstGeom>
          <a:noFill/>
          <a:ln/>
        </p:spPr>
        <p:txBody>
          <a:bodyPr wrap="square" rtlCol="0" anchor="ctr"/>
          <a:lstStyle/>
          <a:p>
            <a:pPr marL="0" indent="0">
              <a:lnSpc>
                <a:spcPct val="115000"/>
              </a:lnSpc>
              <a:buNone/>
            </a:pPr>
            <a:r>
              <a:rPr lang="en-US" sz="1000" dirty="0">
                <a:solidFill>
                  <a:srgbClr val="4B5563"/>
                </a:solidFill>
                <a:latin typeface="Arial" pitchFamily="34" charset="0"/>
                <a:ea typeface="Arial" pitchFamily="34" charset="-122"/>
                <a:cs typeface="Arial" pitchFamily="34" charset="-120"/>
              </a:rPr>
              <a:t>Experiment with neural networks or LightGBM/CatBoost as additional base or meta-learners.</a:t>
            </a:r>
            <a:endParaRPr lang="en-US" sz="1000" dirty="0"/>
          </a:p>
        </p:txBody>
      </p:sp>
      <p:sp>
        <p:nvSpPr>
          <p:cNvPr id="15" name="Shape 11"/>
          <p:cNvSpPr/>
          <p:nvPr/>
        </p:nvSpPr>
        <p:spPr>
          <a:xfrm>
            <a:off x="8138160" y="1783080"/>
            <a:ext cx="3520440" cy="1965960"/>
          </a:xfrm>
          <a:prstGeom prst="roundRect">
            <a:avLst>
              <a:gd name="adj" fmla="val 3721"/>
            </a:avLst>
          </a:prstGeom>
          <a:solidFill>
            <a:srgbClr val="FFFFFF"/>
          </a:solidFill>
          <a:ln w="15875">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16" name="Shape 12"/>
          <p:cNvSpPr/>
          <p:nvPr/>
        </p:nvSpPr>
        <p:spPr>
          <a:xfrm>
            <a:off x="8366760" y="2011680"/>
            <a:ext cx="594360" cy="594360"/>
          </a:xfrm>
          <a:prstGeom prst="roundRect">
            <a:avLst>
              <a:gd name="adj" fmla="val 20000"/>
            </a:avLst>
          </a:prstGeom>
          <a:solidFill>
            <a:srgbClr val="EFF6FF"/>
          </a:solidFill>
          <a:ln/>
        </p:spPr>
        <p:txBody>
          <a:bodyPr/>
          <a:lstStyle/>
          <a:p>
            <a:endParaRPr lang="en-US"/>
          </a:p>
        </p:txBody>
      </p:sp>
      <p:pic>
        <p:nvPicPr>
          <p:cNvPr id="17" name="Image 2" descr="/home/claude/icons/cogs_blue.png"/>
          <p:cNvPicPr>
            <a:picLocks noChangeAspect="1"/>
          </p:cNvPicPr>
          <p:nvPr/>
        </p:nvPicPr>
        <p:blipFill>
          <a:blip r:embed="rId5"/>
          <a:stretch>
            <a:fillRect/>
          </a:stretch>
        </p:blipFill>
        <p:spPr>
          <a:xfrm>
            <a:off x="8485632" y="2130552"/>
            <a:ext cx="356616" cy="356616"/>
          </a:xfrm>
          <a:prstGeom prst="rect">
            <a:avLst/>
          </a:prstGeom>
        </p:spPr>
      </p:pic>
      <p:sp>
        <p:nvSpPr>
          <p:cNvPr id="18" name="Text 13"/>
          <p:cNvSpPr/>
          <p:nvPr/>
        </p:nvSpPr>
        <p:spPr>
          <a:xfrm>
            <a:off x="8366760" y="2697480"/>
            <a:ext cx="3063240" cy="365760"/>
          </a:xfrm>
          <a:prstGeom prst="rect">
            <a:avLst/>
          </a:prstGeom>
          <a:noFill/>
          <a:ln/>
        </p:spPr>
        <p:txBody>
          <a:bodyPr wrap="square" rtlCol="0" anchor="ctr"/>
          <a:lstStyle/>
          <a:p>
            <a:pPr marL="0" indent="0">
              <a:buNone/>
            </a:pPr>
            <a:r>
              <a:rPr lang="en-US" sz="1250" b="1" dirty="0">
                <a:solidFill>
                  <a:srgbClr val="111827"/>
                </a:solidFill>
                <a:latin typeface="Arial" pitchFamily="34" charset="0"/>
                <a:ea typeface="Arial" pitchFamily="34" charset="-122"/>
                <a:cs typeface="Arial" pitchFamily="34" charset="-120"/>
              </a:rPr>
              <a:t>Automate hyperparameter tuning</a:t>
            </a:r>
            <a:endParaRPr lang="en-US" sz="1250" dirty="0"/>
          </a:p>
        </p:txBody>
      </p:sp>
      <p:sp>
        <p:nvSpPr>
          <p:cNvPr id="19" name="Text 14"/>
          <p:cNvSpPr/>
          <p:nvPr/>
        </p:nvSpPr>
        <p:spPr>
          <a:xfrm>
            <a:off x="8366760" y="3044952"/>
            <a:ext cx="3063240" cy="621792"/>
          </a:xfrm>
          <a:prstGeom prst="rect">
            <a:avLst/>
          </a:prstGeom>
          <a:noFill/>
          <a:ln/>
        </p:spPr>
        <p:txBody>
          <a:bodyPr wrap="square" rtlCol="0" anchor="ctr"/>
          <a:lstStyle/>
          <a:p>
            <a:pPr marL="0" indent="0">
              <a:lnSpc>
                <a:spcPct val="115000"/>
              </a:lnSpc>
              <a:buNone/>
            </a:pPr>
            <a:r>
              <a:rPr lang="en-US" sz="1000" dirty="0">
                <a:solidFill>
                  <a:srgbClr val="4B5563"/>
                </a:solidFill>
                <a:latin typeface="Arial" pitchFamily="34" charset="0"/>
                <a:ea typeface="Arial" pitchFamily="34" charset="-122"/>
                <a:cs typeface="Arial" pitchFamily="34" charset="-120"/>
              </a:rPr>
              <a:t>Use GridSearchCV / Optuna instead of manually chosen estimator counts and depths.</a:t>
            </a:r>
            <a:endParaRPr lang="en-US" sz="1000" dirty="0"/>
          </a:p>
        </p:txBody>
      </p:sp>
      <p:sp>
        <p:nvSpPr>
          <p:cNvPr id="20" name="Shape 15"/>
          <p:cNvSpPr/>
          <p:nvPr/>
        </p:nvSpPr>
        <p:spPr>
          <a:xfrm>
            <a:off x="548640" y="4023360"/>
            <a:ext cx="3520440" cy="1965960"/>
          </a:xfrm>
          <a:prstGeom prst="roundRect">
            <a:avLst>
              <a:gd name="adj" fmla="val 3721"/>
            </a:avLst>
          </a:prstGeom>
          <a:solidFill>
            <a:srgbClr val="FFFFFF"/>
          </a:solidFill>
          <a:ln w="15875">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21" name="Shape 16"/>
          <p:cNvSpPr/>
          <p:nvPr/>
        </p:nvSpPr>
        <p:spPr>
          <a:xfrm>
            <a:off x="777240" y="4251960"/>
            <a:ext cx="594360" cy="594360"/>
          </a:xfrm>
          <a:prstGeom prst="roundRect">
            <a:avLst>
              <a:gd name="adj" fmla="val 20000"/>
            </a:avLst>
          </a:prstGeom>
          <a:solidFill>
            <a:srgbClr val="EFF6FF"/>
          </a:solidFill>
          <a:ln/>
        </p:spPr>
        <p:txBody>
          <a:bodyPr/>
          <a:lstStyle/>
          <a:p>
            <a:endParaRPr lang="en-US"/>
          </a:p>
        </p:txBody>
      </p:sp>
      <p:pic>
        <p:nvPicPr>
          <p:cNvPr id="22" name="Image 3" descr="/home/claude/icons/desktop_blue.png"/>
          <p:cNvPicPr>
            <a:picLocks noChangeAspect="1"/>
          </p:cNvPicPr>
          <p:nvPr/>
        </p:nvPicPr>
        <p:blipFill>
          <a:blip r:embed="rId6"/>
          <a:stretch>
            <a:fillRect/>
          </a:stretch>
        </p:blipFill>
        <p:spPr>
          <a:xfrm>
            <a:off x="896112" y="4370832"/>
            <a:ext cx="356616" cy="356616"/>
          </a:xfrm>
          <a:prstGeom prst="rect">
            <a:avLst/>
          </a:prstGeom>
        </p:spPr>
      </p:pic>
      <p:sp>
        <p:nvSpPr>
          <p:cNvPr id="23" name="Text 17"/>
          <p:cNvSpPr/>
          <p:nvPr/>
        </p:nvSpPr>
        <p:spPr>
          <a:xfrm>
            <a:off x="777240" y="4937760"/>
            <a:ext cx="3063240" cy="365760"/>
          </a:xfrm>
          <a:prstGeom prst="rect">
            <a:avLst/>
          </a:prstGeom>
          <a:noFill/>
          <a:ln/>
        </p:spPr>
        <p:txBody>
          <a:bodyPr wrap="square" rtlCol="0" anchor="ctr"/>
          <a:lstStyle/>
          <a:p>
            <a:pPr marL="0" indent="0">
              <a:buNone/>
            </a:pPr>
            <a:r>
              <a:rPr lang="en-US" sz="1250" b="1" dirty="0">
                <a:solidFill>
                  <a:srgbClr val="111827"/>
                </a:solidFill>
                <a:latin typeface="Arial" pitchFamily="34" charset="0"/>
                <a:ea typeface="Arial" pitchFamily="34" charset="-122"/>
                <a:cs typeface="Arial" pitchFamily="34" charset="-120"/>
              </a:rPr>
              <a:t>Deploy as a web app</a:t>
            </a:r>
            <a:endParaRPr lang="en-US" sz="1250" dirty="0"/>
          </a:p>
        </p:txBody>
      </p:sp>
      <p:sp>
        <p:nvSpPr>
          <p:cNvPr id="24" name="Text 18"/>
          <p:cNvSpPr/>
          <p:nvPr/>
        </p:nvSpPr>
        <p:spPr>
          <a:xfrm>
            <a:off x="777240" y="5285232"/>
            <a:ext cx="3063240" cy="621792"/>
          </a:xfrm>
          <a:prstGeom prst="rect">
            <a:avLst/>
          </a:prstGeom>
          <a:noFill/>
          <a:ln/>
        </p:spPr>
        <p:txBody>
          <a:bodyPr wrap="square" rtlCol="0" anchor="ctr"/>
          <a:lstStyle/>
          <a:p>
            <a:pPr marL="0" indent="0">
              <a:lnSpc>
                <a:spcPct val="115000"/>
              </a:lnSpc>
              <a:buNone/>
            </a:pPr>
            <a:r>
              <a:rPr lang="en-US" sz="1000" dirty="0">
                <a:solidFill>
                  <a:srgbClr val="4B5563"/>
                </a:solidFill>
                <a:latin typeface="Arial" pitchFamily="34" charset="0"/>
                <a:ea typeface="Arial" pitchFamily="34" charset="-122"/>
                <a:cs typeface="Arial" pitchFamily="34" charset="-120"/>
              </a:rPr>
              <a:t>Wrap the saved model in a Flask/Streamlit app for teachers to get live predictions.</a:t>
            </a:r>
            <a:endParaRPr lang="en-US" sz="1000" dirty="0"/>
          </a:p>
        </p:txBody>
      </p:sp>
      <p:sp>
        <p:nvSpPr>
          <p:cNvPr id="25" name="Shape 19"/>
          <p:cNvSpPr/>
          <p:nvPr/>
        </p:nvSpPr>
        <p:spPr>
          <a:xfrm>
            <a:off x="4343400" y="4023360"/>
            <a:ext cx="3520440" cy="1965960"/>
          </a:xfrm>
          <a:prstGeom prst="roundRect">
            <a:avLst>
              <a:gd name="adj" fmla="val 3721"/>
            </a:avLst>
          </a:prstGeom>
          <a:solidFill>
            <a:srgbClr val="FFFFFF"/>
          </a:solidFill>
          <a:ln w="15875">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26" name="Shape 20"/>
          <p:cNvSpPr/>
          <p:nvPr/>
        </p:nvSpPr>
        <p:spPr>
          <a:xfrm>
            <a:off x="4572000" y="4251960"/>
            <a:ext cx="594360" cy="594360"/>
          </a:xfrm>
          <a:prstGeom prst="roundRect">
            <a:avLst>
              <a:gd name="adj" fmla="val 20000"/>
            </a:avLst>
          </a:prstGeom>
          <a:solidFill>
            <a:srgbClr val="EFF6FF"/>
          </a:solidFill>
          <a:ln/>
        </p:spPr>
        <p:txBody>
          <a:bodyPr/>
          <a:lstStyle/>
          <a:p>
            <a:endParaRPr lang="en-US"/>
          </a:p>
        </p:txBody>
      </p:sp>
      <p:pic>
        <p:nvPicPr>
          <p:cNvPr id="27" name="Image 4" descr="/home/claude/icons/chart_line_blue.png"/>
          <p:cNvPicPr>
            <a:picLocks noChangeAspect="1"/>
          </p:cNvPicPr>
          <p:nvPr/>
        </p:nvPicPr>
        <p:blipFill>
          <a:blip r:embed="rId7"/>
          <a:stretch>
            <a:fillRect/>
          </a:stretch>
        </p:blipFill>
        <p:spPr>
          <a:xfrm>
            <a:off x="4690872" y="4370832"/>
            <a:ext cx="356616" cy="356616"/>
          </a:xfrm>
          <a:prstGeom prst="rect">
            <a:avLst/>
          </a:prstGeom>
        </p:spPr>
      </p:pic>
      <p:sp>
        <p:nvSpPr>
          <p:cNvPr id="28" name="Text 21"/>
          <p:cNvSpPr/>
          <p:nvPr/>
        </p:nvSpPr>
        <p:spPr>
          <a:xfrm>
            <a:off x="4572000" y="4937760"/>
            <a:ext cx="3063240" cy="365760"/>
          </a:xfrm>
          <a:prstGeom prst="rect">
            <a:avLst/>
          </a:prstGeom>
          <a:noFill/>
          <a:ln/>
        </p:spPr>
        <p:txBody>
          <a:bodyPr wrap="square" rtlCol="0" anchor="ctr"/>
          <a:lstStyle/>
          <a:p>
            <a:pPr marL="0" indent="0">
              <a:buNone/>
            </a:pPr>
            <a:r>
              <a:rPr lang="en-US" sz="1250" b="1" dirty="0">
                <a:solidFill>
                  <a:srgbClr val="111827"/>
                </a:solidFill>
                <a:latin typeface="Arial" pitchFamily="34" charset="0"/>
                <a:ea typeface="Arial" pitchFamily="34" charset="-122"/>
                <a:cs typeface="Arial" pitchFamily="34" charset="-120"/>
              </a:rPr>
              <a:t>Add explainability</a:t>
            </a:r>
            <a:endParaRPr lang="en-US" sz="1250" dirty="0"/>
          </a:p>
        </p:txBody>
      </p:sp>
      <p:sp>
        <p:nvSpPr>
          <p:cNvPr id="29" name="Text 22"/>
          <p:cNvSpPr/>
          <p:nvPr/>
        </p:nvSpPr>
        <p:spPr>
          <a:xfrm>
            <a:off x="4572000" y="5285232"/>
            <a:ext cx="3063240" cy="621792"/>
          </a:xfrm>
          <a:prstGeom prst="rect">
            <a:avLst/>
          </a:prstGeom>
          <a:noFill/>
          <a:ln/>
        </p:spPr>
        <p:txBody>
          <a:bodyPr wrap="square" rtlCol="0" anchor="ctr"/>
          <a:lstStyle/>
          <a:p>
            <a:pPr marL="0" indent="0">
              <a:lnSpc>
                <a:spcPct val="115000"/>
              </a:lnSpc>
              <a:buNone/>
            </a:pPr>
            <a:r>
              <a:rPr lang="en-US" sz="1000" dirty="0">
                <a:solidFill>
                  <a:srgbClr val="4B5563"/>
                </a:solidFill>
                <a:latin typeface="Arial" pitchFamily="34" charset="0"/>
                <a:ea typeface="Arial" pitchFamily="34" charset="-122"/>
                <a:cs typeface="Arial" pitchFamily="34" charset="-120"/>
              </a:rPr>
              <a:t>Integrate SHAP or LIME for per-student, per-feature prediction explanations.</a:t>
            </a:r>
            <a:endParaRPr lang="en-US" sz="1000" dirty="0"/>
          </a:p>
        </p:txBody>
      </p:sp>
      <p:sp>
        <p:nvSpPr>
          <p:cNvPr id="30" name="Shape 23"/>
          <p:cNvSpPr/>
          <p:nvPr/>
        </p:nvSpPr>
        <p:spPr>
          <a:xfrm>
            <a:off x="8138160" y="4023360"/>
            <a:ext cx="3520440" cy="1965960"/>
          </a:xfrm>
          <a:prstGeom prst="roundRect">
            <a:avLst>
              <a:gd name="adj" fmla="val 3721"/>
            </a:avLst>
          </a:prstGeom>
          <a:solidFill>
            <a:srgbClr val="FFFFFF"/>
          </a:solidFill>
          <a:ln w="15875">
            <a:solidFill>
              <a:srgbClr val="DBEAFE"/>
            </a:solidFill>
            <a:prstDash val="solid"/>
          </a:ln>
          <a:effectLst>
            <a:outerShdw blurRad="63500" dist="25400" dir="5400000" algn="bl" rotWithShape="0">
              <a:srgbClr val="1E3A8A">
                <a:alpha val="8000"/>
              </a:srgbClr>
            </a:outerShdw>
          </a:effectLst>
        </p:spPr>
        <p:txBody>
          <a:bodyPr/>
          <a:lstStyle/>
          <a:p>
            <a:endParaRPr lang="en-US"/>
          </a:p>
        </p:txBody>
      </p:sp>
      <p:sp>
        <p:nvSpPr>
          <p:cNvPr id="31" name="Shape 24"/>
          <p:cNvSpPr/>
          <p:nvPr/>
        </p:nvSpPr>
        <p:spPr>
          <a:xfrm>
            <a:off x="8366760" y="4251960"/>
            <a:ext cx="594360" cy="594360"/>
          </a:xfrm>
          <a:prstGeom prst="roundRect">
            <a:avLst>
              <a:gd name="adj" fmla="val 20000"/>
            </a:avLst>
          </a:prstGeom>
          <a:solidFill>
            <a:srgbClr val="EFF6FF"/>
          </a:solidFill>
          <a:ln/>
        </p:spPr>
        <p:txBody>
          <a:bodyPr/>
          <a:lstStyle/>
          <a:p>
            <a:endParaRPr lang="en-US"/>
          </a:p>
        </p:txBody>
      </p:sp>
      <p:pic>
        <p:nvPicPr>
          <p:cNvPr id="32" name="Image 5" descr="/home/claude/icons/sitemap_blue.png"/>
          <p:cNvPicPr>
            <a:picLocks noChangeAspect="1"/>
          </p:cNvPicPr>
          <p:nvPr/>
        </p:nvPicPr>
        <p:blipFill>
          <a:blip r:embed="rId8"/>
          <a:stretch>
            <a:fillRect/>
          </a:stretch>
        </p:blipFill>
        <p:spPr>
          <a:xfrm>
            <a:off x="8485632" y="4370832"/>
            <a:ext cx="356616" cy="356616"/>
          </a:xfrm>
          <a:prstGeom prst="rect">
            <a:avLst/>
          </a:prstGeom>
        </p:spPr>
      </p:pic>
      <p:sp>
        <p:nvSpPr>
          <p:cNvPr id="33" name="Text 25"/>
          <p:cNvSpPr/>
          <p:nvPr/>
        </p:nvSpPr>
        <p:spPr>
          <a:xfrm>
            <a:off x="8366760" y="4937760"/>
            <a:ext cx="3063240" cy="365760"/>
          </a:xfrm>
          <a:prstGeom prst="rect">
            <a:avLst/>
          </a:prstGeom>
          <a:noFill/>
          <a:ln/>
        </p:spPr>
        <p:txBody>
          <a:bodyPr wrap="square" rtlCol="0" anchor="ctr"/>
          <a:lstStyle/>
          <a:p>
            <a:pPr marL="0" indent="0">
              <a:buNone/>
            </a:pPr>
            <a:r>
              <a:rPr lang="en-US" sz="1250" b="1" dirty="0">
                <a:solidFill>
                  <a:srgbClr val="111827"/>
                </a:solidFill>
                <a:latin typeface="Arial" pitchFamily="34" charset="0"/>
                <a:ea typeface="Arial" pitchFamily="34" charset="-122"/>
                <a:cs typeface="Arial" pitchFamily="34" charset="-120"/>
              </a:rPr>
              <a:t>Continuous retraining</a:t>
            </a:r>
            <a:endParaRPr lang="en-US" sz="1250" dirty="0"/>
          </a:p>
        </p:txBody>
      </p:sp>
      <p:sp>
        <p:nvSpPr>
          <p:cNvPr id="34" name="Text 26"/>
          <p:cNvSpPr/>
          <p:nvPr/>
        </p:nvSpPr>
        <p:spPr>
          <a:xfrm>
            <a:off x="8366760" y="5285232"/>
            <a:ext cx="3063240" cy="621792"/>
          </a:xfrm>
          <a:prstGeom prst="rect">
            <a:avLst/>
          </a:prstGeom>
          <a:noFill/>
          <a:ln/>
        </p:spPr>
        <p:txBody>
          <a:bodyPr wrap="square" rtlCol="0" anchor="ctr"/>
          <a:lstStyle/>
          <a:p>
            <a:pPr marL="0" indent="0">
              <a:lnSpc>
                <a:spcPct val="115000"/>
              </a:lnSpc>
              <a:buNone/>
            </a:pPr>
            <a:r>
              <a:rPr lang="en-US" sz="1000" dirty="0">
                <a:solidFill>
                  <a:srgbClr val="4B5563"/>
                </a:solidFill>
                <a:latin typeface="Arial" pitchFamily="34" charset="0"/>
                <a:ea typeface="Arial" pitchFamily="34" charset="-122"/>
                <a:cs typeface="Arial" pitchFamily="34" charset="-120"/>
              </a:rPr>
              <a:t>Build a pipeline to retrain the model as new student data becomes available each term.</a:t>
            </a:r>
            <a:endParaRPr lang="en-US" sz="1000" dirty="0"/>
          </a:p>
        </p:txBody>
      </p:sp>
      <p:sp>
        <p:nvSpPr>
          <p:cNvPr id="35" name="Text 27"/>
          <p:cNvSpPr/>
          <p:nvPr/>
        </p:nvSpPr>
        <p:spPr>
          <a:xfrm>
            <a:off x="11521440" y="6473952"/>
            <a:ext cx="54864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3A8A"/>
          </a:solidFill>
          <a:ln/>
        </p:spPr>
        <p:txBody>
          <a:bodyPr/>
          <a:lstStyle/>
          <a:p>
            <a:endParaRPr lang="en-US"/>
          </a:p>
        </p:txBody>
      </p:sp>
      <p:sp>
        <p:nvSpPr>
          <p:cNvPr id="3" name="Shape 1"/>
          <p:cNvSpPr/>
          <p:nvPr/>
        </p:nvSpPr>
        <p:spPr>
          <a:xfrm>
            <a:off x="-1371600" y="-1645920"/>
            <a:ext cx="3840480" cy="3840480"/>
          </a:xfrm>
          <a:prstGeom prst="ellipse">
            <a:avLst/>
          </a:prstGeom>
          <a:solidFill>
            <a:srgbClr val="2563EB">
              <a:alpha val="45000"/>
            </a:srgbClr>
          </a:solidFill>
          <a:ln/>
        </p:spPr>
        <p:txBody>
          <a:bodyPr/>
          <a:lstStyle/>
          <a:p>
            <a:endParaRPr lang="en-US"/>
          </a:p>
        </p:txBody>
      </p:sp>
      <p:sp>
        <p:nvSpPr>
          <p:cNvPr id="4" name="Shape 2"/>
          <p:cNvSpPr/>
          <p:nvPr/>
        </p:nvSpPr>
        <p:spPr>
          <a:xfrm>
            <a:off x="9875520" y="4206240"/>
            <a:ext cx="3657600" cy="3657600"/>
          </a:xfrm>
          <a:prstGeom prst="ellipse">
            <a:avLst/>
          </a:prstGeom>
          <a:solidFill>
            <a:srgbClr val="2563EB">
              <a:alpha val="45000"/>
            </a:srgbClr>
          </a:solidFill>
          <a:ln/>
        </p:spPr>
        <p:txBody>
          <a:bodyPr/>
          <a:lstStyle/>
          <a:p>
            <a:endParaRPr lang="en-US"/>
          </a:p>
        </p:txBody>
      </p:sp>
      <p:sp>
        <p:nvSpPr>
          <p:cNvPr id="5" name="Shape 3"/>
          <p:cNvSpPr/>
          <p:nvPr/>
        </p:nvSpPr>
        <p:spPr>
          <a:xfrm>
            <a:off x="5413248" y="1417320"/>
            <a:ext cx="1371600" cy="1371600"/>
          </a:xfrm>
          <a:prstGeom prst="ellipse">
            <a:avLst/>
          </a:prstGeom>
          <a:solidFill>
            <a:srgbClr val="FFFFFF">
              <a:alpha val="92000"/>
            </a:srgbClr>
          </a:solidFill>
          <a:ln/>
        </p:spPr>
        <p:txBody>
          <a:bodyPr/>
          <a:lstStyle/>
          <a:p>
            <a:endParaRPr lang="en-US"/>
          </a:p>
        </p:txBody>
      </p:sp>
      <p:pic>
        <p:nvPicPr>
          <p:cNvPr id="6" name="Image 0" descr="/home/claude/icons/grad_cap_blue.png"/>
          <p:cNvPicPr>
            <a:picLocks noChangeAspect="1"/>
          </p:cNvPicPr>
          <p:nvPr/>
        </p:nvPicPr>
        <p:blipFill>
          <a:blip r:embed="rId3"/>
          <a:stretch>
            <a:fillRect/>
          </a:stretch>
        </p:blipFill>
        <p:spPr>
          <a:xfrm>
            <a:off x="5779008" y="1783080"/>
            <a:ext cx="640080" cy="640080"/>
          </a:xfrm>
          <a:prstGeom prst="rect">
            <a:avLst/>
          </a:prstGeom>
        </p:spPr>
      </p:pic>
      <p:sp>
        <p:nvSpPr>
          <p:cNvPr id="7" name="Text 4"/>
          <p:cNvSpPr/>
          <p:nvPr/>
        </p:nvSpPr>
        <p:spPr>
          <a:xfrm>
            <a:off x="0" y="2880360"/>
            <a:ext cx="12188952" cy="91440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8" name="Text 5"/>
          <p:cNvSpPr/>
          <p:nvPr/>
        </p:nvSpPr>
        <p:spPr>
          <a:xfrm>
            <a:off x="0" y="3703320"/>
            <a:ext cx="12188952" cy="457200"/>
          </a:xfrm>
          <a:prstGeom prst="rect">
            <a:avLst/>
          </a:prstGeom>
          <a:noFill/>
          <a:ln/>
        </p:spPr>
        <p:txBody>
          <a:bodyPr wrap="square" rtlCol="0" anchor="ctr"/>
          <a:lstStyle/>
          <a:p>
            <a:pPr marL="0" indent="0" algn="ctr">
              <a:buNone/>
            </a:pPr>
            <a:r>
              <a:rPr lang="en-US" sz="1700" i="1" dirty="0">
                <a:solidFill>
                  <a:srgbClr val="2563EB"/>
                </a:solidFill>
                <a:latin typeface="Arial" pitchFamily="34" charset="0"/>
                <a:ea typeface="Arial" pitchFamily="34" charset="-122"/>
                <a:cs typeface="Arial" pitchFamily="34" charset="-120"/>
              </a:rPr>
              <a:t>Questions &amp; Discussion</a:t>
            </a:r>
            <a:endParaRPr lang="en-US" sz="1700" dirty="0"/>
          </a:p>
        </p:txBody>
      </p:sp>
      <p:sp>
        <p:nvSpPr>
          <p:cNvPr id="9" name="Shape 6"/>
          <p:cNvSpPr/>
          <p:nvPr/>
        </p:nvSpPr>
        <p:spPr>
          <a:xfrm>
            <a:off x="5413248" y="4434840"/>
            <a:ext cx="1371600" cy="0"/>
          </a:xfrm>
          <a:prstGeom prst="line">
            <a:avLst/>
          </a:prstGeom>
          <a:noFill/>
          <a:ln w="31750">
            <a:solidFill>
              <a:srgbClr val="F59E0B"/>
            </a:solidFill>
            <a:prstDash val="solid"/>
          </a:ln>
        </p:spPr>
        <p:txBody>
          <a:bodyPr/>
          <a:lstStyle/>
          <a:p>
            <a:endParaRPr lang="en-US"/>
          </a:p>
        </p:txBody>
      </p:sp>
      <p:sp>
        <p:nvSpPr>
          <p:cNvPr id="10" name="Text 7"/>
          <p:cNvSpPr/>
          <p:nvPr/>
        </p:nvSpPr>
        <p:spPr>
          <a:xfrm>
            <a:off x="0" y="4709160"/>
            <a:ext cx="12188952" cy="320040"/>
          </a:xfrm>
          <a:prstGeom prst="rect">
            <a:avLst/>
          </a:prstGeom>
          <a:noFill/>
          <a:ln/>
        </p:spPr>
        <p:txBody>
          <a:bodyPr wrap="square" rtlCol="0" anchor="ctr"/>
          <a:lstStyle/>
          <a:p>
            <a:pPr marL="0" indent="0" algn="ctr">
              <a:buNone/>
            </a:pPr>
            <a:r>
              <a:rPr lang="en-US" sz="1200" dirty="0">
                <a:solidFill>
                  <a:srgbClr val="E0EAFF"/>
                </a:solidFill>
                <a:latin typeface="Arial" pitchFamily="34" charset="0"/>
                <a:ea typeface="Arial" pitchFamily="34" charset="-122"/>
                <a:cs typeface="Arial" pitchFamily="34" charset="-120"/>
              </a:rPr>
              <a:t>Student Performance Prediction System -- Tanishq Soni · Ritika Sonkar · Yash Raj Jaiswal</a:t>
            </a:r>
            <a:endParaRPr lang="en-US" sz="1200" dirty="0"/>
          </a:p>
        </p:txBody>
      </p:sp>
      <p:sp>
        <p:nvSpPr>
          <p:cNvPr id="11" name="Text 8"/>
          <p:cNvSpPr/>
          <p:nvPr/>
        </p:nvSpPr>
        <p:spPr>
          <a:xfrm>
            <a:off x="0" y="5029200"/>
            <a:ext cx="12188952" cy="320040"/>
          </a:xfrm>
          <a:prstGeom prst="rect">
            <a:avLst/>
          </a:prstGeom>
          <a:noFill/>
          <a:ln/>
        </p:spPr>
        <p:txBody>
          <a:bodyPr wrap="square" rtlCol="0" anchor="ctr"/>
          <a:lstStyle/>
          <a:p>
            <a:pPr marL="0" indent="0" algn="ctr">
              <a:buNone/>
            </a:pPr>
            <a:r>
              <a:rPr lang="en-US" sz="1100" dirty="0">
                <a:solidFill>
                  <a:srgbClr val="E0EAFF"/>
                </a:solidFill>
                <a:latin typeface="Arial" pitchFamily="34" charset="0"/>
                <a:ea typeface="Arial" pitchFamily="34" charset="-122"/>
                <a:cs typeface="Arial" pitchFamily="34" charset="-120"/>
              </a:rPr>
              <a:t>Innovation &amp; Incubation Hub, MNNIT Foundation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2473</Words>
  <Application>Microsoft Office PowerPoint</Application>
  <PresentationFormat>Custom</PresentationFormat>
  <Paragraphs>268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Yash Raj</cp:lastModifiedBy>
  <cp:revision>4</cp:revision>
  <dcterms:created xsi:type="dcterms:W3CDTF">2026-07-12T12:39:02Z</dcterms:created>
  <dcterms:modified xsi:type="dcterms:W3CDTF">2026-07-13T18:11:23Z</dcterms:modified>
</cp:coreProperties>
</file>